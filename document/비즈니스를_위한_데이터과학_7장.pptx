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30"/>
  </p:notesMasterIdLst>
  <p:handoutMasterIdLst>
    <p:handoutMasterId r:id="rId31"/>
  </p:handoutMasterIdLst>
  <p:sldIdLst>
    <p:sldId id="394" r:id="rId6"/>
    <p:sldId id="343" r:id="rId7"/>
    <p:sldId id="347" r:id="rId8"/>
    <p:sldId id="462" r:id="rId9"/>
    <p:sldId id="490" r:id="rId10"/>
    <p:sldId id="491" r:id="rId11"/>
    <p:sldId id="448" r:id="rId12"/>
    <p:sldId id="492" r:id="rId13"/>
    <p:sldId id="493" r:id="rId14"/>
    <p:sldId id="494" r:id="rId15"/>
    <p:sldId id="495" r:id="rId16"/>
    <p:sldId id="453" r:id="rId17"/>
    <p:sldId id="496" r:id="rId18"/>
    <p:sldId id="497" r:id="rId19"/>
    <p:sldId id="498" r:id="rId20"/>
    <p:sldId id="499" r:id="rId21"/>
    <p:sldId id="500" r:id="rId22"/>
    <p:sldId id="501" r:id="rId23"/>
    <p:sldId id="502" r:id="rId24"/>
    <p:sldId id="503" r:id="rId25"/>
    <p:sldId id="489" r:id="rId26"/>
    <p:sldId id="504" r:id="rId27"/>
    <p:sldId id="505" r:id="rId28"/>
    <p:sldId id="48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1915"/>
    <a:srgbClr val="CFD5EA"/>
    <a:srgbClr val="E9EBF5"/>
    <a:srgbClr val="E9ECF5"/>
    <a:srgbClr val="C9D0E3"/>
    <a:srgbClr val="E8EBF4"/>
    <a:srgbClr val="CBD2E5"/>
    <a:srgbClr val="26336B"/>
    <a:srgbClr val="263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/>
    <p:restoredTop sz="93200"/>
  </p:normalViewPr>
  <p:slideViewPr>
    <p:cSldViewPr snapToGrid="0">
      <p:cViewPr varScale="1">
        <p:scale>
          <a:sx n="107" d="100"/>
          <a:sy n="107" d="100"/>
        </p:scale>
        <p:origin x="19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422B8-B0E6-404C-B8B1-05A56A924E5F}" type="datetimeFigureOut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E0779-F41E-4D8C-AADC-C4DB3B418F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7462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47A43-7294-4111-BCAD-D4E341323D7A}" type="datetimeFigureOut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0F566-61BC-4F36-8206-6956368F3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836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76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617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387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512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25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824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79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17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386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825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448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224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416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436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390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372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296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23637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69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58540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3003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7239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52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25E75-51B1-4229-A3AF-C83467F3C4A8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B61A-E40B-40AF-A3F6-CB0C27976B13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77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F9DE-7DC2-4238-A739-14761A548EC1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0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EBF8-CF7A-4E5C-BC97-B50FF4462A72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5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070-9049-4B22-A834-D6C7CAA07A61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55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DE11-7090-48D5-AE3F-C334CC1C584F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10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320B-1FDE-466A-B263-54FE685C92C5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85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B2D89-45EB-4486-8E0E-5C35A0FEBEB9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90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C1FAF-84C3-4C2D-A1BB-FF5DA09D6950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59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ABA6-2971-4656-B940-1869CA468FE7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66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03CDC-A429-4E4E-A8A5-7F879BB621C5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173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CB1D-823D-49C8-9656-6C15E4505FE2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4615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DA8E-9C0A-415A-80C3-B647C1BEEEBA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6399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8800-43AD-4E2E-B20F-14CD71341A15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1698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3136E-B5A7-4CAC-B7AC-3D8D6479D899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86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9A8C-5D9F-44D7-AAB1-11BD4BA00046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7800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E51F-43B5-47AF-BACF-EADEB99780E4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37350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F33AF-DD51-4BDD-83E0-D1A05355731C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52504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4884-675B-4918-BA18-3DAC28FE7773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69910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4130-D781-4331-B3C1-6C1774842A60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44903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E8AEB-B703-47EA-9FE6-2B297642CEBD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766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8915-DD84-461C-912A-ECF1AC53396E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379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79B59-8AAE-499C-90F4-4AC38CB4FB6D}" type="datetime1">
              <a:rPr lang="ko-KR" altLang="en-US" smtClean="0"/>
              <a:t>2021-08-09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45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2C8D1-BF39-4DA2-AFEA-B01C4940DF5B}" type="datetime1">
              <a:rPr kumimoji="1" lang="ko-KR" altLang="en-US" smtClean="0"/>
              <a:t>2021-08-09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477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G"/><Relationship Id="rId4" Type="http://schemas.openxmlformats.org/officeDocument/2006/relationships/image" Target="../media/image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00" y="6249145"/>
            <a:ext cx="1753384" cy="42548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395926" cy="6858000"/>
          </a:xfrm>
          <a:prstGeom prst="rect">
            <a:avLst/>
          </a:prstGeom>
          <a:solidFill>
            <a:srgbClr val="263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773000" y="6142166"/>
            <a:ext cx="7805393" cy="0"/>
          </a:xfrm>
          <a:prstGeom prst="line">
            <a:avLst/>
          </a:prstGeom>
          <a:ln>
            <a:solidFill>
              <a:srgbClr val="2633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7288" y="2400773"/>
            <a:ext cx="6777817" cy="107721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latinLnBrk="1"/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비즈니스를 위한 데이터 과학</a:t>
            </a:r>
            <a:r>
              <a:rPr lang="en-US" altLang="ko-KR" sz="3200" b="1" dirty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/>
            </a:r>
            <a:br>
              <a:rPr lang="en-US" altLang="ko-KR" sz="3200" b="1" dirty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</a:br>
            <a:r>
              <a:rPr lang="en-US" altLang="ko-KR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Chapter7. </a:t>
            </a:r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결정 분석적 사고</a:t>
            </a:r>
            <a:r>
              <a:rPr lang="en-US" altLang="ko-KR" sz="3200" b="1" dirty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 </a:t>
            </a:r>
            <a:r>
              <a:rPr lang="en-US" altLang="ko-KR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part1</a:t>
            </a:r>
            <a:endParaRPr lang="en-US" altLang="ko-KR" sz="3200" b="1" dirty="0">
              <a:solidFill>
                <a:srgbClr val="26336A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52988" y="6249145"/>
            <a:ext cx="1328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01E1F048-75BD-4F29-ABFA-4CE08125E36A}" type="datetime4">
              <a:rPr lang="en-US" altLang="ko-KR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August 9, 2021</a:t>
            </a:fld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8804C2F-9394-4F74-ACD1-9C3670EF49A5}"/>
              </a:ext>
            </a:extLst>
          </p:cNvPr>
          <p:cNvGrpSpPr/>
          <p:nvPr/>
        </p:nvGrpSpPr>
        <p:grpSpPr>
          <a:xfrm>
            <a:off x="897288" y="3584969"/>
            <a:ext cx="2320187" cy="461665"/>
            <a:chOff x="825899" y="3074493"/>
            <a:chExt cx="2320187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825899" y="3074493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latinLnBrk="1">
                <a:lnSpc>
                  <a:spcPct val="150000"/>
                </a:lnSpc>
              </a:pPr>
              <a:r>
                <a:rPr lang="ko-KR" altLang="en-US" sz="1600" dirty="0" err="1" smtClean="0">
                  <a:solidFill>
                    <a:srgbClr val="26336A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안지호</a:t>
              </a:r>
              <a:endParaRPr lang="en-US" altLang="ko-KR" sz="1600" dirty="0">
                <a:solidFill>
                  <a:srgbClr val="26336A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91FA4A-0608-5840-A9FD-19EC81923952}"/>
                </a:ext>
              </a:extLst>
            </p:cNvPr>
            <p:cNvSpPr txBox="1"/>
            <p:nvPr/>
          </p:nvSpPr>
          <p:spPr>
            <a:xfrm>
              <a:off x="1606882" y="3074493"/>
              <a:ext cx="1539204" cy="418576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latinLnBrk="1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26336A"/>
                  </a:solidFill>
                  <a:latin typeface="나눔고딕" panose="020D0604000000000000" pitchFamily="50" charset="-127"/>
                  <a:ea typeface="나눔고딕"/>
                </a:rPr>
                <a:t>빅데이터응용학과 </a:t>
              </a:r>
              <a:r>
                <a:rPr lang="en-US" altLang="ko-KR" sz="1000" dirty="0">
                  <a:solidFill>
                    <a:srgbClr val="26336A"/>
                  </a:solidFill>
                  <a:latin typeface="나눔고딕" panose="020D0604000000000000" pitchFamily="50" charset="-127"/>
                  <a:ea typeface="나눔고딕"/>
                </a:rPr>
                <a:t>1</a:t>
              </a:r>
              <a:r>
                <a:rPr lang="ko-KR" altLang="en-US" sz="1000" dirty="0">
                  <a:solidFill>
                    <a:srgbClr val="26336A"/>
                  </a:solidFill>
                  <a:latin typeface="나눔고딕" panose="020D0604000000000000" pitchFamily="50" charset="-127"/>
                  <a:ea typeface="나눔고딕"/>
                </a:rPr>
                <a:t>기</a:t>
              </a:r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/>
                </a:rPr>
                <a:t> </a:t>
              </a:r>
              <a:r>
                <a:rPr lang="en-US" altLang="ko-KR" sz="16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/>
                </a:rPr>
                <a:t>d</a:t>
              </a:r>
              <a:endParaRPr lang="en-US" altLang="ko-KR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160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FBE4F4-242F-664B-A887-5C83C1D439F5}"/>
              </a:ext>
            </a:extLst>
          </p:cNvPr>
          <p:cNvSpPr txBox="1"/>
          <p:nvPr/>
        </p:nvSpPr>
        <p:spPr>
          <a:xfrm>
            <a:off x="758952" y="548640"/>
            <a:ext cx="1053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rPr>
              <a:t>목차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B9C1BE6-2DEE-4776-B89E-8FDBA5BCE7E7}"/>
              </a:ext>
            </a:extLst>
          </p:cNvPr>
          <p:cNvGrpSpPr/>
          <p:nvPr/>
        </p:nvGrpSpPr>
        <p:grpSpPr>
          <a:xfrm>
            <a:off x="585729" y="2075511"/>
            <a:ext cx="7915147" cy="2964832"/>
            <a:chOff x="546730" y="1653037"/>
            <a:chExt cx="7915147" cy="2964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F7D19F8-D53B-41B9-B8CB-6372291AB798}"/>
                </a:ext>
              </a:extLst>
            </p:cNvPr>
            <p:cNvGrpSpPr/>
            <p:nvPr/>
          </p:nvGrpSpPr>
          <p:grpSpPr>
            <a:xfrm>
              <a:off x="546730" y="1653037"/>
              <a:ext cx="904377" cy="585205"/>
              <a:chOff x="323851" y="2108491"/>
              <a:chExt cx="832440" cy="820569"/>
            </a:xfrm>
            <a:solidFill>
              <a:srgbClr val="9C1B1E"/>
            </a:solidFill>
          </p:grpSpPr>
          <p:sp>
            <p:nvSpPr>
              <p:cNvPr id="7" name="화살표: 오각형 6">
                <a:extLst>
                  <a:ext uri="{FF2B5EF4-FFF2-40B4-BE49-F238E27FC236}">
                    <a16:creationId xmlns:a16="http://schemas.microsoft.com/office/drawing/2014/main" id="{6245AE98-8008-4D6B-8CC3-76F4D7BB37CD}"/>
                  </a:ext>
                </a:extLst>
              </p:cNvPr>
              <p:cNvSpPr/>
              <p:nvPr/>
            </p:nvSpPr>
            <p:spPr>
              <a:xfrm>
                <a:off x="323851" y="2108491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9FA5B4-028D-41E7-AB80-5B59046D621E}"/>
                  </a:ext>
                </a:extLst>
              </p:cNvPr>
              <p:cNvSpPr txBox="1"/>
              <p:nvPr/>
            </p:nvSpPr>
            <p:spPr>
              <a:xfrm>
                <a:off x="363115" y="2182954"/>
                <a:ext cx="542228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01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74D5ECA-1B9F-40A1-BA6F-779A3E7ED4F5}"/>
                </a:ext>
              </a:extLst>
            </p:cNvPr>
            <p:cNvGrpSpPr/>
            <p:nvPr/>
          </p:nvGrpSpPr>
          <p:grpSpPr>
            <a:xfrm>
              <a:off x="549519" y="2446247"/>
              <a:ext cx="902756" cy="585205"/>
              <a:chOff x="326422" y="2985202"/>
              <a:chExt cx="832440" cy="820569"/>
            </a:xfrm>
            <a:solidFill>
              <a:srgbClr val="233A71"/>
            </a:solidFill>
          </p:grpSpPr>
          <p:sp>
            <p:nvSpPr>
              <p:cNvPr id="10" name="화살표: 오각형 9">
                <a:extLst>
                  <a:ext uri="{FF2B5EF4-FFF2-40B4-BE49-F238E27FC236}">
                    <a16:creationId xmlns:a16="http://schemas.microsoft.com/office/drawing/2014/main" id="{1C1C826F-55EB-44CA-AF2B-1CCA6A07859D}"/>
                  </a:ext>
                </a:extLst>
              </p:cNvPr>
              <p:cNvSpPr/>
              <p:nvPr/>
            </p:nvSpPr>
            <p:spPr>
              <a:xfrm>
                <a:off x="326422" y="2985202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D70456-22E0-4D6E-8532-ABDCB1E26108}"/>
                  </a:ext>
                </a:extLst>
              </p:cNvPr>
              <p:cNvSpPr txBox="1"/>
              <p:nvPr/>
            </p:nvSpPr>
            <p:spPr>
              <a:xfrm>
                <a:off x="336756" y="3059664"/>
                <a:ext cx="569631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02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49EAFFC-0B88-4B23-990A-0064E87C31EA}"/>
                </a:ext>
              </a:extLst>
            </p:cNvPr>
            <p:cNvGrpSpPr/>
            <p:nvPr/>
          </p:nvGrpSpPr>
          <p:grpSpPr>
            <a:xfrm>
              <a:off x="546730" y="3239452"/>
              <a:ext cx="904377" cy="585205"/>
              <a:chOff x="341049" y="3861910"/>
              <a:chExt cx="832440" cy="820570"/>
            </a:xfrm>
            <a:solidFill>
              <a:srgbClr val="9C1B1E"/>
            </a:solidFill>
          </p:grpSpPr>
          <p:sp>
            <p:nvSpPr>
              <p:cNvPr id="14" name="화살표: 오각형 13">
                <a:extLst>
                  <a:ext uri="{FF2B5EF4-FFF2-40B4-BE49-F238E27FC236}">
                    <a16:creationId xmlns:a16="http://schemas.microsoft.com/office/drawing/2014/main" id="{C4508EA4-2D64-4F01-A269-F31FCD4BAB70}"/>
                  </a:ext>
                </a:extLst>
              </p:cNvPr>
              <p:cNvSpPr/>
              <p:nvPr/>
            </p:nvSpPr>
            <p:spPr>
              <a:xfrm>
                <a:off x="341049" y="3861910"/>
                <a:ext cx="832440" cy="820570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63900E-79E4-4E6E-8A14-F5CA6D511213}"/>
                  </a:ext>
                </a:extLst>
              </p:cNvPr>
              <p:cNvSpPr txBox="1"/>
              <p:nvPr/>
            </p:nvSpPr>
            <p:spPr>
              <a:xfrm>
                <a:off x="359771" y="3936376"/>
                <a:ext cx="591761" cy="647343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03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7E7ED69-4936-422F-A68F-CB97DA52D4B9}"/>
                </a:ext>
              </a:extLst>
            </p:cNvPr>
            <p:cNvGrpSpPr/>
            <p:nvPr/>
          </p:nvGrpSpPr>
          <p:grpSpPr>
            <a:xfrm>
              <a:off x="546730" y="4032664"/>
              <a:ext cx="904377" cy="585205"/>
              <a:chOff x="343620" y="4738617"/>
              <a:chExt cx="832440" cy="820569"/>
            </a:xfrm>
            <a:solidFill>
              <a:srgbClr val="233A71"/>
            </a:solidFill>
          </p:grpSpPr>
          <p:sp>
            <p:nvSpPr>
              <p:cNvPr id="17" name="화살표: 오각형 16">
                <a:extLst>
                  <a:ext uri="{FF2B5EF4-FFF2-40B4-BE49-F238E27FC236}">
                    <a16:creationId xmlns:a16="http://schemas.microsoft.com/office/drawing/2014/main" id="{3C3ED720-528D-4B24-92B8-413A589FAABA}"/>
                  </a:ext>
                </a:extLst>
              </p:cNvPr>
              <p:cNvSpPr/>
              <p:nvPr/>
            </p:nvSpPr>
            <p:spPr>
              <a:xfrm>
                <a:off x="343620" y="4738617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D48A06-A561-4575-BAC6-C6D943FD294C}"/>
                  </a:ext>
                </a:extLst>
              </p:cNvPr>
              <p:cNvSpPr txBox="1"/>
              <p:nvPr/>
            </p:nvSpPr>
            <p:spPr>
              <a:xfrm>
                <a:off x="368509" y="4805761"/>
                <a:ext cx="594331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04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1D16B07-535B-43E3-B55E-8DC41E8BB2D6}"/>
                </a:ext>
              </a:extLst>
            </p:cNvPr>
            <p:cNvCxnSpPr/>
            <p:nvPr/>
          </p:nvCxnSpPr>
          <p:spPr>
            <a:xfrm>
              <a:off x="1508323" y="2238242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1FE002D-B088-4108-BA74-459A3D1CCA68}"/>
                </a:ext>
              </a:extLst>
            </p:cNvPr>
            <p:cNvCxnSpPr/>
            <p:nvPr/>
          </p:nvCxnSpPr>
          <p:spPr>
            <a:xfrm>
              <a:off x="1508322" y="3042647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9BA6D126-D0B7-48A0-8AFC-2CDD179FE15C}"/>
                </a:ext>
              </a:extLst>
            </p:cNvPr>
            <p:cNvCxnSpPr/>
            <p:nvPr/>
          </p:nvCxnSpPr>
          <p:spPr>
            <a:xfrm>
              <a:off x="1508324" y="3817599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9436EAE4-2178-4788-81F8-F1DB5971FDBF}"/>
                </a:ext>
              </a:extLst>
            </p:cNvPr>
            <p:cNvCxnSpPr/>
            <p:nvPr/>
          </p:nvCxnSpPr>
          <p:spPr>
            <a:xfrm>
              <a:off x="1508324" y="4600551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72DE6B-C276-4CBA-97C2-4252E35E126E}"/>
                </a:ext>
              </a:extLst>
            </p:cNvPr>
            <p:cNvSpPr txBox="1"/>
            <p:nvPr/>
          </p:nvSpPr>
          <p:spPr>
            <a:xfrm>
              <a:off x="1292730" y="2377197"/>
              <a:ext cx="6994584" cy="7386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분류자 평가</a:t>
              </a:r>
              <a:endParaRPr lang="en-US" altLang="ko-KR" sz="1400" b="1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  <a:p>
              <a:pPr marL="180000" latinLnBrk="1">
                <a:lnSpc>
                  <a:spcPct val="150000"/>
                </a:lnSpc>
              </a:pP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</a:t>
              </a:r>
              <a:r>
                <a:rPr lang="ko-KR" altLang="en-US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정확도</a:t>
              </a: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, </a:t>
              </a:r>
              <a:r>
                <a:rPr lang="ko-KR" altLang="en-US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정확도 평가 방법의 문제점</a:t>
              </a:r>
              <a:endParaRPr lang="en-US" altLang="ko-KR" sz="1400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6848D0-7069-4793-824F-09CC93C6EEB0}"/>
                </a:ext>
              </a:extLst>
            </p:cNvPr>
            <p:cNvSpPr txBox="1"/>
            <p:nvPr/>
          </p:nvSpPr>
          <p:spPr>
            <a:xfrm>
              <a:off x="1292730" y="3158442"/>
              <a:ext cx="7169145" cy="7386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</a:t>
              </a:r>
              <a:r>
                <a:rPr lang="ko-KR" altLang="en-US" sz="1400" b="1" spc="-70" dirty="0" err="1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기댓값과</a:t>
              </a: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분류자 평가</a:t>
              </a:r>
              <a:endParaRPr lang="en-US" altLang="ko-KR" sz="1400" b="1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  <a:p>
              <a:pPr marL="180000" latinLnBrk="1">
                <a:lnSpc>
                  <a:spcPct val="150000"/>
                </a:lnSpc>
              </a:pP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</a:t>
              </a:r>
              <a:r>
                <a:rPr lang="ko-KR" altLang="en-US" sz="1400" spc="-70" dirty="0" err="1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기댓값을</a:t>
              </a:r>
              <a:r>
                <a:rPr lang="ko-KR" altLang="en-US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이용한 분류자 사용 및 평가</a:t>
              </a:r>
              <a:endParaRPr lang="ko-KR" altLang="en-US" sz="1400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52917C-0BBF-44AD-93E6-2D03EAF80E7A}"/>
                </a:ext>
              </a:extLst>
            </p:cNvPr>
            <p:cNvSpPr txBox="1"/>
            <p:nvPr/>
          </p:nvSpPr>
          <p:spPr>
            <a:xfrm>
              <a:off x="1380010" y="4080549"/>
              <a:ext cx="6994584" cy="3735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평가와 성능 기준선</a:t>
              </a:r>
              <a:endParaRPr lang="ko-KR" altLang="en-US" sz="1400" b="1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2379BF-5EC3-4CF2-B22D-AFE2F6960578}"/>
                </a:ext>
              </a:extLst>
            </p:cNvPr>
            <p:cNvSpPr txBox="1"/>
            <p:nvPr/>
          </p:nvSpPr>
          <p:spPr>
            <a:xfrm>
              <a:off x="1292730" y="1725193"/>
              <a:ext cx="6994584" cy="7386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혼동 행렬</a:t>
              </a:r>
              <a:endParaRPr lang="en-US" altLang="ko-KR" sz="1400" b="1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  <a:p>
              <a:pPr marL="180000" latinLnBrk="1">
                <a:lnSpc>
                  <a:spcPct val="150000"/>
                </a:lnSpc>
              </a:pPr>
              <a:r>
                <a:rPr lang="en-US" altLang="ko-KR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 </a:t>
              </a:r>
              <a:endParaRPr lang="en-US" altLang="ko-KR" sz="1400" b="1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EBABAC9-F368-604F-8F55-40C2DCBC1342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 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73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3504251" y="3105835"/>
            <a:ext cx="213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혼동 행렬</a:t>
            </a:r>
            <a:endParaRPr kumimoji="1" lang="ko-KR" altLang="en-US" sz="3600" b="1" dirty="0">
              <a:solidFill>
                <a:prstClr val="black"/>
              </a:solidFill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792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혼동 행렬</a:t>
            </a:r>
            <a:r>
              <a:rPr lang="en-US" altLang="ko-KR" sz="2000" b="1" dirty="0" smtClean="0">
                <a:ea typeface="나눔스퀘어_ac ExtraBold" panose="020B0600000101010101" pitchFamily="50" charset="-127"/>
              </a:rPr>
              <a:t>(Confusion matrix)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729172"/>
            <a:ext cx="86685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▪    </a:t>
            </a:r>
            <a:r>
              <a:rPr lang="ko-KR" altLang="en-US" b="1" dirty="0" smtClean="0"/>
              <a:t>혼동 행렬의 개요</a:t>
            </a:r>
            <a:endParaRPr lang="en-US" altLang="ko-KR" b="1" dirty="0" smtClean="0"/>
          </a:p>
          <a:p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분류 값이 양성</a:t>
            </a:r>
            <a:r>
              <a:rPr lang="en-US" altLang="ko-KR" dirty="0" smtClean="0"/>
              <a:t>(Positive)</a:t>
            </a:r>
            <a:r>
              <a:rPr lang="ko-KR" altLang="en-US" dirty="0" smtClean="0"/>
              <a:t>와 음성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Negetive</a:t>
            </a:r>
            <a:r>
              <a:rPr lang="en-US" altLang="ko-KR" dirty="0" smtClean="0"/>
              <a:t>) </a:t>
            </a:r>
            <a:r>
              <a:rPr lang="ko-KR" altLang="en-US" dirty="0" smtClean="0"/>
              <a:t>두 종류가 존재하는 이진 분류 문제를 풀고 있다고 가정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이진 분류자</a:t>
            </a:r>
            <a:r>
              <a:rPr lang="en-US" altLang="ko-KR" dirty="0" smtClean="0"/>
              <a:t>(Binary classifier)</a:t>
            </a:r>
            <a:r>
              <a:rPr lang="ko-KR" altLang="en-US" dirty="0" smtClean="0"/>
              <a:t>에서는 통상적으로 양성을 주의를 기울여야 하는 사례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음성을 주의를 기울일 필요가 없는 값으로 해석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예</a:t>
            </a:r>
            <a:r>
              <a:rPr lang="en-US" altLang="ko-KR" dirty="0"/>
              <a:t>)</a:t>
            </a:r>
            <a:r>
              <a:rPr lang="en-US" altLang="ko-KR" dirty="0" smtClean="0"/>
              <a:t> </a:t>
            </a:r>
            <a:r>
              <a:rPr lang="ko-KR" altLang="en-US" dirty="0" smtClean="0"/>
              <a:t>암 발생 여부 검사</a:t>
            </a:r>
            <a:r>
              <a:rPr lang="en-US" altLang="ko-KR" dirty="0" smtClean="0"/>
              <a:t>,  </a:t>
            </a:r>
            <a:r>
              <a:rPr lang="ko-KR" altLang="en-US" dirty="0" smtClean="0"/>
              <a:t>신용카드 사용 관련 사기 여부 탐지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프로모션 응답 여부 등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 smtClean="0"/>
              <a:t>분류자의</a:t>
            </a:r>
            <a:r>
              <a:rPr lang="ko-KR" altLang="en-US" dirty="0" smtClean="0"/>
              <a:t> 예측 결과값과 실제 값의 비교 결과를 수치로 표현한 것이 </a:t>
            </a:r>
            <a:r>
              <a:rPr lang="ko-KR" altLang="en-US" b="1" dirty="0" smtClean="0"/>
              <a:t>혼동 행렬</a:t>
            </a:r>
            <a:endParaRPr lang="en-US" altLang="ko-KR" b="1" dirty="0" smtClean="0"/>
          </a:p>
        </p:txBody>
      </p:sp>
    </p:spTree>
    <p:extLst>
      <p:ext uri="{BB962C8B-B14F-4D97-AF65-F5344CB8AC3E}">
        <p14:creationId xmlns:p14="http://schemas.microsoft.com/office/powerpoint/2010/main" val="311544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혼동 행렬</a:t>
            </a:r>
            <a:r>
              <a:rPr lang="en-US" altLang="ko-KR" sz="2000" b="1" dirty="0" smtClean="0">
                <a:ea typeface="나눔스퀘어_ac ExtraBold" panose="020B0600000101010101" pitchFamily="50" charset="-127"/>
              </a:rPr>
              <a:t>(Confusion matrix)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90743" y="1942870"/>
            <a:ext cx="866858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이진 </a:t>
            </a:r>
            <a:r>
              <a:rPr lang="ko-KR" altLang="en-US" dirty="0" err="1" smtClean="0"/>
              <a:t>분류자를</a:t>
            </a:r>
            <a:r>
              <a:rPr lang="ko-KR" altLang="en-US" dirty="0" smtClean="0"/>
              <a:t> 기준으로 </a:t>
            </a:r>
            <a:r>
              <a:rPr lang="en-US" altLang="ko-KR" dirty="0" smtClean="0"/>
              <a:t>(</a:t>
            </a:r>
            <a:r>
              <a:rPr lang="ko-KR" altLang="en-US" dirty="0" smtClean="0"/>
              <a:t>분류자 예측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실제 결과</a:t>
            </a:r>
            <a:r>
              <a:rPr lang="en-US" altLang="ko-KR" dirty="0" smtClean="0"/>
              <a:t>)</a:t>
            </a:r>
            <a:r>
              <a:rPr lang="ko-KR" altLang="en-US" dirty="0"/>
              <a:t> </a:t>
            </a:r>
            <a:r>
              <a:rPr lang="ko-KR" altLang="en-US" dirty="0" smtClean="0"/>
              <a:t>조합은 아래와 같이 총 네 가지로 나뉨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sz="1600" b="1" dirty="0" err="1" smtClean="0"/>
              <a:t>진양성</a:t>
            </a:r>
            <a:r>
              <a:rPr lang="en-US" altLang="ko-KR" sz="1600" b="1" dirty="0" smtClean="0"/>
              <a:t>(True Positive, TP) : </a:t>
            </a:r>
            <a:r>
              <a:rPr lang="ko-KR" altLang="en-US" sz="1600" dirty="0" smtClean="0"/>
              <a:t>분류자 예측과 실제 결과가 일치하며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예측 결과가 양성인 경우</a:t>
            </a:r>
            <a:endParaRPr lang="en-US" altLang="ko-KR" sz="1600" dirty="0" smtClean="0"/>
          </a:p>
          <a:p>
            <a:pPr marL="342900" indent="-342900">
              <a:buAutoNum type="arabicPeriod"/>
            </a:pPr>
            <a:r>
              <a:rPr lang="ko-KR" altLang="en-US" sz="1600" b="1" dirty="0" err="1" smtClean="0"/>
              <a:t>진</a:t>
            </a:r>
            <a:r>
              <a:rPr lang="ko-KR" altLang="en-US" sz="1600" b="1" dirty="0" err="1"/>
              <a:t>음</a:t>
            </a:r>
            <a:r>
              <a:rPr lang="ko-KR" altLang="en-US" sz="1600" b="1" dirty="0" err="1" smtClean="0"/>
              <a:t>성</a:t>
            </a:r>
            <a:r>
              <a:rPr lang="en-US" altLang="ko-KR" sz="1600" b="1" dirty="0" smtClean="0"/>
              <a:t>(True </a:t>
            </a:r>
            <a:r>
              <a:rPr lang="en-US" altLang="ko-KR" sz="1600" b="1" dirty="0" err="1" smtClean="0"/>
              <a:t>Negetive</a:t>
            </a:r>
            <a:r>
              <a:rPr lang="en-US" altLang="ko-KR" sz="1600" b="1" dirty="0" smtClean="0"/>
              <a:t>, TN) : </a:t>
            </a:r>
            <a:r>
              <a:rPr lang="ko-KR" altLang="en-US" sz="1600" dirty="0" smtClean="0"/>
              <a:t>분류자 예측과 실제 결과가 일치하며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예측 결과가 음성인 경우</a:t>
            </a:r>
            <a:endParaRPr lang="en-US" altLang="ko-KR" sz="1600" dirty="0" smtClean="0"/>
          </a:p>
          <a:p>
            <a:pPr marL="342900" indent="-342900">
              <a:buFontTx/>
              <a:buAutoNum type="arabicPeriod"/>
            </a:pPr>
            <a:r>
              <a:rPr lang="ko-KR" altLang="en-US" sz="1600" b="1" dirty="0" err="1" smtClean="0"/>
              <a:t>위</a:t>
            </a:r>
            <a:r>
              <a:rPr lang="ko-KR" altLang="en-US" sz="1600" b="1" dirty="0" err="1"/>
              <a:t>양</a:t>
            </a:r>
            <a:r>
              <a:rPr lang="ko-KR" altLang="en-US" sz="1600" b="1" dirty="0" err="1" smtClean="0"/>
              <a:t>성</a:t>
            </a:r>
            <a:r>
              <a:rPr lang="en-US" altLang="ko-KR" sz="1600" b="1" dirty="0" smtClean="0"/>
              <a:t>(False Positive, FP) </a:t>
            </a:r>
            <a:r>
              <a:rPr lang="en-US" altLang="ko-KR" sz="1600" b="1" dirty="0"/>
              <a:t>: </a:t>
            </a:r>
            <a:r>
              <a:rPr lang="ko-KR" altLang="en-US" sz="1600" dirty="0"/>
              <a:t>분류자 예측과 실제 결과가 </a:t>
            </a:r>
            <a:r>
              <a:rPr lang="ko-KR" altLang="en-US" sz="1600" dirty="0" smtClean="0"/>
              <a:t>일치하지 않으며</a:t>
            </a:r>
            <a:r>
              <a:rPr lang="en-US" altLang="ko-KR" sz="1600" dirty="0" smtClean="0"/>
              <a:t>, </a:t>
            </a:r>
            <a:r>
              <a:rPr lang="ko-KR" altLang="en-US" sz="1600" dirty="0"/>
              <a:t>예측 결과가 </a:t>
            </a:r>
            <a:r>
              <a:rPr lang="ko-KR" altLang="en-US" sz="1600" dirty="0" smtClean="0"/>
              <a:t>양성인 </a:t>
            </a:r>
            <a:r>
              <a:rPr lang="ko-KR" altLang="en-US" sz="1600" dirty="0"/>
              <a:t>경우</a:t>
            </a:r>
            <a:endParaRPr lang="en-US" altLang="ko-KR" sz="1600" b="1" dirty="0"/>
          </a:p>
          <a:p>
            <a:pPr marL="342900" indent="-342900">
              <a:buFontTx/>
              <a:buAutoNum type="arabicPeriod"/>
            </a:pPr>
            <a:r>
              <a:rPr lang="ko-KR" altLang="en-US" sz="1600" b="1" dirty="0" err="1" smtClean="0"/>
              <a:t>위음성</a:t>
            </a:r>
            <a:r>
              <a:rPr lang="en-US" altLang="ko-KR" sz="1600" b="1" dirty="0" smtClean="0"/>
              <a:t>(False </a:t>
            </a:r>
            <a:r>
              <a:rPr lang="en-US" altLang="ko-KR" sz="1600" b="1" dirty="0" err="1"/>
              <a:t>Negetive</a:t>
            </a:r>
            <a:r>
              <a:rPr lang="en-US" altLang="ko-KR" sz="1600" b="1" dirty="0"/>
              <a:t>, </a:t>
            </a:r>
            <a:r>
              <a:rPr lang="en-US" altLang="ko-KR" sz="1600" b="1" dirty="0" smtClean="0"/>
              <a:t>FN) </a:t>
            </a:r>
            <a:r>
              <a:rPr lang="en-US" altLang="ko-KR" sz="1600" b="1" dirty="0"/>
              <a:t>: </a:t>
            </a:r>
            <a:r>
              <a:rPr lang="ko-KR" altLang="en-US" sz="1600" dirty="0"/>
              <a:t>분류자 예측과 실제 결과가 </a:t>
            </a:r>
            <a:r>
              <a:rPr lang="ko-KR" altLang="en-US" sz="1600" dirty="0" smtClean="0"/>
              <a:t>일치하지 않으며</a:t>
            </a:r>
            <a:r>
              <a:rPr lang="en-US" altLang="ko-KR" sz="1600" dirty="0" smtClean="0"/>
              <a:t>, </a:t>
            </a:r>
            <a:r>
              <a:rPr lang="ko-KR" altLang="en-US" sz="1600" dirty="0"/>
              <a:t>예측 결과가 음성인 경우</a:t>
            </a:r>
            <a:endParaRPr lang="en-US" altLang="ko-KR" sz="1600" b="1" dirty="0"/>
          </a:p>
          <a:p>
            <a:pPr marL="342900" indent="-342900">
              <a:buAutoNum type="arabicPeriod"/>
            </a:pPr>
            <a:endParaRPr lang="en-US" altLang="ko-KR" sz="1600" b="1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286871" y="1170845"/>
            <a:ext cx="2486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▪    </a:t>
            </a:r>
            <a:r>
              <a:rPr lang="ko-KR" altLang="en-US" b="1" dirty="0"/>
              <a:t>혼동 </a:t>
            </a:r>
            <a:r>
              <a:rPr lang="ko-KR" altLang="en-US" b="1" dirty="0" smtClean="0"/>
              <a:t>행렬 값의 종류</a:t>
            </a:r>
            <a:endParaRPr lang="en-US" altLang="ko-KR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9721"/>
            <a:ext cx="9144000" cy="17237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43082" y="5253318"/>
            <a:ext cx="81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TP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459909" y="5680934"/>
            <a:ext cx="81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TN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043081" y="5680934"/>
            <a:ext cx="81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F</a:t>
            </a:r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59909" y="5253318"/>
            <a:ext cx="81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F</a:t>
            </a:r>
            <a:r>
              <a:rPr lang="en-US" altLang="ko-KR" dirty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35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혼동 행렬</a:t>
            </a:r>
            <a:r>
              <a:rPr lang="en-US" altLang="ko-KR" sz="2000" b="1" dirty="0" smtClean="0">
                <a:ea typeface="나눔스퀘어_ac ExtraBold" panose="020B0600000101010101" pitchFamily="50" charset="-127"/>
              </a:rPr>
              <a:t>(Confusion matrix)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86871" y="1849491"/>
            <a:ext cx="866858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혼동 행렬의 성능 측정 지표는 크게 아래와 같이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개로 나뉨</a:t>
            </a:r>
            <a:endParaRPr lang="en-US" altLang="ko-KR" dirty="0" smtClean="0"/>
          </a:p>
          <a:p>
            <a:r>
              <a:rPr lang="ko-KR" altLang="en-US" dirty="0" smtClean="0"/>
              <a:t> </a:t>
            </a:r>
            <a:endParaRPr lang="en-US" altLang="ko-KR" b="1" dirty="0"/>
          </a:p>
          <a:p>
            <a:r>
              <a:rPr lang="en-US" altLang="ko-KR" sz="1600" b="1" dirty="0" smtClean="0"/>
              <a:t>1.    </a:t>
            </a:r>
            <a:r>
              <a:rPr lang="ko-KR" altLang="en-US" sz="1600" b="1" dirty="0" smtClean="0"/>
              <a:t>정확도</a:t>
            </a:r>
            <a:r>
              <a:rPr lang="en-US" altLang="ko-KR" sz="1600" b="1" dirty="0" smtClean="0"/>
              <a:t>(Accuracy) : </a:t>
            </a:r>
            <a:r>
              <a:rPr lang="ko-KR" altLang="en-US" sz="1600" dirty="0" smtClean="0"/>
              <a:t>전체 표본 크기 대비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양성과 음성 모두 올바르게 예측한 비율</a:t>
            </a:r>
            <a:endParaRPr lang="en-US" altLang="ko-KR" sz="1600" dirty="0" smtClean="0"/>
          </a:p>
          <a:p>
            <a:pPr algn="ctr"/>
            <a:r>
              <a:rPr lang="en-US" altLang="ko-KR" sz="1600" b="1" dirty="0" smtClean="0"/>
              <a:t>(Accuracy = (TP + TN) / (TP + FP + TN + FN))</a:t>
            </a:r>
          </a:p>
          <a:p>
            <a:endParaRPr lang="en-US" altLang="ko-KR" sz="1600" dirty="0"/>
          </a:p>
          <a:p>
            <a:r>
              <a:rPr lang="en-US" altLang="ko-KR" sz="1600" b="1" dirty="0" smtClean="0"/>
              <a:t>2.    </a:t>
            </a:r>
            <a:r>
              <a:rPr lang="ko-KR" altLang="en-US" sz="1600" b="1" dirty="0" err="1" smtClean="0"/>
              <a:t>재현율</a:t>
            </a:r>
            <a:r>
              <a:rPr lang="en-US" altLang="ko-KR" sz="1600" b="1" dirty="0" smtClean="0"/>
              <a:t>(Recall) : </a:t>
            </a:r>
            <a:r>
              <a:rPr lang="ko-KR" altLang="en-US" sz="1600" dirty="0" smtClean="0"/>
              <a:t>실제로 양성인 표본 크기 대비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올바르게 예측한 양성의 비율</a:t>
            </a:r>
            <a:endParaRPr lang="en-US" altLang="ko-KR" sz="1600" dirty="0" smtClean="0"/>
          </a:p>
          <a:p>
            <a:pPr algn="ctr"/>
            <a:r>
              <a:rPr lang="en-US" altLang="ko-KR" sz="1600" b="1" dirty="0" smtClean="0"/>
              <a:t>(Recall = TP / (TP + FN))</a:t>
            </a:r>
          </a:p>
          <a:p>
            <a:endParaRPr lang="en-US" altLang="ko-KR" sz="1600" dirty="0" smtClean="0"/>
          </a:p>
          <a:p>
            <a:r>
              <a:rPr lang="en-US" altLang="ko-KR" sz="1600" b="1" dirty="0" smtClean="0"/>
              <a:t>3.    </a:t>
            </a:r>
            <a:r>
              <a:rPr lang="ko-KR" altLang="en-US" sz="1600" b="1" dirty="0" smtClean="0"/>
              <a:t>민감도</a:t>
            </a:r>
            <a:r>
              <a:rPr lang="en-US" altLang="ko-KR" sz="1600" b="1" dirty="0" smtClean="0"/>
              <a:t>(Sensitivity) : </a:t>
            </a:r>
            <a:r>
              <a:rPr lang="ko-KR" altLang="en-US" sz="1600" dirty="0"/>
              <a:t>실제로 양성인 표본 크기 대비</a:t>
            </a:r>
            <a:r>
              <a:rPr lang="en-US" altLang="ko-KR" sz="1600" dirty="0"/>
              <a:t>, </a:t>
            </a:r>
            <a:r>
              <a:rPr lang="ko-KR" altLang="en-US" sz="1600" dirty="0"/>
              <a:t>올바르게 예측한 </a:t>
            </a:r>
            <a:r>
              <a:rPr lang="ko-KR" altLang="en-US" sz="1600" dirty="0" smtClean="0"/>
              <a:t>양성의 비율</a:t>
            </a:r>
            <a:endParaRPr lang="en-US" altLang="ko-KR" sz="1600" dirty="0" smtClean="0"/>
          </a:p>
          <a:p>
            <a:pPr algn="ctr"/>
            <a:r>
              <a:rPr lang="en-US" altLang="ko-KR" sz="1600" b="1" dirty="0"/>
              <a:t>(Sensitivity = TP / (TP + FN))</a:t>
            </a:r>
          </a:p>
          <a:p>
            <a:endParaRPr lang="en-US" altLang="ko-KR" sz="1600" b="1" dirty="0"/>
          </a:p>
          <a:p>
            <a:r>
              <a:rPr lang="en-US" altLang="ko-KR" sz="1600" b="1" dirty="0" smtClean="0"/>
              <a:t>4.    </a:t>
            </a:r>
            <a:r>
              <a:rPr lang="ko-KR" altLang="en-US" sz="1600" b="1" dirty="0" smtClean="0"/>
              <a:t>특이도</a:t>
            </a:r>
            <a:r>
              <a:rPr lang="en-US" altLang="ko-KR" sz="1600" b="1" dirty="0" smtClean="0"/>
              <a:t>(Specificity) : </a:t>
            </a:r>
            <a:r>
              <a:rPr lang="ko-KR" altLang="en-US" sz="1600" dirty="0" smtClean="0"/>
              <a:t>실제로 음성인 표본 크기 대비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올바르게 예측한 음성의 비율</a:t>
            </a:r>
            <a:endParaRPr lang="en-US" altLang="ko-KR" sz="1600" dirty="0" smtClean="0"/>
          </a:p>
          <a:p>
            <a:pPr algn="ctr"/>
            <a:r>
              <a:rPr lang="en-US" altLang="ko-KR" sz="1600" b="1" dirty="0" smtClean="0"/>
              <a:t>(Specificity = TN / (TN + FP))</a:t>
            </a:r>
          </a:p>
          <a:p>
            <a:endParaRPr lang="en-US" altLang="ko-KR" sz="1600" b="1" dirty="0"/>
          </a:p>
          <a:p>
            <a:r>
              <a:rPr lang="en-US" altLang="ko-KR" sz="1600" b="1" dirty="0" smtClean="0"/>
              <a:t>5.    </a:t>
            </a:r>
            <a:r>
              <a:rPr lang="ko-KR" altLang="en-US" sz="1600" b="1" dirty="0" smtClean="0"/>
              <a:t>정밀도</a:t>
            </a:r>
            <a:r>
              <a:rPr lang="en-US" altLang="ko-KR" sz="1600" b="1" dirty="0" smtClean="0"/>
              <a:t>(Precision): </a:t>
            </a:r>
            <a:r>
              <a:rPr lang="ko-KR" altLang="en-US" sz="1600" dirty="0" smtClean="0"/>
              <a:t>양성으로 예측한 표본 크기 대비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실제로 양성인 표본 크기의 비율</a:t>
            </a:r>
            <a:endParaRPr lang="en-US" altLang="ko-KR" sz="1600" dirty="0" smtClean="0"/>
          </a:p>
          <a:p>
            <a:pPr algn="ctr"/>
            <a:r>
              <a:rPr lang="en-US" altLang="ko-KR" sz="1600" b="1" dirty="0" smtClean="0"/>
              <a:t>(Precision = TP / (TP + FP))</a:t>
            </a:r>
            <a:endParaRPr lang="en-US" altLang="ko-KR" sz="1600" b="1" dirty="0"/>
          </a:p>
          <a:p>
            <a:pPr marL="342900" indent="-342900">
              <a:buFontTx/>
              <a:buAutoNum type="arabicPeriod"/>
            </a:pPr>
            <a:endParaRPr lang="en-US" altLang="ko-KR" sz="1600" b="1" dirty="0"/>
          </a:p>
          <a:p>
            <a:pPr marL="342900" indent="-342900">
              <a:buAutoNum type="arabicPeriod"/>
            </a:pPr>
            <a:endParaRPr lang="en-US" altLang="ko-KR" sz="1600" b="1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286871" y="1170845"/>
            <a:ext cx="3231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▪    </a:t>
            </a:r>
            <a:r>
              <a:rPr lang="ko-KR" altLang="en-US" b="1" dirty="0"/>
              <a:t>혼동 </a:t>
            </a:r>
            <a:r>
              <a:rPr lang="ko-KR" altLang="en-US" b="1" dirty="0" smtClean="0"/>
              <a:t>행렬의 성능 측정 지표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52328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3273420" y="3105835"/>
            <a:ext cx="2597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분류자 평가</a:t>
            </a:r>
            <a:endParaRPr kumimoji="1" lang="en-US" altLang="ko-KR" sz="3600" b="1" dirty="0" smtClean="0">
              <a:solidFill>
                <a:prstClr val="black"/>
              </a:solidFill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93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분류자 평가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388514"/>
            <a:ext cx="8668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▪    </a:t>
            </a:r>
            <a:r>
              <a:rPr lang="ko-KR" altLang="en-US" b="1" dirty="0" smtClean="0"/>
              <a:t>정확도에 기반한 분류자 평가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 </a:t>
            </a:r>
            <a:r>
              <a:rPr lang="ko-KR" altLang="en-US" b="1" dirty="0" smtClean="0"/>
              <a:t>예시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고객의 이탈 여부 예측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72" y="2606997"/>
            <a:ext cx="6381750" cy="2085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0612" y="4930588"/>
            <a:ext cx="6571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직관적이고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계산 방식이 간편하기 때문에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분류자 성능 평가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정확도</a:t>
            </a:r>
            <a:r>
              <a:rPr lang="en-US" altLang="ko-KR" dirty="0" smtClean="0"/>
              <a:t>(Accuracy) </a:t>
            </a:r>
            <a:r>
              <a:rPr lang="ko-KR" altLang="en-US" dirty="0" smtClean="0"/>
              <a:t>지표를 채택하는 경우가 많음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251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분류자 평가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208958"/>
            <a:ext cx="86685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▪    </a:t>
            </a:r>
            <a:r>
              <a:rPr lang="ko-KR" altLang="en-US" b="1" dirty="0" smtClean="0"/>
              <a:t>정확도 평가 방식의 문제점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b="1" dirty="0" smtClean="0"/>
              <a:t>1.  </a:t>
            </a:r>
            <a:r>
              <a:rPr lang="ko-KR" altLang="en-US" b="1" dirty="0" smtClean="0"/>
              <a:t>편중된 계층 문제</a:t>
            </a:r>
            <a:r>
              <a:rPr lang="en-US" altLang="ko-KR" b="1" dirty="0" smtClean="0"/>
              <a:t>(Class imbalance problem)</a:t>
            </a:r>
          </a:p>
          <a:p>
            <a:endParaRPr lang="en-US" altLang="ko-KR" b="1" dirty="0"/>
          </a:p>
          <a:p>
            <a:r>
              <a:rPr lang="en-US" altLang="ko-KR" b="1" dirty="0" smtClean="0"/>
              <a:t>     </a:t>
            </a:r>
            <a:r>
              <a:rPr lang="ko-KR" altLang="en-US" b="1" dirty="0" smtClean="0"/>
              <a:t>예시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암 검진</a:t>
            </a:r>
            <a:endParaRPr lang="en-US" altLang="ko-KR" b="1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2686286"/>
            <a:ext cx="4697506" cy="1688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212" y="4759562"/>
            <a:ext cx="7727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예측 모델이 단순히 모두 정상이라고 예측하게 된다면</a:t>
            </a:r>
            <a:r>
              <a:rPr lang="en-US" altLang="ko-KR" dirty="0" smtClean="0"/>
              <a:t>?</a:t>
            </a:r>
          </a:p>
          <a:p>
            <a:r>
              <a:rPr lang="ko-KR" altLang="en-US" dirty="0" smtClean="0"/>
              <a:t>이 때의 정확도와 </a:t>
            </a:r>
            <a:r>
              <a:rPr lang="ko-KR" altLang="en-US" dirty="0" err="1" smtClean="0"/>
              <a:t>재현율</a:t>
            </a:r>
            <a:r>
              <a:rPr lang="en-US" altLang="ko-KR" dirty="0" smtClean="0"/>
              <a:t>(</a:t>
            </a:r>
            <a:r>
              <a:rPr lang="ko-KR" altLang="en-US" dirty="0" smtClean="0"/>
              <a:t>민감도</a:t>
            </a:r>
            <a:r>
              <a:rPr lang="en-US" altLang="ko-KR" dirty="0" smtClean="0"/>
              <a:t>) </a:t>
            </a:r>
            <a:r>
              <a:rPr lang="ko-KR" altLang="en-US" dirty="0" smtClean="0"/>
              <a:t>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958354" y="3530647"/>
            <a:ext cx="1156446" cy="40485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993777" y="3897437"/>
            <a:ext cx="1156446" cy="40485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766048" y="3155576"/>
            <a:ext cx="1299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진음성</a:t>
            </a:r>
            <a:r>
              <a:rPr lang="en-US" altLang="ko-KR" b="1" dirty="0" smtClean="0">
                <a:solidFill>
                  <a:srgbClr val="FF0000"/>
                </a:solidFill>
              </a:rPr>
              <a:t>(TN)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86082" y="3935506"/>
            <a:ext cx="1299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진</a:t>
            </a:r>
            <a:r>
              <a:rPr lang="ko-KR" altLang="en-US" b="1" dirty="0" err="1">
                <a:solidFill>
                  <a:srgbClr val="FF0000"/>
                </a:solidFill>
              </a:rPr>
              <a:t>양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성</a:t>
            </a:r>
            <a:r>
              <a:rPr lang="en-US" altLang="ko-KR" b="1" dirty="0" smtClean="0">
                <a:solidFill>
                  <a:srgbClr val="FF0000"/>
                </a:solidFill>
              </a:rPr>
              <a:t>(TN)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분류자 평가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092417"/>
            <a:ext cx="8668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▪    </a:t>
            </a:r>
            <a:r>
              <a:rPr lang="ko-KR" altLang="en-US" b="1" dirty="0" smtClean="0"/>
              <a:t>정확도 평가 방식의 문제점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b="1" dirty="0" smtClean="0"/>
              <a:t>2. </a:t>
            </a:r>
            <a:r>
              <a:rPr lang="ko-KR" altLang="en-US" b="1" dirty="0" smtClean="0"/>
              <a:t>예측 대상 데이터에 따른 정확도의 변동성</a:t>
            </a:r>
            <a:endParaRPr lang="en-US" altLang="ko-KR" b="1" dirty="0"/>
          </a:p>
          <a:p>
            <a:r>
              <a:rPr lang="en-US" altLang="ko-KR" b="1" dirty="0" smtClean="0"/>
              <a:t>    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0" y="2292746"/>
            <a:ext cx="3905811" cy="34107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931" y="2150863"/>
            <a:ext cx="3935506" cy="3655616"/>
          </a:xfrm>
          <a:prstGeom prst="rect">
            <a:avLst/>
          </a:prstGeom>
        </p:spPr>
      </p:pic>
      <p:sp>
        <p:nvSpPr>
          <p:cNvPr id="10" name="오른쪽 화살표 9"/>
          <p:cNvSpPr/>
          <p:nvPr/>
        </p:nvSpPr>
        <p:spPr>
          <a:xfrm>
            <a:off x="4383741" y="3998141"/>
            <a:ext cx="851647" cy="2869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49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ea typeface="나눔스퀘어_ac ExtraBold" panose="020B0600000101010101" pitchFamily="50" charset="-127"/>
              </a:rPr>
              <a:t>분류자 평가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208958"/>
            <a:ext cx="8668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▪    </a:t>
            </a:r>
            <a:r>
              <a:rPr lang="ko-KR" altLang="en-US" b="1" dirty="0" smtClean="0"/>
              <a:t>정확도 평가 방식의 문제점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b="1" dirty="0" smtClean="0"/>
              <a:t>3.  </a:t>
            </a:r>
            <a:r>
              <a:rPr lang="ko-KR" altLang="en-US" b="1" dirty="0" smtClean="0"/>
              <a:t>비용 대비 효과의 불균형 문제</a:t>
            </a:r>
            <a:endParaRPr lang="en-US" altLang="ko-KR" b="1" dirty="0"/>
          </a:p>
          <a:p>
            <a:r>
              <a:rPr lang="en-US" altLang="ko-KR" b="1" dirty="0" smtClean="0"/>
              <a:t>    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30" y="2348869"/>
            <a:ext cx="4697506" cy="1688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130" y="4673696"/>
            <a:ext cx="77275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정확도 계산 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위양성과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위음성의</a:t>
            </a:r>
            <a:r>
              <a:rPr lang="ko-KR" altLang="en-US" dirty="0" smtClean="0"/>
              <a:t> </a:t>
            </a:r>
            <a:r>
              <a:rPr lang="ko-KR" altLang="en-US" b="1" dirty="0" smtClean="0"/>
              <a:t>가중치가 동일</a:t>
            </a:r>
            <a:r>
              <a:rPr lang="en-US" altLang="ko-KR" dirty="0" smtClean="0"/>
              <a:t>(Count </a:t>
            </a:r>
            <a:r>
              <a:rPr lang="ko-KR" altLang="en-US" dirty="0" smtClean="0"/>
              <a:t>방식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그러나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실제로 암 환자인데 음성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정상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으로 예측</a:t>
            </a:r>
            <a:r>
              <a:rPr lang="ko-KR" altLang="en-US" dirty="0" smtClean="0"/>
              <a:t>되어 조치를 취하지 못하는 경우는 매우 상황이 심각해질 수 있음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b="1" dirty="0" smtClean="0"/>
              <a:t>그러므로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보편적으로 사용되는 다른 분류자 성능 측정 방식이 필요</a:t>
            </a:r>
            <a:endParaRPr lang="ko-KR" altLang="en-US" b="1" dirty="0"/>
          </a:p>
        </p:txBody>
      </p:sp>
      <p:sp>
        <p:nvSpPr>
          <p:cNvPr id="7" name="직사각형 6"/>
          <p:cNvSpPr/>
          <p:nvPr/>
        </p:nvSpPr>
        <p:spPr>
          <a:xfrm>
            <a:off x="2864773" y="3491967"/>
            <a:ext cx="1211591" cy="50215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992836" y="3165061"/>
            <a:ext cx="1221294" cy="43876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864773" y="4069807"/>
            <a:ext cx="1299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위음성</a:t>
            </a:r>
            <a:r>
              <a:rPr lang="en-US" altLang="ko-KR" b="1" dirty="0" smtClean="0">
                <a:solidFill>
                  <a:srgbClr val="FF0000"/>
                </a:solidFill>
              </a:rPr>
              <a:t>(FN)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77636" y="3193230"/>
            <a:ext cx="1299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위양성</a:t>
            </a:r>
            <a:r>
              <a:rPr lang="en-US" altLang="ko-KR" b="1" dirty="0" smtClean="0">
                <a:solidFill>
                  <a:srgbClr val="FF0000"/>
                </a:solidFill>
              </a:rPr>
              <a:t>(FP)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12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2297995" y="3105835"/>
            <a:ext cx="4548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 err="1" smtClean="0">
                <a:solidFill>
                  <a:prstClr val="black"/>
                </a:solidFill>
                <a:ea typeface="NanumGothic" panose="020D0604000000000000" pitchFamily="34" charset="-127"/>
              </a:rPr>
              <a:t>기댓값과</a:t>
            </a:r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 분류자 평가</a:t>
            </a:r>
            <a:endParaRPr kumimoji="1" lang="en-US" altLang="ko-KR" sz="3600" b="1" dirty="0" smtClean="0">
              <a:solidFill>
                <a:prstClr val="black"/>
              </a:solidFill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02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기댓값과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분류자 평가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/>
              <p:cNvSpPr txBox="1"/>
              <p:nvPr/>
            </p:nvSpPr>
            <p:spPr>
              <a:xfrm>
                <a:off x="401050" y="1433992"/>
                <a:ext cx="866858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▪    </a:t>
                </a:r>
                <a:r>
                  <a:rPr kumimoji="0" lang="ko-KR" altLang="en-US" sz="1800" b="1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기댓값</a:t>
                </a:r>
                <a:r>
                  <a:rPr kumimoji="0" lang="ko-KR" altLang="en-US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</a:t>
                </a:r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(Expected</a:t>
                </a:r>
                <a:r>
                  <a:rPr kumimoji="0" lang="en-US" altLang="ko-KR" sz="1800" b="1" i="0" u="none" strike="noStrike" kern="1200" cap="none" spc="0" normalizeH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value, EV)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800" b="1" i="0" u="none" strike="noStrike" kern="1200" cap="none" spc="0" normalizeH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lang="ko-KR" altLang="en-US" dirty="0" err="1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기댓값은</a:t>
                </a:r>
                <a:r>
                  <a:rPr lang="ko-KR" altLang="en-US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 발생 가능 한 모든 결과에 대해</a:t>
                </a:r>
                <a:r>
                  <a:rPr lang="en-US" altLang="ko-KR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, </a:t>
                </a:r>
                <a:r>
                  <a:rPr lang="ko-KR" altLang="en-US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그 발생 확률과 각 결과에 대한 가중치를 곱한 후</a:t>
                </a:r>
                <a:r>
                  <a:rPr lang="en-US" altLang="ko-KR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, </a:t>
                </a:r>
                <a:r>
                  <a:rPr lang="ko-KR" altLang="en-US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합산 한 결과로서 표현이 가능</a:t>
                </a:r>
                <a:endParaRPr lang="en-US" altLang="ko-KR" dirty="0" smtClean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endPara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marL="285750" lvl="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𝐸𝑉</m:t>
                    </m:r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=</m:t>
                    </m:r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𝑝</m:t>
                    </m:r>
                    <m:d>
                      <m:dPr>
                        <m:ctrlP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ko-K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ko-K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+mn-cs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altLang="ko-K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∗</m:t>
                    </m:r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𝑣</m:t>
                    </m:r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) +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ko-KR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 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 smtClean="0">
                    <a:solidFill>
                      <a:prstClr val="black"/>
                    </a:solidFill>
                  </a:rPr>
                  <a:t>  </a:t>
                </a:r>
                <a:endParaRPr kumimoji="0" lang="en-US" altLang="ko-K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endParaRPr kumimoji="0" lang="en-US" altLang="ko-K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marL="285750" lvl="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: 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발생 가능한 </a:t>
                </a:r>
                <a:r>
                  <a:rPr lang="ko-KR" altLang="en-US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결과</a:t>
                </a:r>
                <a:endParaRPr lang="en-US" altLang="ko-KR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  <a:p>
                <a:pPr marL="285750" lvl="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: </a:t>
                </a:r>
                <a:r>
                  <a:rPr kumimoji="0" lang="en-US" altLang="ko-KR" sz="18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i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번째 결과가 발생할 확률</a:t>
                </a:r>
                <a:endParaRPr lang="en-US" altLang="ko-KR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  <a:p>
                <a:pPr marL="285750" lvl="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: </a:t>
                </a:r>
                <a:r>
                  <a:rPr kumimoji="0" lang="en-US" altLang="ko-KR" sz="18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i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번째 발생 결과에 대한 가중치</a:t>
                </a:r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가치</a:t>
                </a:r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)</a:t>
                </a:r>
              </a:p>
              <a:p>
                <a:pPr lvl="0"/>
                <a:r>
                  <a:rPr lang="en-US" altLang="ko-KR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                 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비즈니스 가치의 경우</a:t>
                </a:r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주로 도메인 관련 전문가의 도움을 받아 값을 산출</a:t>
                </a:r>
                <a:endParaRPr kumimoji="0" lang="en-US" altLang="ko-K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mc:Choice>
        <mc:Fallback xmlns="">
          <p:sp>
            <p:nvSpPr>
              <p:cNvPr id="140" name="TextBox 1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50" y="1433992"/>
                <a:ext cx="8668589" cy="3139321"/>
              </a:xfrm>
              <a:prstGeom prst="rect">
                <a:avLst/>
              </a:prstGeom>
              <a:blipFill>
                <a:blip r:embed="rId4"/>
                <a:stretch>
                  <a:fillRect l="-633" t="-1553" b="-21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38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기댓값과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분류자 평가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313674"/>
            <a:ext cx="866858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▪    </a:t>
            </a:r>
            <a:r>
              <a:rPr kumimoji="0" lang="ko-KR" alt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기댓값</a:t>
            </a: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을 이용한 분류자 사용</a:t>
            </a:r>
            <a:endParaRPr lang="en-US" altLang="ko-KR" b="1" dirty="0" smtClean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예</a:t>
            </a: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타겟 마케팅을 통한 제품 판매</a:t>
            </a:r>
            <a:endParaRPr lang="en-US" altLang="ko-KR" b="1" dirty="0" smtClean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b="1" dirty="0" smtClean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&lt;</a:t>
            </a: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시나리오</a:t>
            </a: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&gt;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수집한 고객의 데이터를 바탕으로</a:t>
            </a:r>
            <a:r>
              <a:rPr lang="en-US" altLang="ko-KR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각 고객 마다 프로모션에 응할 확률을 예측</a:t>
            </a:r>
            <a:endParaRPr lang="en-US" altLang="ko-KR" sz="1600" dirty="0" smtClean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확률 값이 상대적으로 높은 고객에 대하여</a:t>
            </a:r>
            <a:r>
              <a:rPr lang="en-US" altLang="ko-KR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프로모션을 진행</a:t>
            </a:r>
            <a:endParaRPr lang="en-US" altLang="ko-KR" sz="1600" dirty="0" smtClean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프로모션에 응할 것으로 예측</a:t>
            </a:r>
            <a:r>
              <a:rPr lang="en-US" altLang="ko-KR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양성</a:t>
            </a:r>
            <a:r>
              <a:rPr lang="en-US" altLang="ko-KR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), </a:t>
            </a:r>
          </a:p>
          <a:p>
            <a:pPr marL="285750" lvl="0" indent="-285750">
              <a:buFontTx/>
              <a:buChar char="-"/>
            </a:pPr>
            <a:r>
              <a:rPr lang="ko-KR" altLang="en-US" sz="1600" dirty="0">
                <a:solidFill>
                  <a:prstClr val="black"/>
                </a:solidFill>
              </a:rPr>
              <a:t>프로모션에 응하지 않을 </a:t>
            </a:r>
            <a:r>
              <a:rPr lang="ko-KR" altLang="en-US" sz="1600" dirty="0" smtClean="0">
                <a:solidFill>
                  <a:prstClr val="black"/>
                </a:solidFill>
              </a:rPr>
              <a:t>것으로 예측</a:t>
            </a:r>
            <a:r>
              <a:rPr lang="en-US" altLang="ko-KR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음성</a:t>
            </a:r>
            <a:r>
              <a:rPr lang="en-US" altLang="ko-KR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&lt;</a:t>
            </a: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시나리오 조건</a:t>
            </a: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&gt;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600" noProof="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제품 판매는 프로모션을 통해서만 가능함</a:t>
            </a:r>
            <a:endParaRPr lang="en-US" altLang="ko-KR" sz="1600" noProof="0" dirty="0" smtClean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6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제품 판매가 </a:t>
            </a:r>
            <a:r>
              <a:rPr lang="en-US" altLang="ko-KR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 20</a:t>
            </a: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만원</a:t>
            </a: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제품 생산가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: 10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만원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프로모션 </a:t>
            </a:r>
            <a:r>
              <a:rPr lang="ko-KR" altLang="en-US" sz="1600" dirty="0" err="1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제안가</a:t>
            </a: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 1</a:t>
            </a:r>
            <a:r>
              <a:rPr lang="ko-KR" altLang="en-US" sz="160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천원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60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기댓값과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분류자 평가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/>
              <p:cNvSpPr txBox="1"/>
              <p:nvPr/>
            </p:nvSpPr>
            <p:spPr>
              <a:xfrm>
                <a:off x="401050" y="1313674"/>
                <a:ext cx="8668589" cy="4595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▪    </a:t>
                </a:r>
                <a:r>
                  <a:rPr kumimoji="0" lang="ko-KR" altLang="en-US" sz="1800" b="1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기댓값</a:t>
                </a:r>
                <a:r>
                  <a:rPr lang="ko-KR" altLang="en-US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을 이용한 분류자 사용</a:t>
                </a:r>
                <a:endParaRPr lang="en-US" altLang="ko-KR" b="1" dirty="0" smtClean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800" b="1" i="0" u="none" strike="noStrike" kern="1200" cap="none" spc="0" normalizeH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고객 </a:t>
                </a:r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x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에 대하여</a:t>
                </a:r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타겟 마케팅 대상으로 선정할 때의 기대 효과를 계산</a:t>
                </a:r>
                <a:endParaRPr kumimoji="0" lang="en-US" altLang="ko-K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marR="0" lvl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+mn-cs"/>
                        </a:rPr>
                        <m:t>𝑬𝑽</m:t>
                      </m:r>
                      <m:r>
                        <a:rPr kumimoji="0" lang="en-US" altLang="ko-KR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+mn-cs"/>
                        </a:rPr>
                        <m:t>= </m:t>
                      </m:r>
                      <m:sSub>
                        <m:sSubPr>
                          <m:ctrlP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𝒑</m:t>
                          </m:r>
                        </m:e>
                        <m:sub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𝒓</m:t>
                          </m:r>
                        </m:sub>
                      </m:sSub>
                      <m:d>
                        <m:dPr>
                          <m:ctrlP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altLang="ko-KR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+mn-cs"/>
                        </a:rPr>
                        <m:t>∗</m:t>
                      </m:r>
                      <m:sSub>
                        <m:sSubPr>
                          <m:ctrlP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𝒗</m:t>
                          </m:r>
                        </m:e>
                        <m:sub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𝒓</m:t>
                          </m:r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 </m:t>
                          </m:r>
                        </m:sub>
                      </m:sSub>
                      <m:r>
                        <a:rPr kumimoji="0" lang="en-US" altLang="ko-KR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𝟏</m:t>
                          </m:r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altLang="ko-K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+mn-cs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0" lang="en-US" altLang="ko-K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+mn-cs"/>
                                </a:rPr>
                                <m:t>𝒓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ko-K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ko-K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+mn-cs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kumimoji="0" lang="en-US" altLang="ko-KR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+mn-cs"/>
                        </a:rPr>
                        <m:t>∗</m:t>
                      </m:r>
                      <m:sSub>
                        <m:sSubPr>
                          <m:ctrlP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𝒗</m:t>
                          </m:r>
                        </m:e>
                        <m:sub>
                          <m:r>
                            <a:rPr kumimoji="0" lang="en-US" altLang="ko-K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+mn-cs"/>
                            </a:rPr>
                            <m:t>𝒏𝒓</m:t>
                          </m:r>
                        </m:sub>
                      </m:sSub>
                    </m:oMath>
                  </m:oMathPara>
                </a14:m>
                <a:endParaRPr kumimoji="0" lang="en-US" altLang="ko-K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endParaRPr kumimoji="0" lang="en-US" altLang="ko-K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lvl="0"/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-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은 고객</a:t>
                </a:r>
                <a:r>
                  <a:rPr kumimoji="0" lang="ko-KR" altLang="en-US" sz="1800" b="0" i="0" u="none" strike="noStrike" kern="1200" cap="none" spc="0" normalizeH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</a:t>
                </a:r>
                <a:r>
                  <a:rPr kumimoji="0" lang="en-US" altLang="ko-KR" sz="1800" b="0" i="0" u="none" strike="noStrike" kern="1200" cap="none" spc="0" normalizeH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x</a:t>
                </a:r>
                <a:r>
                  <a:rPr kumimoji="0" lang="ko-KR" altLang="en-US" sz="1800" b="0" i="0" u="none" strike="noStrike" kern="1200" cap="none" spc="0" normalizeH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가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프로모션에 응답해 제품을 구매할 때 발생하는 가치</a:t>
                </a:r>
                <a:endParaRPr kumimoji="0" lang="en-US" altLang="ko-K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marL="285750" lvl="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𝑛𝑟</m:t>
                        </m:r>
                      </m:sub>
                    </m:sSub>
                  </m:oMath>
                </a14:m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은 고객 </a:t>
                </a:r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x</a:t>
                </a: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가 프로모션에 응답하지 않을 경우 발생하는 가치</a:t>
                </a:r>
                <a:endParaRPr kumimoji="0" lang="en-US" altLang="ko-K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marL="285750" lvl="0" indent="-285750">
                  <a:buFontTx/>
                  <a:buChar char="-"/>
                </a:pPr>
                <a:endParaRPr lang="en-US" altLang="ko-KR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  <a:p>
                <a:pPr marL="285750" lvl="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</a:rPr>
                  <a:t> = 200000 – (100000 + 1000) = 99000</a:t>
                </a:r>
              </a:p>
              <a:p>
                <a:pPr marL="285750" lvl="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𝒏𝒓</m:t>
                        </m:r>
                      </m:sub>
                    </m:sSub>
                  </m:oMath>
                </a14:m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</a:rPr>
                  <a:t> = -1000</a:t>
                </a:r>
              </a:p>
              <a:p>
                <a:pPr marL="285750" lvl="0" indent="-285750">
                  <a:buFontTx/>
                  <a:buChar char="-"/>
                </a:pPr>
                <a:endParaRPr lang="en-US" altLang="ko-KR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  <a:p>
                <a:pPr marL="285750" lvl="0" indent="-285750">
                  <a:buFontTx/>
                  <a:buChar char="-"/>
                </a:pPr>
                <a:r>
                  <a:rPr kumimoji="0" lang="ko-KR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타겟 마케팅의 수익 조건 계산</a:t>
                </a:r>
                <a:endParaRPr kumimoji="0" lang="en-US" altLang="ko-K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lvl="0" algn="ctr"/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𝐸𝑉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99000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−1000</m:t>
                    </m:r>
                    <m:r>
                      <a:rPr lang="en-US" altLang="ko-KR" b="0" i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0" lang="en-US" altLang="ko-K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 </a:t>
                </a:r>
              </a:p>
              <a:p>
                <a:pPr lvl="0" algn="ctr"/>
                <a14:m>
                  <m:oMath xmlns:m="http://schemas.openxmlformats.org/officeDocument/2006/math">
                    <m:r>
                      <a:rPr kumimoji="0" lang="en-US" altLang="ko-KR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𝟎𝟏</m:t>
                    </m:r>
                  </m:oMath>
                </a14:m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</a:rPr>
                  <a:t> </a:t>
                </a:r>
                <a:endParaRPr lang="en-US" altLang="ko-KR" b="1" noProof="0" dirty="0" smtClean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  <a:p>
                <a:pPr lvl="0" algn="ctr"/>
                <a:endParaRPr kumimoji="0" lang="en-US" altLang="ko-KR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  <a:p>
                <a:pPr lvl="0"/>
                <a:r>
                  <a:rPr lang="ko-KR" altLang="en-US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즉</a:t>
                </a:r>
                <a:r>
                  <a:rPr lang="en-US" altLang="ko-KR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, </a:t>
                </a:r>
                <a:r>
                  <a:rPr lang="ko-KR" altLang="en-US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고객 </a:t>
                </a:r>
                <a:r>
                  <a:rPr lang="en-US" altLang="ko-KR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x</a:t>
                </a:r>
                <a:r>
                  <a:rPr lang="ko-KR" altLang="en-US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가 프로모션에 응할 가능성이 </a:t>
                </a:r>
                <a:r>
                  <a:rPr lang="en-US" altLang="ko-KR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1%</a:t>
                </a:r>
                <a:r>
                  <a:rPr lang="ko-KR" altLang="en-US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보다 큰 경우</a:t>
                </a:r>
                <a:r>
                  <a:rPr lang="en-US" altLang="ko-KR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, </a:t>
                </a:r>
                <a:r>
                  <a:rPr lang="ko-KR" altLang="en-US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양성으로 예측</a:t>
                </a:r>
                <a:r>
                  <a:rPr lang="en-US" altLang="ko-KR" b="1" dirty="0" smtClean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!</a:t>
                </a:r>
                <a:endParaRPr kumimoji="0" lang="en-US" altLang="ko-K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140" name="TextBox 1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50" y="1313674"/>
                <a:ext cx="8668589" cy="4595617"/>
              </a:xfrm>
              <a:prstGeom prst="rect">
                <a:avLst/>
              </a:prstGeom>
              <a:blipFill>
                <a:blip r:embed="rId4"/>
                <a:stretch>
                  <a:fillRect l="-633" t="-1061" b="-11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76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기댓값과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분류자 평가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125415"/>
            <a:ext cx="86685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▪    </a:t>
            </a:r>
            <a:r>
              <a:rPr kumimoji="0" lang="ko-KR" alt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기댓값</a:t>
            </a: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을 이용한 분류자 평가</a:t>
            </a: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8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모델의 전체적인 </a:t>
            </a:r>
            <a:r>
              <a:rPr kumimoji="0" lang="ko-KR" altLang="en-US" sz="1800" b="1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기댓값</a:t>
            </a:r>
            <a:r>
              <a:rPr kumimoji="0" lang="ko-KR" altLang="en-US" sz="18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프로모션을 통한 전체적인 상품 판매 수익</a:t>
            </a:r>
            <a:r>
              <a:rPr kumimoji="0" lang="en-US" altLang="ko-KR" sz="18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을 계산</a:t>
            </a:r>
            <a:endParaRPr kumimoji="0" lang="en-US" altLang="ko-KR" sz="1800" b="1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lvl="0"/>
            <a:r>
              <a:rPr lang="en-US" altLang="ko-KR" b="1" noProof="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	</a:t>
            </a:r>
            <a:r>
              <a:rPr lang="en-US" altLang="ko-KR" noProof="0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1. </a:t>
            </a:r>
            <a:r>
              <a:rPr lang="ko-KR" altLang="en-US" dirty="0" err="1">
                <a:solidFill>
                  <a:prstClr val="black"/>
                </a:solidFill>
              </a:rPr>
              <a:t>진양성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 err="1">
                <a:solidFill>
                  <a:prstClr val="black"/>
                </a:solidFill>
              </a:rPr>
              <a:t>진음성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 err="1">
                <a:solidFill>
                  <a:prstClr val="black"/>
                </a:solidFill>
              </a:rPr>
              <a:t>위양성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 err="1" smtClean="0">
                <a:solidFill>
                  <a:prstClr val="black"/>
                </a:solidFill>
              </a:rPr>
              <a:t>위음성의</a:t>
            </a:r>
            <a:r>
              <a:rPr lang="ko-KR" altLang="en-US" dirty="0" smtClean="0">
                <a:solidFill>
                  <a:prstClr val="black"/>
                </a:solidFill>
              </a:rPr>
              <a:t> 빈도를 계산</a:t>
            </a:r>
            <a:r>
              <a:rPr kumimoji="0" lang="en-US" altLang="ko-KR" sz="1800" i="0" u="none" strike="noStrike" kern="1200" cap="none" spc="0" normalizeH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</a:rPr>
              <a:t>	</a:t>
            </a:r>
          </a:p>
          <a:p>
            <a:pPr lvl="0"/>
            <a:r>
              <a:rPr lang="en-US" altLang="ko-KR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  </a:t>
            </a:r>
            <a:r>
              <a:rPr kumimoji="0" lang="en-US" altLang="ko-KR" sz="1800" i="0" u="none" strike="noStrike" kern="1200" cap="none" spc="0" normalizeH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</a:rPr>
              <a:t>2. </a:t>
            </a:r>
            <a:r>
              <a:rPr kumimoji="0" lang="ko-KR" altLang="en-US" sz="1800" i="0" u="none" strike="noStrike" kern="1200" cap="none" spc="0" normalizeH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</a:rPr>
              <a:t>진양성</a:t>
            </a:r>
            <a:r>
              <a:rPr kumimoji="0" lang="en-US" altLang="ko-KR" sz="1800" i="0" u="none" strike="noStrike" kern="1200" cap="none" spc="0" normalizeH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kumimoji="0" lang="ko-KR" altLang="en-US" sz="1800" i="0" u="none" strike="noStrike" kern="1200" cap="none" spc="0" normalizeH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</a:rPr>
              <a:t>진음성</a:t>
            </a:r>
            <a:r>
              <a:rPr kumimoji="0" lang="en-US" altLang="ko-KR" sz="1800" i="0" u="none" strike="noStrike" kern="1200" cap="none" spc="0" normalizeH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kumimoji="0" lang="ko-KR" altLang="en-US" sz="1800" i="0" u="none" strike="noStrike" kern="1200" cap="none" spc="0" normalizeH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</a:rPr>
              <a:t>위양성</a:t>
            </a:r>
            <a:r>
              <a:rPr kumimoji="0" lang="en-US" altLang="ko-KR" sz="1800" i="0" u="none" strike="noStrike" kern="1200" cap="none" spc="0" normalizeH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kumimoji="0" lang="ko-KR" altLang="en-US" sz="1800" i="0" u="none" strike="noStrike" kern="1200" cap="none" spc="0" normalizeH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</a:rPr>
              <a:t>위음성</a:t>
            </a:r>
            <a:r>
              <a:rPr lang="ko-KR" altLang="en-US" dirty="0" err="1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에</a:t>
            </a:r>
            <a:r>
              <a:rPr lang="ko-KR" altLang="en-US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대응되는 가치를 계산</a:t>
            </a:r>
            <a:endParaRPr kumimoji="0" lang="en-US" altLang="ko-KR" sz="1800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02" y="2689620"/>
            <a:ext cx="4142294" cy="367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1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기댓값과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분류자 평가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125415"/>
            <a:ext cx="8668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▪    </a:t>
            </a:r>
            <a:r>
              <a:rPr kumimoji="0" lang="ko-KR" alt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기댓값</a:t>
            </a: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을 이용한 분류자 평가</a:t>
            </a: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10" y="2221369"/>
            <a:ext cx="4142294" cy="36717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344" y="1026835"/>
            <a:ext cx="4103055" cy="1310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35344" y="2581835"/>
            <a:ext cx="422011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&lt;</a:t>
            </a:r>
            <a:r>
              <a:rPr lang="ko-KR" altLang="en-US" sz="1600" b="1" dirty="0" smtClean="0"/>
              <a:t>각 </a:t>
            </a:r>
            <a:r>
              <a:rPr lang="ko-KR" altLang="en-US" sz="1600" b="1" dirty="0" err="1" smtClean="0"/>
              <a:t>파라미터</a:t>
            </a:r>
            <a:r>
              <a:rPr lang="ko-KR" altLang="en-US" sz="1600" b="1" dirty="0" smtClean="0"/>
              <a:t> 계산</a:t>
            </a:r>
            <a:r>
              <a:rPr lang="en-US" altLang="ko-KR" sz="1600" b="1" dirty="0" smtClean="0"/>
              <a:t>&gt;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>
                <a:latin typeface="+mn-ea"/>
              </a:rPr>
              <a:t>P(Y, p)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=  56 / 110 = 0.51</a:t>
            </a:r>
          </a:p>
          <a:p>
            <a:r>
              <a:rPr lang="en-US" altLang="ko-KR" sz="1400" dirty="0" smtClean="0">
                <a:latin typeface="+mn-ea"/>
              </a:rPr>
              <a:t>P(N, n) = 42 / 110 = 0.38</a:t>
            </a:r>
          </a:p>
          <a:p>
            <a:r>
              <a:rPr lang="en-US" altLang="ko-KR" sz="1400" dirty="0" smtClean="0">
                <a:latin typeface="+mn-ea"/>
              </a:rPr>
              <a:t>P(Y, n) = 7 / 110 = 0.06</a:t>
            </a:r>
          </a:p>
          <a:p>
            <a:r>
              <a:rPr lang="en-US" altLang="ko-KR" sz="1400" dirty="0" smtClean="0">
                <a:latin typeface="+mn-ea"/>
              </a:rPr>
              <a:t>P(N, p) = 5 / 110 = 0.05</a:t>
            </a:r>
          </a:p>
          <a:p>
            <a:endParaRPr lang="en-US" altLang="ko-KR" sz="1400" dirty="0"/>
          </a:p>
          <a:p>
            <a:r>
              <a:rPr lang="en-US" altLang="ko-KR" sz="1400" dirty="0" smtClean="0">
                <a:latin typeface="+mn-ea"/>
              </a:rPr>
              <a:t>b(Y, p) = 200000 – (100000 + 1000) = 99000</a:t>
            </a:r>
          </a:p>
          <a:p>
            <a:r>
              <a:rPr lang="en-US" altLang="ko-KR" sz="1400" dirty="0">
                <a:latin typeface="+mn-ea"/>
              </a:rPr>
              <a:t>b(Y, </a:t>
            </a:r>
            <a:r>
              <a:rPr lang="en-US" altLang="ko-KR" sz="1400" dirty="0" smtClean="0">
                <a:latin typeface="+mn-ea"/>
              </a:rPr>
              <a:t>n) = -1000 </a:t>
            </a:r>
          </a:p>
          <a:p>
            <a:r>
              <a:rPr lang="en-US" altLang="ko-KR" sz="1400" dirty="0" smtClean="0">
                <a:latin typeface="+mn-ea"/>
              </a:rPr>
              <a:t>b(N, </a:t>
            </a:r>
            <a:r>
              <a:rPr lang="en-US" altLang="ko-KR" sz="1400" dirty="0">
                <a:latin typeface="+mn-ea"/>
              </a:rPr>
              <a:t>p</a:t>
            </a:r>
            <a:r>
              <a:rPr lang="en-US" altLang="ko-KR" sz="1400" dirty="0" smtClean="0">
                <a:latin typeface="+mn-ea"/>
              </a:rPr>
              <a:t>) = 0 </a:t>
            </a:r>
          </a:p>
          <a:p>
            <a:r>
              <a:rPr lang="en-US" altLang="ko-KR" sz="1400" dirty="0" smtClean="0">
                <a:latin typeface="+mn-ea"/>
              </a:rPr>
              <a:t>b(N, n) = 0 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750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기댓값과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분류자 평가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125415"/>
            <a:ext cx="8668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▪    </a:t>
            </a:r>
            <a:r>
              <a:rPr kumimoji="0" lang="ko-KR" alt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기댓값</a:t>
            </a: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을 이용한 분류자 평가</a:t>
            </a: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65" y="1790374"/>
            <a:ext cx="6781800" cy="1400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4763" y="3664688"/>
                <a:ext cx="6850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=0.51 ∗99000+0.05 ∗0+0.38 ∗0+0.06 ∗−1000=50430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63" y="3664688"/>
                <a:ext cx="6850530" cy="276999"/>
              </a:xfrm>
              <a:prstGeom prst="rect">
                <a:avLst/>
              </a:prstGeom>
              <a:blipFill>
                <a:blip r:embed="rId5"/>
                <a:stretch>
                  <a:fillRect l="-356" b="-6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4763" y="4629336"/>
            <a:ext cx="716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-&gt; </a:t>
            </a:r>
            <a:r>
              <a:rPr lang="ko-KR" altLang="en-US" b="1" dirty="0" smtClean="0"/>
              <a:t>잠재 고객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양성</a:t>
            </a:r>
            <a:r>
              <a:rPr lang="en-US" altLang="ko-KR" b="1" dirty="0" smtClean="0"/>
              <a:t>+</a:t>
            </a:r>
            <a:r>
              <a:rPr lang="ko-KR" altLang="en-US" b="1" dirty="0" smtClean="0"/>
              <a:t>음성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에 속한 각 고객 마다 </a:t>
            </a:r>
            <a:r>
              <a:rPr lang="en-US" altLang="ko-KR" b="1" dirty="0" smtClean="0"/>
              <a:t>5</a:t>
            </a:r>
            <a:r>
              <a:rPr lang="ko-KR" altLang="en-US" b="1" dirty="0" smtClean="0"/>
              <a:t>만원 정도의 수익을 기대할 수 있음</a:t>
            </a:r>
            <a:r>
              <a:rPr lang="en-US" altLang="ko-KR" b="1" dirty="0" smtClean="0"/>
              <a:t>!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681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기댓값과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분류자 평가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125415"/>
            <a:ext cx="8668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▪    </a:t>
            </a:r>
            <a:r>
              <a:rPr kumimoji="0" lang="ko-KR" alt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기댓값</a:t>
            </a: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을 이용한 분류자 평가</a:t>
            </a: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5" y="1627239"/>
            <a:ext cx="6781800" cy="140017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3" y="4244537"/>
            <a:ext cx="8988956" cy="1462411"/>
          </a:xfrm>
          <a:prstGeom prst="rect">
            <a:avLst/>
          </a:prstGeom>
        </p:spPr>
      </p:pic>
      <p:cxnSp>
        <p:nvCxnSpPr>
          <p:cNvPr id="5" name="직선 화살표 연결선 4"/>
          <p:cNvCxnSpPr>
            <a:stCxn id="14" idx="2"/>
          </p:cNvCxnSpPr>
          <p:nvPr/>
        </p:nvCxnSpPr>
        <p:spPr>
          <a:xfrm>
            <a:off x="3560345" y="3027414"/>
            <a:ext cx="0" cy="12171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3649537" y="3157542"/>
                <a:ext cx="2927981" cy="984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altLang="ko-KR" sz="2000" b="1" dirty="0" smtClean="0"/>
              </a:p>
              <a:p>
                <a:endParaRPr lang="en-US" altLang="ko-KR" sz="2000" b="1" dirty="0" smtClean="0"/>
              </a:p>
              <a:p>
                <a:r>
                  <a:rPr lang="ko-KR" altLang="en-US" b="1" u="sng" dirty="0" smtClean="0"/>
                  <a:t>관찰 대상의 변경</a:t>
                </a:r>
                <a:endParaRPr lang="ko-KR" altLang="en-US" b="1" u="sng" dirty="0"/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537" y="3157542"/>
                <a:ext cx="2927981" cy="984885"/>
              </a:xfrm>
              <a:prstGeom prst="rect">
                <a:avLst/>
              </a:prstGeom>
              <a:blipFill>
                <a:blip r:embed="rId6"/>
                <a:stretch>
                  <a:fillRect l="-1875" b="-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33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기댓값과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분류자 평가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125415"/>
            <a:ext cx="8668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▪    </a:t>
            </a:r>
            <a:r>
              <a:rPr kumimoji="0" lang="ko-KR" alt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기댓값</a:t>
            </a:r>
            <a:r>
              <a:rPr lang="ko-KR" altLang="en-US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을 이용한 분류자 평가</a:t>
            </a:r>
            <a:r>
              <a:rPr lang="en-US" altLang="ko-KR" b="1" dirty="0" smtClean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89" y="1684192"/>
            <a:ext cx="4103055" cy="13105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97822" y="1849458"/>
            <a:ext cx="422011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&lt;</a:t>
            </a:r>
            <a:r>
              <a:rPr lang="ko-KR" altLang="en-US" sz="1600" b="1" dirty="0" smtClean="0"/>
              <a:t>각 </a:t>
            </a:r>
            <a:r>
              <a:rPr lang="ko-KR" altLang="en-US" sz="1600" b="1" dirty="0" err="1" smtClean="0"/>
              <a:t>파라미터</a:t>
            </a:r>
            <a:r>
              <a:rPr lang="ko-KR" altLang="en-US" sz="1600" b="1" dirty="0" smtClean="0"/>
              <a:t> 계산</a:t>
            </a:r>
            <a:r>
              <a:rPr lang="en-US" altLang="ko-KR" sz="1600" b="1" dirty="0" smtClean="0"/>
              <a:t>&gt;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>
                <a:latin typeface="+mn-ea"/>
              </a:rPr>
              <a:t>P(Y | p)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=  56 / 61 = 0.92</a:t>
            </a:r>
          </a:p>
          <a:p>
            <a:r>
              <a:rPr lang="en-US" altLang="ko-KR" sz="1400" dirty="0">
                <a:latin typeface="+mn-ea"/>
              </a:rPr>
              <a:t>P(N | p) = 5 / 61 = 0.08</a:t>
            </a:r>
          </a:p>
          <a:p>
            <a:r>
              <a:rPr lang="en-US" altLang="ko-KR" sz="1400" dirty="0" smtClean="0">
                <a:latin typeface="+mn-ea"/>
              </a:rPr>
              <a:t>P(N | n) = 42 / 49 = 0.86</a:t>
            </a:r>
          </a:p>
          <a:p>
            <a:r>
              <a:rPr lang="en-US" altLang="ko-KR" sz="1400" dirty="0" smtClean="0">
                <a:latin typeface="+mn-ea"/>
              </a:rPr>
              <a:t>P(Y | n) = 7 / 49 = 0.14</a:t>
            </a:r>
          </a:p>
          <a:p>
            <a:endParaRPr lang="en-US" altLang="ko-KR" sz="1400" dirty="0" smtClean="0"/>
          </a:p>
          <a:p>
            <a:r>
              <a:rPr lang="en-US" altLang="ko-KR" sz="1400" dirty="0">
                <a:latin typeface="+mn-ea"/>
              </a:rPr>
              <a:t>P(p) = 61 / 110 = </a:t>
            </a:r>
            <a:r>
              <a:rPr lang="en-US" altLang="ko-KR" sz="1400" dirty="0" smtClean="0">
                <a:latin typeface="+mn-ea"/>
              </a:rPr>
              <a:t>0.55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P(n) = 49 / 110 = </a:t>
            </a:r>
            <a:r>
              <a:rPr lang="en-US" altLang="ko-KR" sz="1400" dirty="0" smtClean="0">
                <a:latin typeface="+mn-ea"/>
              </a:rPr>
              <a:t>0.45</a:t>
            </a:r>
            <a:endParaRPr lang="ko-KR" altLang="en-US" sz="1400" dirty="0">
              <a:latin typeface="+mn-ea"/>
            </a:endParaRPr>
          </a:p>
          <a:p>
            <a:endParaRPr lang="en-US" altLang="ko-KR" sz="1400" dirty="0"/>
          </a:p>
          <a:p>
            <a:r>
              <a:rPr lang="en-US" altLang="ko-KR" sz="1400" dirty="0" smtClean="0">
                <a:latin typeface="+mn-ea"/>
              </a:rPr>
              <a:t>b(Y, p) = 200000 – (100000 + 1000) = 99000</a:t>
            </a:r>
          </a:p>
          <a:p>
            <a:r>
              <a:rPr lang="en-US" altLang="ko-KR" sz="1400" dirty="0">
                <a:latin typeface="+mn-ea"/>
              </a:rPr>
              <a:t>b(Y, </a:t>
            </a:r>
            <a:r>
              <a:rPr lang="en-US" altLang="ko-KR" sz="1400" dirty="0" smtClean="0">
                <a:latin typeface="+mn-ea"/>
              </a:rPr>
              <a:t>n) = -1000 </a:t>
            </a:r>
          </a:p>
          <a:p>
            <a:r>
              <a:rPr lang="en-US" altLang="ko-KR" sz="1400" dirty="0" smtClean="0">
                <a:latin typeface="+mn-ea"/>
              </a:rPr>
              <a:t>b(N, </a:t>
            </a:r>
            <a:r>
              <a:rPr lang="en-US" altLang="ko-KR" sz="1400" dirty="0">
                <a:latin typeface="+mn-ea"/>
              </a:rPr>
              <a:t>p</a:t>
            </a:r>
            <a:r>
              <a:rPr lang="en-US" altLang="ko-KR" sz="1400" dirty="0" smtClean="0">
                <a:latin typeface="+mn-ea"/>
              </a:rPr>
              <a:t>) = 0 </a:t>
            </a:r>
          </a:p>
          <a:p>
            <a:r>
              <a:rPr lang="en-US" altLang="ko-KR" sz="1400" dirty="0" smtClean="0">
                <a:latin typeface="+mn-ea"/>
              </a:rPr>
              <a:t>b(N, n) = 0 </a:t>
            </a:r>
          </a:p>
          <a:p>
            <a:endParaRPr lang="en-US" altLang="ko-KR" sz="1400" dirty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1338"/>
            <a:ext cx="4966583" cy="233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4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2528835" y="3105835"/>
            <a:ext cx="40863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 pitchFamily="34" charset="-127"/>
                <a:cs typeface="+mn-cs"/>
              </a:rPr>
              <a:t>평가와 </a:t>
            </a:r>
            <a:r>
              <a:rPr kumimoji="1" lang="ko-KR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 pitchFamily="34" charset="-127"/>
                <a:cs typeface="+mn-cs"/>
              </a:rPr>
              <a:t>성능 기준선</a:t>
            </a:r>
            <a:endParaRPr kumimoji="1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07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noProof="0" dirty="0" smtClean="0">
                <a:solidFill>
                  <a:prstClr val="black"/>
                </a:solidFill>
                <a:latin typeface="Calibri" panose="020F0502020204030204"/>
                <a:ea typeface="나눔스퀘어_ac ExtraBold" panose="020B0600000101010101" pitchFamily="50" charset="-127"/>
              </a:rPr>
              <a:t>평가와 </a:t>
            </a:r>
            <a:r>
              <a:rPr lang="ko-KR" altLang="en-US" sz="2000" b="1" noProof="0" dirty="0" smtClean="0">
                <a:solidFill>
                  <a:prstClr val="black"/>
                </a:solidFill>
                <a:latin typeface="Calibri" panose="020F0502020204030204"/>
                <a:ea typeface="나눔스퀘어_ac ExtraBold" panose="020B0600000101010101" pitchFamily="50" charset="-127"/>
              </a:rPr>
              <a:t>성능 기준선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125415"/>
            <a:ext cx="86685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▪   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기준 모델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Baseline Model, Vanilla Model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의 필요성</a:t>
            </a:r>
            <a:endParaRPr kumimoji="0" lang="en-US" altLang="ko-KR" sz="1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모델의 성능을 하나의 수치로 표현하는 것 자체도 가치 있는 정보가 될 수 있음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비즈니스 관점에서 모델을 살펴봤을 때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어떠한 이유로 개발한 모델이 충분한 가치가 있는가를 설명할 수 있어야 함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dirty="0">
              <a:solidFill>
                <a:prstClr val="black"/>
              </a:solidFill>
              <a:latin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noProof="0" dirty="0" smtClean="0">
                <a:solidFill>
                  <a:prstClr val="black"/>
                </a:solidFill>
                <a:latin typeface="+mn-ea"/>
              </a:rPr>
              <a:t>대표적인 방법은</a:t>
            </a:r>
            <a:r>
              <a:rPr lang="en-US" altLang="ko-KR" noProof="0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noProof="0" dirty="0" smtClean="0">
                <a:solidFill>
                  <a:prstClr val="black"/>
                </a:solidFill>
                <a:latin typeface="+mn-ea"/>
              </a:rPr>
              <a:t>기본 모델을 한 개 설정하고</a:t>
            </a:r>
            <a:r>
              <a:rPr lang="en-US" altLang="ko-KR" noProof="0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개발한 모델을 기본 모델의 성능과 비교함으로써 그 가치를 입증하는 방법이 있음</a:t>
            </a:r>
            <a:r>
              <a:rPr lang="ko-KR" altLang="en-US" noProof="0" dirty="0" smtClean="0">
                <a:solidFill>
                  <a:prstClr val="black"/>
                </a:solidFill>
                <a:latin typeface="+mn-ea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95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noProof="0" dirty="0" smtClean="0">
                <a:solidFill>
                  <a:prstClr val="black"/>
                </a:solidFill>
                <a:latin typeface="Calibri" panose="020F0502020204030204"/>
                <a:ea typeface="나눔스퀘어_ac ExtraBold" panose="020B0600000101010101" pitchFamily="50" charset="-127"/>
              </a:rPr>
              <a:t>평가와 </a:t>
            </a:r>
            <a:r>
              <a:rPr lang="ko-KR" altLang="en-US" sz="2000" b="1" noProof="0" dirty="0" smtClean="0">
                <a:solidFill>
                  <a:prstClr val="black"/>
                </a:solidFill>
                <a:latin typeface="Calibri" panose="020F0502020204030204"/>
                <a:ea typeface="나눔스퀘어_ac ExtraBold" panose="020B0600000101010101" pitchFamily="50" charset="-127"/>
              </a:rPr>
              <a:t>성능 기준선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1050" y="1125415"/>
            <a:ext cx="86685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▪   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기준 모델의 설정 방법</a:t>
            </a:r>
            <a:endParaRPr kumimoji="0" lang="en-US" altLang="ko-KR" sz="1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lang="ko-KR" altLang="en-US" b="1" noProof="0" dirty="0" smtClean="0">
                <a:solidFill>
                  <a:prstClr val="black"/>
                </a:solidFill>
                <a:latin typeface="+mn-ea"/>
              </a:rPr>
              <a:t>무작위 모델</a:t>
            </a:r>
            <a:endParaRPr lang="en-US" altLang="ko-KR" b="1" noProof="0" dirty="0" smtClean="0">
              <a:solidFill>
                <a:prstClr val="black"/>
              </a:solidFill>
              <a:latin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각 데이터 별로 임의의 값을 부여함으로써 예측을 수행</a:t>
            </a:r>
            <a:endParaRPr lang="en-US" altLang="ko-KR" dirty="0" smtClean="0">
              <a:solidFill>
                <a:prstClr val="black"/>
              </a:solidFill>
              <a:latin typeface="+mn-ea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데이터를 초기에 탐사하거나</a:t>
            </a:r>
            <a:r>
              <a:rPr kumimoji="0" lang="en-US" altLang="ko-KR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, </a:t>
            </a: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매우 복잡한 문제를 푸는 과정에 적합</a:t>
            </a:r>
            <a:endParaRPr kumimoji="0" lang="en-US" altLang="ko-KR" sz="180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b="1" dirty="0">
              <a:solidFill>
                <a:prstClr val="black"/>
              </a:solidFill>
              <a:latin typeface="+mn-ea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2"/>
              <a:tabLst/>
              <a:defRPr/>
            </a:pPr>
            <a:r>
              <a:rPr lang="en-US" altLang="ko-KR" b="1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(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회귀</a:t>
            </a:r>
            <a:r>
              <a:rPr lang="en-US" altLang="ko-KR" b="1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)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모집단의 평균 또는 중간 값을 사용하는 모델</a:t>
            </a:r>
            <a:endParaRPr lang="en-US" altLang="ko-KR" b="1" dirty="0" smtClean="0">
              <a:solidFill>
                <a:prstClr val="black"/>
              </a:solidFill>
              <a:latin typeface="+mn-ea"/>
              <a:ea typeface="맑은 고딕" panose="020B0503020000020004" pitchFamily="50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2"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2"/>
              <a:tabLst/>
              <a:defRPr/>
            </a:pPr>
            <a:r>
              <a:rPr lang="en-US" altLang="ko-KR" b="1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(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분류</a:t>
            </a:r>
            <a:r>
              <a:rPr lang="en-US" altLang="ko-KR" b="1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)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다수결 분류자 모델</a:t>
            </a:r>
            <a:endParaRPr lang="en-US" altLang="ko-KR" b="1" dirty="0" smtClean="0">
              <a:solidFill>
                <a:prstClr val="black"/>
              </a:solidFill>
              <a:latin typeface="+mn-ea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다수결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분류자에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 따른 정확도와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새로운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분류자의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 정확도의 비교 가능</a:t>
            </a:r>
            <a:endParaRPr lang="en-US" altLang="ko-KR" dirty="0" smtClean="0">
              <a:solidFill>
                <a:prstClr val="black"/>
              </a:solidFill>
              <a:latin typeface="+mn-ea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비교 분석을 통해</a:t>
            </a:r>
            <a:r>
              <a:rPr kumimoji="0" lang="en-US" altLang="ko-KR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,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새로분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분류자의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 정확도를 올리는 방향을 선택할 수 있음</a:t>
            </a:r>
            <a:endParaRPr lang="en-US" altLang="ko-KR" dirty="0" smtClean="0">
              <a:solidFill>
                <a:prstClr val="black"/>
              </a:solidFill>
              <a:latin typeface="+mn-ea"/>
              <a:ea typeface="맑은 고딕" panose="020B0503020000020004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(</a:t>
            </a: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이 방법을 통해 의미 있는 결과를 도출할 수 있을 지 신중히 생각할 것</a:t>
            </a:r>
            <a:r>
              <a:rPr kumimoji="0" lang="en-US" altLang="ko-KR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dirty="0">
              <a:solidFill>
                <a:prstClr val="black"/>
              </a:solidFill>
              <a:latin typeface="+mn-ea"/>
              <a:ea typeface="맑은 고딕" panose="020B0503020000020004" pitchFamily="50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4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데이터 특징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(feature)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의 극히 일부</a:t>
            </a:r>
            <a:r>
              <a:rPr kumimoji="0" lang="ko-KR" altLang="en-US" sz="18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 만을 사용하여 만든 모델</a:t>
            </a:r>
            <a:endParaRPr kumimoji="0" lang="en-US" altLang="ko-KR" sz="1800" b="1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맑은 고딕" panose="020B050302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aseline="0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-   </a:t>
            </a:r>
            <a:r>
              <a:rPr lang="ko-KR" altLang="en-US" baseline="0" dirty="0" smtClean="0"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이 때 추출되는 특징은 예측 결과에 가장 큰 영향을 끼치는 것으로 선정함</a:t>
            </a:r>
            <a:endParaRPr kumimoji="0" lang="en-US" altLang="ko-KR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21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847654" y="2580588"/>
            <a:ext cx="5448693" cy="1696825"/>
          </a:xfrm>
          <a:prstGeom prst="rect">
            <a:avLst/>
          </a:prstGeom>
          <a:solidFill>
            <a:srgbClr val="263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031478" y="2828836"/>
            <a:ext cx="5081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Rix고딕 M" panose="02020603020101020101" pitchFamily="18" charset="-127"/>
                <a:cs typeface="Times New Roman" panose="02020603050405020304" pitchFamily="18" charset="0"/>
              </a:rPr>
              <a:t>Thank You! </a:t>
            </a:r>
            <a:endParaRPr lang="ko-KR" altLang="en-US" sz="7200" b="1" dirty="0">
              <a:solidFill>
                <a:schemeClr val="bg1"/>
              </a:solidFill>
              <a:latin typeface="Times New Roman" panose="02020603050405020304" pitchFamily="18" charset="0"/>
              <a:ea typeface="Rix고딕 M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2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4D288E97D6CE543A84399CAA4B69116" ma:contentTypeVersion="2" ma:contentTypeDescription="새 문서를 만듭니다." ma:contentTypeScope="" ma:versionID="8e7738261615630557d56f6af7576d26">
  <xsd:schema xmlns:xsd="http://www.w3.org/2001/XMLSchema" xmlns:xs="http://www.w3.org/2001/XMLSchema" xmlns:p="http://schemas.microsoft.com/office/2006/metadata/properties" xmlns:ns3="529a1fba-b9cc-4c23-9bb8-89a3da0160d3" targetNamespace="http://schemas.microsoft.com/office/2006/metadata/properties" ma:root="true" ma:fieldsID="e9afedbdcc524ead12aa2d442f7b284c" ns3:_="">
    <xsd:import namespace="529a1fba-b9cc-4c23-9bb8-89a3da0160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a1fba-b9cc-4c23-9bb8-89a3da0160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5F0C2B-1399-44A3-89A0-7EC1E0908269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529a1fba-b9cc-4c23-9bb8-89a3da0160d3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A6119BC-D869-47AC-B8A1-F814646E42F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29a1fba-b9cc-4c23-9bb8-89a3da0160d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91F5218-4666-47F2-9DD9-D89F8B196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6660</TotalTime>
  <Words>1316</Words>
  <Application>Microsoft Office PowerPoint</Application>
  <PresentationFormat>화면 슬라이드 쇼(4:3)</PresentationFormat>
  <Paragraphs>270</Paragraphs>
  <Slides>24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37" baseType="lpstr">
      <vt:lpstr>NanumGothic</vt:lpstr>
      <vt:lpstr>Rix고딕 M</vt:lpstr>
      <vt:lpstr>나눔고딕</vt:lpstr>
      <vt:lpstr>나눔스퀘어_ac ExtraBold</vt:lpstr>
      <vt:lpstr>맑은 고딕</vt:lpstr>
      <vt:lpstr>함초롬돋움</vt:lpstr>
      <vt:lpstr>Arial</vt:lpstr>
      <vt:lpstr>Calibri</vt:lpstr>
      <vt:lpstr>Calibri Light</vt:lpstr>
      <vt:lpstr>Cambria Math</vt:lpstr>
      <vt:lpstr>Times New Roman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YounSKing</dc:creator>
  <cp:keywords/>
  <dc:description/>
  <cp:lastModifiedBy>안 지호</cp:lastModifiedBy>
  <cp:revision>513</cp:revision>
  <cp:lastPrinted>2021-05-05T02:59:36Z</cp:lastPrinted>
  <dcterms:created xsi:type="dcterms:W3CDTF">2019-03-16T00:23:40Z</dcterms:created>
  <dcterms:modified xsi:type="dcterms:W3CDTF">2021-08-09T06:15:42Z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0x010100C4D288E97D6CE543A84399CAA4B69116</vt:lpwstr>
  </property>
</Properties>
</file>