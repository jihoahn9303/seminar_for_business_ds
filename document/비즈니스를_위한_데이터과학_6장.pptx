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2" r:id="rId5"/>
  </p:sldMasterIdLst>
  <p:notesMasterIdLst>
    <p:notesMasterId r:id="rId53"/>
  </p:notesMasterIdLst>
  <p:handoutMasterIdLst>
    <p:handoutMasterId r:id="rId54"/>
  </p:handoutMasterIdLst>
  <p:sldIdLst>
    <p:sldId id="394" r:id="rId6"/>
    <p:sldId id="343" r:id="rId7"/>
    <p:sldId id="347" r:id="rId8"/>
    <p:sldId id="462" r:id="rId9"/>
    <p:sldId id="463" r:id="rId10"/>
    <p:sldId id="457" r:id="rId11"/>
    <p:sldId id="448" r:id="rId12"/>
    <p:sldId id="450" r:id="rId13"/>
    <p:sldId id="451" r:id="rId14"/>
    <p:sldId id="452" r:id="rId15"/>
    <p:sldId id="496" r:id="rId16"/>
    <p:sldId id="453" r:id="rId17"/>
    <p:sldId id="488" r:id="rId18"/>
    <p:sldId id="461" r:id="rId19"/>
    <p:sldId id="458" r:id="rId20"/>
    <p:sldId id="487" r:id="rId21"/>
    <p:sldId id="455" r:id="rId22"/>
    <p:sldId id="459" r:id="rId23"/>
    <p:sldId id="460" r:id="rId24"/>
    <p:sldId id="465" r:id="rId25"/>
    <p:sldId id="467" r:id="rId26"/>
    <p:sldId id="469" r:id="rId27"/>
    <p:sldId id="470" r:id="rId28"/>
    <p:sldId id="471" r:id="rId29"/>
    <p:sldId id="472" r:id="rId30"/>
    <p:sldId id="473" r:id="rId31"/>
    <p:sldId id="474" r:id="rId32"/>
    <p:sldId id="475" r:id="rId33"/>
    <p:sldId id="477" r:id="rId34"/>
    <p:sldId id="476" r:id="rId35"/>
    <p:sldId id="478" r:id="rId36"/>
    <p:sldId id="479" r:id="rId37"/>
    <p:sldId id="480" r:id="rId38"/>
    <p:sldId id="481" r:id="rId39"/>
    <p:sldId id="482" r:id="rId40"/>
    <p:sldId id="489" r:id="rId41"/>
    <p:sldId id="490" r:id="rId42"/>
    <p:sldId id="491" r:id="rId43"/>
    <p:sldId id="495" r:id="rId44"/>
    <p:sldId id="494" r:id="rId45"/>
    <p:sldId id="492" r:id="rId46"/>
    <p:sldId id="493" r:id="rId47"/>
    <p:sldId id="483" r:id="rId48"/>
    <p:sldId id="484" r:id="rId49"/>
    <p:sldId id="485" r:id="rId50"/>
    <p:sldId id="260" r:id="rId51"/>
    <p:sldId id="486" r:id="rId5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F1915"/>
    <a:srgbClr val="CFD5EA"/>
    <a:srgbClr val="E9EBF5"/>
    <a:srgbClr val="E9ECF5"/>
    <a:srgbClr val="C9D0E3"/>
    <a:srgbClr val="E8EBF4"/>
    <a:srgbClr val="CBD2E5"/>
    <a:srgbClr val="26336B"/>
    <a:srgbClr val="2633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85"/>
    <p:restoredTop sz="93200"/>
  </p:normalViewPr>
  <p:slideViewPr>
    <p:cSldViewPr snapToGrid="0">
      <p:cViewPr varScale="1">
        <p:scale>
          <a:sx n="107" d="100"/>
          <a:sy n="107" d="100"/>
        </p:scale>
        <p:origin x="198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presProps" Target="presProp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notesMaster" Target="notesMasters/notesMaster1.xml"/><Relationship Id="rId58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viewProps" Target="viewProps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theme" Target="theme/theme1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0422B8-B0E6-404C-B8B1-05A56A924E5F}" type="datetimeFigureOut">
              <a:rPr lang="ko-KR" altLang="en-US" smtClean="0"/>
              <a:t>2021-07-23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6E0779-F41E-4D8C-AADC-C4DB3B418F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374628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347A43-7294-4111-BCAD-D4E341323D7A}" type="datetimeFigureOut">
              <a:rPr lang="ko-KR" altLang="en-US" smtClean="0"/>
              <a:t>2021-07-23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30F566-61BC-4F36-8206-6956368F35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883657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30F566-61BC-4F36-8206-6956368F35FD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77673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30F566-61BC-4F36-8206-6956368F35FD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96178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30F566-61BC-4F36-8206-6956368F35FD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53871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30F566-61BC-4F36-8206-6956368F35FD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65126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30F566-61BC-4F36-8206-6956368F35FD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61485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30F566-61BC-4F36-8206-6956368F35FD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86655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30F566-61BC-4F36-8206-6956368F35FD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6792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30F566-61BC-4F36-8206-6956368F35FD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70026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30F566-61BC-4F36-8206-6956368F35FD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79631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30F566-61BC-4F36-8206-6956368F35FD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29759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30F566-61BC-4F36-8206-6956368F35FD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09959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30F566-61BC-4F36-8206-6956368F35FD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52242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30F566-61BC-4F36-8206-6956368F35FD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19693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30F566-61BC-4F36-8206-6956368F35FD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16941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30F566-61BC-4F36-8206-6956368F35FD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51688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30F566-61BC-4F36-8206-6956368F35FD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51650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30F566-61BC-4F36-8206-6956368F35FD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017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30F566-61BC-4F36-8206-6956368F35FD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26934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30F566-61BC-4F36-8206-6956368F35FD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82582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30F566-61BC-4F36-8206-6956368F35FD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84430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30F566-61BC-4F36-8206-6956368F35FD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450398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30F566-61BC-4F36-8206-6956368F35FD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500876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30F566-61BC-4F36-8206-6956368F35FD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350078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30F566-61BC-4F36-8206-6956368F35FD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30279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30F566-61BC-4F36-8206-6956368F35FD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914853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30F566-61BC-4F36-8206-6956368F35FD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802554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30F566-61BC-4F36-8206-6956368F35FD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323332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30F566-61BC-4F36-8206-6956368F35F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081189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30F566-61BC-4F36-8206-6956368F35F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977613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30F566-61BC-4F36-8206-6956368F35F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554033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30F566-61BC-4F36-8206-6956368F35F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855867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30F566-61BC-4F36-8206-6956368F35F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42922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30F566-61BC-4F36-8206-6956368F35F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978519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30F566-61BC-4F36-8206-6956368F35F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474247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30F566-61BC-4F36-8206-6956368F35F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427400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30F566-61BC-4F36-8206-6956368F35F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300334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30F566-61BC-4F36-8206-6956368F35F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9127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30F566-61BC-4F36-8206-6956368F35F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046784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30F566-61BC-4F36-8206-6956368F35F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661719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30F566-61BC-4F36-8206-6956368F35F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579216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30F566-61BC-4F36-8206-6956368F35F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7398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30F566-61BC-4F36-8206-6956368F35F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826391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30F566-61BC-4F36-8206-6956368F35F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348171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30F566-61BC-4F36-8206-6956368F35F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62003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30F566-61BC-4F36-8206-6956368F35F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21500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25E75-51B1-4229-A3AF-C83467F3C4A8}" type="datetime1">
              <a:rPr lang="ko-KR" altLang="en-US" smtClean="0"/>
              <a:t>2021-07-23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7BF0C-D2E0-4551-BD65-6813E4059F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449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9B61A-E40B-40AF-A3F6-CB0C27976B13}" type="datetime1">
              <a:rPr lang="ko-KR" altLang="en-US" smtClean="0"/>
              <a:t>2021-07-23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7BF0C-D2E0-4551-BD65-6813E4059F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1775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2F9DE-7DC2-4238-A739-14761A548EC1}" type="datetime1">
              <a:rPr lang="ko-KR" altLang="en-US" smtClean="0"/>
              <a:t>2021-07-23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7BF0C-D2E0-4551-BD65-6813E4059F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8901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9EBF8-CF7A-4E5C-BC97-B50FF4462A72}" type="datetime1">
              <a:rPr lang="ko-KR" altLang="en-US" smtClean="0"/>
              <a:t>2021-07-23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7BF0C-D2E0-4551-BD65-6813E4059F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3352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DC070-9049-4B22-A834-D6C7CAA07A61}" type="datetime1">
              <a:rPr lang="ko-KR" altLang="en-US" smtClean="0"/>
              <a:t>2021-07-23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7BF0C-D2E0-4551-BD65-6813E4059F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65553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3DE11-7090-48D5-AE3F-C334CC1C584F}" type="datetime1">
              <a:rPr lang="ko-KR" altLang="en-US" smtClean="0"/>
              <a:t>2021-07-23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7BF0C-D2E0-4551-BD65-6813E4059F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6106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6320B-1FDE-466A-B263-54FE685C92C5}" type="datetime1">
              <a:rPr lang="ko-KR" altLang="en-US" smtClean="0"/>
              <a:t>2021-07-23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7BF0C-D2E0-4551-BD65-6813E4059F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9856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B2D89-45EB-4486-8E0E-5C35A0FEBEB9}" type="datetime1">
              <a:rPr lang="ko-KR" altLang="en-US" smtClean="0"/>
              <a:t>2021-07-23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7BF0C-D2E0-4551-BD65-6813E4059F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3900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C1FAF-84C3-4C2D-A1BB-FF5DA09D6950}" type="datetime1">
              <a:rPr lang="ko-KR" altLang="en-US" smtClean="0"/>
              <a:t>2021-07-23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7BF0C-D2E0-4551-BD65-6813E4059F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7596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AABA6-2971-4656-B940-1869CA468FE7}" type="datetime1">
              <a:rPr lang="ko-KR" altLang="en-US" smtClean="0"/>
              <a:t>2021-07-23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7BF0C-D2E0-4551-BD65-6813E4059F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4660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03CDC-A429-4E4E-A8A5-7F879BB621C5}" type="datetime1">
              <a:rPr lang="ko-KR" altLang="en-US" smtClean="0"/>
              <a:t>2021-07-23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7BF0C-D2E0-4551-BD65-6813E4059F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31737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3CB1D-823D-49C8-9656-6C15E4505FE2}" type="datetime1">
              <a:rPr kumimoji="1" lang="ko-KR" altLang="en-US" smtClean="0"/>
              <a:t>2021-07-23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C67BC-BBE7-474F-A784-DA0313A56A0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446150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3DA8E-9C0A-415A-80C3-B647C1BEEEBA}" type="datetime1">
              <a:rPr kumimoji="1" lang="ko-KR" altLang="en-US" smtClean="0"/>
              <a:t>2021-07-23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C67BC-BBE7-474F-A784-DA0313A56A0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863995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8800-43AD-4E2E-B20F-14CD71341A15}" type="datetime1">
              <a:rPr kumimoji="1" lang="ko-KR" altLang="en-US" smtClean="0"/>
              <a:t>2021-07-23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C67BC-BBE7-474F-A784-DA0313A56A0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916982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3136E-B5A7-4CAC-B7AC-3D8D6479D899}" type="datetime1">
              <a:rPr kumimoji="1" lang="ko-KR" altLang="en-US" smtClean="0"/>
              <a:t>2021-07-23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C67BC-BBE7-474F-A784-DA0313A56A0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5868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29A8C-5D9F-44D7-AAB1-11BD4BA00046}" type="datetime1">
              <a:rPr kumimoji="1" lang="ko-KR" altLang="en-US" smtClean="0"/>
              <a:t>2021-07-23</a:t>
            </a:fld>
            <a:endParaRPr kumimoji="1"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C67BC-BBE7-474F-A784-DA0313A56A0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278007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6E51F-43B5-47AF-BACF-EADEB99780E4}" type="datetime1">
              <a:rPr kumimoji="1" lang="ko-KR" altLang="en-US" smtClean="0"/>
              <a:t>2021-07-23</a:t>
            </a:fld>
            <a:endParaRPr kumimoji="1"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C67BC-BBE7-474F-A784-DA0313A56A0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3735091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F33AF-DD51-4BDD-83E0-D1A05355731C}" type="datetime1">
              <a:rPr kumimoji="1" lang="ko-KR" altLang="en-US" smtClean="0"/>
              <a:t>2021-07-23</a:t>
            </a:fld>
            <a:endParaRPr kumimoji="1"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C67BC-BBE7-474F-A784-DA0313A56A0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752504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54884-675B-4918-BA18-3DAC28FE7773}" type="datetime1">
              <a:rPr kumimoji="1" lang="ko-KR" altLang="en-US" smtClean="0"/>
              <a:t>2021-07-23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C67BC-BBE7-474F-A784-DA0313A56A0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699103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34130-D781-4331-B3C1-6C1774842A60}" type="datetime1">
              <a:rPr kumimoji="1" lang="ko-KR" altLang="en-US" smtClean="0"/>
              <a:t>2021-07-23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C67BC-BBE7-474F-A784-DA0313A56A0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844903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E8AEB-B703-47EA-9FE6-2B297642CEBD}" type="datetime1">
              <a:rPr kumimoji="1" lang="ko-KR" altLang="en-US" smtClean="0"/>
              <a:t>2021-07-23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C67BC-BBE7-474F-A784-DA0313A56A0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976665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78915-DD84-461C-912A-ECF1AC53396E}" type="datetime1">
              <a:rPr kumimoji="1" lang="ko-KR" altLang="en-US" smtClean="0"/>
              <a:t>2021-07-23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C67BC-BBE7-474F-A784-DA0313A56A0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03795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579B59-8AAE-499C-90F4-4AC38CB4FB6D}" type="datetime1">
              <a:rPr lang="ko-KR" altLang="en-US" smtClean="0"/>
              <a:t>2021-07-23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47BF0C-D2E0-4551-BD65-6813E4059F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6458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2C8D1-BF39-4DA2-AFEA-B01C4940DF5B}" type="datetime1">
              <a:rPr kumimoji="1" lang="ko-KR" altLang="en-US" smtClean="0"/>
              <a:t>2021-07-23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8C67BC-BBE7-474F-A784-DA0313A56A0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44771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0.png"/><Relationship Id="rId5" Type="http://schemas.openxmlformats.org/officeDocument/2006/relationships/image" Target="../media/image47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gi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JPG"/><Relationship Id="rId4" Type="http://schemas.openxmlformats.org/officeDocument/2006/relationships/image" Target="../media/image15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gi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0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2.JPG"/><Relationship Id="rId4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4.JPG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7.JPG"/><Relationship Id="rId4" Type="http://schemas.openxmlformats.org/officeDocument/2006/relationships/image" Target="../media/image26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gi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9.png"/><Relationship Id="rId4" Type="http://schemas.openxmlformats.org/officeDocument/2006/relationships/image" Target="../media/image28.JP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JPG"/><Relationship Id="rId5" Type="http://schemas.openxmlformats.org/officeDocument/2006/relationships/image" Target="../media/image31.png"/><Relationship Id="rId4" Type="http://schemas.openxmlformats.org/officeDocument/2006/relationships/image" Target="../media/image29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1.JPG"/><Relationship Id="rId5" Type="http://schemas.openxmlformats.org/officeDocument/2006/relationships/image" Target="../media/image30.JPG"/><Relationship Id="rId4" Type="http://schemas.openxmlformats.org/officeDocument/2006/relationships/image" Target="../media/image3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2.JPG"/><Relationship Id="rId4" Type="http://schemas.openxmlformats.org/officeDocument/2006/relationships/image" Target="../media/image3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7.JPG"/><Relationship Id="rId4" Type="http://schemas.openxmlformats.org/officeDocument/2006/relationships/image" Target="../media/image33.JP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4.JP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5.JP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0.png"/><Relationship Id="rId5" Type="http://schemas.openxmlformats.org/officeDocument/2006/relationships/image" Target="../media/image39.JPG"/><Relationship Id="rId4" Type="http://schemas.openxmlformats.org/officeDocument/2006/relationships/image" Target="../media/image35.JP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1.JPG"/><Relationship Id="rId4" Type="http://schemas.openxmlformats.org/officeDocument/2006/relationships/image" Target="../media/image40.JP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2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ihoahn9303/Seminar_For_Business_DS/tree/main/code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000" y="6249145"/>
            <a:ext cx="1753384" cy="425485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0" y="0"/>
            <a:ext cx="395926" cy="6858000"/>
          </a:xfrm>
          <a:prstGeom prst="rect">
            <a:avLst/>
          </a:prstGeom>
          <a:solidFill>
            <a:srgbClr val="2633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773000" y="6142166"/>
            <a:ext cx="7805393" cy="0"/>
          </a:xfrm>
          <a:prstGeom prst="line">
            <a:avLst/>
          </a:prstGeom>
          <a:ln>
            <a:solidFill>
              <a:srgbClr val="2633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97288" y="2400773"/>
            <a:ext cx="5830442" cy="1077218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latinLnBrk="1"/>
            <a:r>
              <a:rPr lang="ko-KR" altLang="en-US" sz="3200" b="1" dirty="0" smtClean="0">
                <a:solidFill>
                  <a:srgbClr val="26336A"/>
                </a:solidFill>
                <a:latin typeface="NanumGothic" panose="020D0604000000000000" pitchFamily="34" charset="-127"/>
                <a:ea typeface="NanumGothic"/>
              </a:rPr>
              <a:t>비즈니스를 위한 데이터 과학</a:t>
            </a:r>
            <a:r>
              <a:rPr lang="en-US" altLang="ko-KR" sz="3200" b="1" dirty="0">
                <a:solidFill>
                  <a:srgbClr val="26336A"/>
                </a:solidFill>
                <a:latin typeface="NanumGothic" panose="020D0604000000000000" pitchFamily="34" charset="-127"/>
                <a:ea typeface="NanumGothic"/>
              </a:rPr>
              <a:t/>
            </a:r>
            <a:br>
              <a:rPr lang="en-US" altLang="ko-KR" sz="3200" b="1" dirty="0">
                <a:solidFill>
                  <a:srgbClr val="26336A"/>
                </a:solidFill>
                <a:latin typeface="NanumGothic" panose="020D0604000000000000" pitchFamily="34" charset="-127"/>
                <a:ea typeface="NanumGothic"/>
              </a:rPr>
            </a:br>
            <a:r>
              <a:rPr lang="en-US" altLang="ko-KR" sz="3200" b="1" dirty="0" smtClean="0">
                <a:solidFill>
                  <a:srgbClr val="26336A"/>
                </a:solidFill>
                <a:latin typeface="NanumGothic" panose="020D0604000000000000" pitchFamily="34" charset="-127"/>
                <a:ea typeface="NanumGothic"/>
              </a:rPr>
              <a:t>Chapter6. </a:t>
            </a:r>
            <a:r>
              <a:rPr lang="ko-KR" altLang="en-US" sz="3200" b="1" dirty="0" smtClean="0">
                <a:solidFill>
                  <a:srgbClr val="26336A"/>
                </a:solidFill>
                <a:latin typeface="NanumGothic" panose="020D0604000000000000" pitchFamily="34" charset="-127"/>
                <a:ea typeface="NanumGothic"/>
              </a:rPr>
              <a:t>유사도</a:t>
            </a:r>
            <a:r>
              <a:rPr lang="en-US" altLang="ko-KR" sz="3200" b="1" dirty="0" smtClean="0">
                <a:solidFill>
                  <a:srgbClr val="26336A"/>
                </a:solidFill>
                <a:latin typeface="NanumGothic" panose="020D0604000000000000" pitchFamily="34" charset="-127"/>
                <a:ea typeface="NanumGothic"/>
              </a:rPr>
              <a:t>, </a:t>
            </a:r>
            <a:r>
              <a:rPr lang="ko-KR" altLang="en-US" sz="3200" b="1" dirty="0" smtClean="0">
                <a:solidFill>
                  <a:srgbClr val="26336A"/>
                </a:solidFill>
                <a:latin typeface="NanumGothic" panose="020D0604000000000000" pitchFamily="34" charset="-127"/>
                <a:ea typeface="NanumGothic"/>
              </a:rPr>
              <a:t>이웃</a:t>
            </a:r>
            <a:r>
              <a:rPr lang="en-US" altLang="ko-KR" sz="3200" b="1" dirty="0" smtClean="0">
                <a:solidFill>
                  <a:srgbClr val="26336A"/>
                </a:solidFill>
                <a:latin typeface="NanumGothic" panose="020D0604000000000000" pitchFamily="34" charset="-127"/>
                <a:ea typeface="NanumGothic"/>
              </a:rPr>
              <a:t>, </a:t>
            </a:r>
            <a:r>
              <a:rPr lang="ko-KR" altLang="en-US" sz="3200" b="1" dirty="0" smtClean="0">
                <a:solidFill>
                  <a:srgbClr val="26336A"/>
                </a:solidFill>
                <a:latin typeface="NanumGothic" panose="020D0604000000000000" pitchFamily="34" charset="-127"/>
                <a:ea typeface="NanumGothic"/>
              </a:rPr>
              <a:t>군집</a:t>
            </a:r>
            <a:endParaRPr lang="en-US" altLang="ko-KR" sz="3200" b="1" dirty="0">
              <a:solidFill>
                <a:srgbClr val="26336A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052988" y="6249145"/>
            <a:ext cx="13281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01E1F048-75BD-4F29-ABFA-4CE08125E36A}" type="datetime4">
              <a:rPr lang="en-US" altLang="ko-KR" sz="14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/>
              <a:t>July 23, 2021</a:t>
            </a:fld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8804C2F-9394-4F74-ACD1-9C3670EF49A5}"/>
              </a:ext>
            </a:extLst>
          </p:cNvPr>
          <p:cNvGrpSpPr/>
          <p:nvPr/>
        </p:nvGrpSpPr>
        <p:grpSpPr>
          <a:xfrm>
            <a:off x="897288" y="3584969"/>
            <a:ext cx="2320187" cy="461665"/>
            <a:chOff x="825899" y="3074493"/>
            <a:chExt cx="2320187" cy="461665"/>
          </a:xfrm>
        </p:grpSpPr>
        <p:sp>
          <p:nvSpPr>
            <p:cNvPr id="11" name="TextBox 10"/>
            <p:cNvSpPr txBox="1"/>
            <p:nvPr/>
          </p:nvSpPr>
          <p:spPr>
            <a:xfrm>
              <a:off x="825899" y="3074493"/>
              <a:ext cx="80021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latinLnBrk="1">
                <a:lnSpc>
                  <a:spcPct val="150000"/>
                </a:lnSpc>
              </a:pPr>
              <a:r>
                <a:rPr lang="ko-KR" altLang="en-US" sz="1600" dirty="0" err="1" smtClean="0">
                  <a:solidFill>
                    <a:srgbClr val="26336A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안지호</a:t>
              </a:r>
              <a:endParaRPr lang="en-US" altLang="ko-KR" sz="1600" dirty="0">
                <a:solidFill>
                  <a:srgbClr val="26336A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591FA4A-0608-5840-A9FD-19EC81923952}"/>
                </a:ext>
              </a:extLst>
            </p:cNvPr>
            <p:cNvSpPr txBox="1"/>
            <p:nvPr/>
          </p:nvSpPr>
          <p:spPr>
            <a:xfrm>
              <a:off x="1606882" y="3074493"/>
              <a:ext cx="1539204" cy="418576"/>
            </a:xfrm>
            <a:prstGeom prst="rect">
              <a:avLst/>
            </a:prstGeom>
            <a:noFill/>
          </p:spPr>
          <p:txBody>
            <a:bodyPr wrap="none" lIns="91440" tIns="45720" rIns="91440" bIns="45720" rtlCol="0" anchor="t">
              <a:spAutoFit/>
            </a:bodyPr>
            <a:lstStyle/>
            <a:p>
              <a:pPr latinLnBrk="1">
                <a:lnSpc>
                  <a:spcPct val="150000"/>
                </a:lnSpc>
              </a:pPr>
              <a:r>
                <a:rPr lang="ko-KR" altLang="en-US" sz="1000" dirty="0">
                  <a:solidFill>
                    <a:srgbClr val="26336A"/>
                  </a:solidFill>
                  <a:latin typeface="나눔고딕" panose="020D0604000000000000" pitchFamily="50" charset="-127"/>
                  <a:ea typeface="나눔고딕"/>
                </a:rPr>
                <a:t>빅데이터응용학과 </a:t>
              </a:r>
              <a:r>
                <a:rPr lang="en-US" altLang="ko-KR" sz="1000" dirty="0">
                  <a:solidFill>
                    <a:srgbClr val="26336A"/>
                  </a:solidFill>
                  <a:latin typeface="나눔고딕" panose="020D0604000000000000" pitchFamily="50" charset="-127"/>
                  <a:ea typeface="나눔고딕"/>
                </a:rPr>
                <a:t>1</a:t>
              </a:r>
              <a:r>
                <a:rPr lang="ko-KR" altLang="en-US" sz="1000" dirty="0">
                  <a:solidFill>
                    <a:srgbClr val="26336A"/>
                  </a:solidFill>
                  <a:latin typeface="나눔고딕" panose="020D0604000000000000" pitchFamily="50" charset="-127"/>
                  <a:ea typeface="나눔고딕"/>
                </a:rPr>
                <a:t>기</a:t>
              </a:r>
              <a:r>
                <a:rPr lang="en-US" altLang="ko-KR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/>
                </a:rPr>
                <a:t> </a:t>
              </a:r>
              <a:r>
                <a:rPr lang="en-US" altLang="ko-KR" sz="16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/>
                </a:rPr>
                <a:t>d</a:t>
              </a:r>
              <a:endParaRPr lang="en-US" altLang="ko-KR" sz="1400" dirty="0">
                <a:solidFill>
                  <a:schemeClr val="bg1"/>
                </a:solidFill>
                <a:latin typeface="나눔고딕" panose="020D0604000000000000" pitchFamily="50" charset="-127"/>
                <a:ea typeface="나눔고딕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6CD24E5A-6EF2-4301-BBDA-C418695D3FF3}"/>
              </a:ext>
            </a:extLst>
          </p:cNvPr>
          <p:cNvSpPr txBox="1"/>
          <p:nvPr/>
        </p:nvSpPr>
        <p:spPr>
          <a:xfrm>
            <a:off x="3560345" y="6538913"/>
            <a:ext cx="30171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2021-1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학기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비즈니스 데이터 사이언스</a:t>
            </a:r>
            <a:r>
              <a:rPr lang="en-US" altLang="ko-KR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세미나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51605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8FBE4F4-242F-664B-A887-5C83C1D439F5}"/>
              </a:ext>
            </a:extLst>
          </p:cNvPr>
          <p:cNvSpPr txBox="1"/>
          <p:nvPr/>
        </p:nvSpPr>
        <p:spPr>
          <a:xfrm>
            <a:off x="758952" y="548640"/>
            <a:ext cx="10534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36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</a:rPr>
              <a:t>목차</a:t>
            </a: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4B9C1BE6-2DEE-4776-B89E-8FDBA5BCE7E7}"/>
              </a:ext>
            </a:extLst>
          </p:cNvPr>
          <p:cNvGrpSpPr/>
          <p:nvPr/>
        </p:nvGrpSpPr>
        <p:grpSpPr>
          <a:xfrm>
            <a:off x="585729" y="1869323"/>
            <a:ext cx="7915147" cy="2964832"/>
            <a:chOff x="546730" y="1653037"/>
            <a:chExt cx="7915147" cy="2964832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4F7D19F8-D53B-41B9-B8CB-6372291AB798}"/>
                </a:ext>
              </a:extLst>
            </p:cNvPr>
            <p:cNvGrpSpPr/>
            <p:nvPr/>
          </p:nvGrpSpPr>
          <p:grpSpPr>
            <a:xfrm>
              <a:off x="546730" y="1653037"/>
              <a:ext cx="904377" cy="585205"/>
              <a:chOff x="323851" y="2108491"/>
              <a:chExt cx="832440" cy="820569"/>
            </a:xfrm>
            <a:solidFill>
              <a:srgbClr val="9C1B1E"/>
            </a:solidFill>
          </p:grpSpPr>
          <p:sp>
            <p:nvSpPr>
              <p:cNvPr id="7" name="화살표: 오각형 6">
                <a:extLst>
                  <a:ext uri="{FF2B5EF4-FFF2-40B4-BE49-F238E27FC236}">
                    <a16:creationId xmlns:a16="http://schemas.microsoft.com/office/drawing/2014/main" id="{6245AE98-8008-4D6B-8CC3-76F4D7BB37CD}"/>
                  </a:ext>
                </a:extLst>
              </p:cNvPr>
              <p:cNvSpPr/>
              <p:nvPr/>
            </p:nvSpPr>
            <p:spPr>
              <a:xfrm>
                <a:off x="323851" y="2108491"/>
                <a:ext cx="832440" cy="820569"/>
              </a:xfrm>
              <a:prstGeom prst="homePlate">
                <a:avLst>
                  <a:gd name="adj" fmla="val 33100"/>
                </a:avLst>
              </a:prstGeom>
              <a:grp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ctr" latinLnBrk="0"/>
                <a:endParaRPr lang="en-US" sz="1400" spc="-6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69FA5B4-028D-41E7-AB80-5B59046D621E}"/>
                  </a:ext>
                </a:extLst>
              </p:cNvPr>
              <p:cNvSpPr txBox="1"/>
              <p:nvPr/>
            </p:nvSpPr>
            <p:spPr>
              <a:xfrm>
                <a:off x="363115" y="2182954"/>
                <a:ext cx="542228" cy="647342"/>
              </a:xfrm>
              <a:prstGeom prst="rect">
                <a:avLst/>
              </a:prstGeom>
              <a:grpFill/>
            </p:spPr>
            <p:txBody>
              <a:bodyPr vert="horz" wrap="square" rtlCol="0">
                <a:spAutoFit/>
              </a:bodyPr>
              <a:lstStyle/>
              <a:p>
                <a:pPr algn="ctr"/>
                <a:r>
                  <a:rPr lang="en-US" altLang="ko-KR" sz="2400" b="1" spc="-70" dirty="0">
                    <a:solidFill>
                      <a:schemeClr val="bg1"/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  <a:cs typeface="함초롬돋움" panose="02030504000101010101" pitchFamily="18" charset="-127"/>
                  </a:rPr>
                  <a:t>01</a:t>
                </a:r>
                <a:endParaRPr lang="ko-KR" altLang="en-US" sz="2400" b="1" spc="-70" dirty="0">
                  <a:solidFill>
                    <a:schemeClr val="bg1"/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함초롬돋움" panose="02030504000101010101" pitchFamily="18" charset="-127"/>
                </a:endParaRPr>
              </a:p>
            </p:txBody>
          </p:sp>
        </p:grp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974D5ECA-1B9F-40A1-BA6F-779A3E7ED4F5}"/>
                </a:ext>
              </a:extLst>
            </p:cNvPr>
            <p:cNvGrpSpPr/>
            <p:nvPr/>
          </p:nvGrpSpPr>
          <p:grpSpPr>
            <a:xfrm>
              <a:off x="549519" y="2446247"/>
              <a:ext cx="902756" cy="585205"/>
              <a:chOff x="326422" y="2985202"/>
              <a:chExt cx="832440" cy="820569"/>
            </a:xfrm>
            <a:solidFill>
              <a:srgbClr val="233A71"/>
            </a:solidFill>
          </p:grpSpPr>
          <p:sp>
            <p:nvSpPr>
              <p:cNvPr id="10" name="화살표: 오각형 9">
                <a:extLst>
                  <a:ext uri="{FF2B5EF4-FFF2-40B4-BE49-F238E27FC236}">
                    <a16:creationId xmlns:a16="http://schemas.microsoft.com/office/drawing/2014/main" id="{1C1C826F-55EB-44CA-AF2B-1CCA6A07859D}"/>
                  </a:ext>
                </a:extLst>
              </p:cNvPr>
              <p:cNvSpPr/>
              <p:nvPr/>
            </p:nvSpPr>
            <p:spPr>
              <a:xfrm>
                <a:off x="326422" y="2985202"/>
                <a:ext cx="832440" cy="820569"/>
              </a:xfrm>
              <a:prstGeom prst="homePlate">
                <a:avLst>
                  <a:gd name="adj" fmla="val 33100"/>
                </a:avLst>
              </a:prstGeom>
              <a:grp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ctr" latinLnBrk="0"/>
                <a:endParaRPr lang="en-US" sz="1400" spc="-6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CD70456-22E0-4D6E-8532-ABDCB1E26108}"/>
                  </a:ext>
                </a:extLst>
              </p:cNvPr>
              <p:cNvSpPr txBox="1"/>
              <p:nvPr/>
            </p:nvSpPr>
            <p:spPr>
              <a:xfrm>
                <a:off x="336756" y="3059664"/>
                <a:ext cx="569631" cy="647342"/>
              </a:xfrm>
              <a:prstGeom prst="rect">
                <a:avLst/>
              </a:prstGeom>
              <a:grpFill/>
            </p:spPr>
            <p:txBody>
              <a:bodyPr vert="horz" wrap="square" rtlCol="0">
                <a:spAutoFit/>
              </a:bodyPr>
              <a:lstStyle/>
              <a:p>
                <a:pPr algn="ctr"/>
                <a:r>
                  <a:rPr lang="en-US" altLang="ko-KR" sz="2400" b="1" spc="-70" dirty="0">
                    <a:solidFill>
                      <a:schemeClr val="bg1"/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  <a:cs typeface="함초롬돋움" panose="02030504000101010101" pitchFamily="18" charset="-127"/>
                  </a:rPr>
                  <a:t>02</a:t>
                </a:r>
                <a:endParaRPr lang="ko-KR" altLang="en-US" sz="2400" b="1" spc="-70" dirty="0">
                  <a:solidFill>
                    <a:schemeClr val="bg1"/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함초롬돋움" panose="02030504000101010101" pitchFamily="18" charset="-127"/>
                </a:endParaRPr>
              </a:p>
            </p:txBody>
          </p:sp>
        </p:grp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149EAFFC-0B88-4B23-990A-0064E87C31EA}"/>
                </a:ext>
              </a:extLst>
            </p:cNvPr>
            <p:cNvGrpSpPr/>
            <p:nvPr/>
          </p:nvGrpSpPr>
          <p:grpSpPr>
            <a:xfrm>
              <a:off x="546730" y="3239452"/>
              <a:ext cx="904377" cy="585205"/>
              <a:chOff x="341049" y="3861910"/>
              <a:chExt cx="832440" cy="820570"/>
            </a:xfrm>
            <a:solidFill>
              <a:srgbClr val="9C1B1E"/>
            </a:solidFill>
          </p:grpSpPr>
          <p:sp>
            <p:nvSpPr>
              <p:cNvPr id="14" name="화살표: 오각형 13">
                <a:extLst>
                  <a:ext uri="{FF2B5EF4-FFF2-40B4-BE49-F238E27FC236}">
                    <a16:creationId xmlns:a16="http://schemas.microsoft.com/office/drawing/2014/main" id="{C4508EA4-2D64-4F01-A269-F31FCD4BAB70}"/>
                  </a:ext>
                </a:extLst>
              </p:cNvPr>
              <p:cNvSpPr/>
              <p:nvPr/>
            </p:nvSpPr>
            <p:spPr>
              <a:xfrm>
                <a:off x="341049" y="3861910"/>
                <a:ext cx="832440" cy="820570"/>
              </a:xfrm>
              <a:prstGeom prst="homePlate">
                <a:avLst>
                  <a:gd name="adj" fmla="val 33100"/>
                </a:avLst>
              </a:prstGeom>
              <a:grp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ctr" latinLnBrk="0"/>
                <a:endParaRPr lang="en-US" sz="1400" spc="-6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B63900E-79E4-4E6E-8A14-F5CA6D511213}"/>
                  </a:ext>
                </a:extLst>
              </p:cNvPr>
              <p:cNvSpPr txBox="1"/>
              <p:nvPr/>
            </p:nvSpPr>
            <p:spPr>
              <a:xfrm>
                <a:off x="359771" y="3936376"/>
                <a:ext cx="591761" cy="647343"/>
              </a:xfrm>
              <a:prstGeom prst="rect">
                <a:avLst/>
              </a:prstGeom>
              <a:grpFill/>
            </p:spPr>
            <p:txBody>
              <a:bodyPr vert="horz" wrap="square" rtlCol="0">
                <a:spAutoFit/>
              </a:bodyPr>
              <a:lstStyle/>
              <a:p>
                <a:pPr algn="ctr"/>
                <a:r>
                  <a:rPr lang="en-US" altLang="ko-KR" sz="2400" b="1" spc="-70" dirty="0">
                    <a:solidFill>
                      <a:schemeClr val="bg1"/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  <a:cs typeface="함초롬돋움" panose="02030504000101010101" pitchFamily="18" charset="-127"/>
                  </a:rPr>
                  <a:t>03</a:t>
                </a:r>
                <a:endParaRPr lang="ko-KR" altLang="en-US" sz="2400" b="1" spc="-70" dirty="0">
                  <a:solidFill>
                    <a:schemeClr val="bg1"/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함초롬돋움" panose="02030504000101010101" pitchFamily="18" charset="-127"/>
                </a:endParaRPr>
              </a:p>
            </p:txBody>
          </p:sp>
        </p:grp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F7E7ED69-4936-422F-A68F-CB97DA52D4B9}"/>
                </a:ext>
              </a:extLst>
            </p:cNvPr>
            <p:cNvGrpSpPr/>
            <p:nvPr/>
          </p:nvGrpSpPr>
          <p:grpSpPr>
            <a:xfrm>
              <a:off x="546730" y="4032664"/>
              <a:ext cx="904377" cy="585205"/>
              <a:chOff x="343620" y="4738617"/>
              <a:chExt cx="832440" cy="820569"/>
            </a:xfrm>
            <a:solidFill>
              <a:srgbClr val="233A71"/>
            </a:solidFill>
          </p:grpSpPr>
          <p:sp>
            <p:nvSpPr>
              <p:cNvPr id="17" name="화살표: 오각형 16">
                <a:extLst>
                  <a:ext uri="{FF2B5EF4-FFF2-40B4-BE49-F238E27FC236}">
                    <a16:creationId xmlns:a16="http://schemas.microsoft.com/office/drawing/2014/main" id="{3C3ED720-528D-4B24-92B8-413A589FAABA}"/>
                  </a:ext>
                </a:extLst>
              </p:cNvPr>
              <p:cNvSpPr/>
              <p:nvPr/>
            </p:nvSpPr>
            <p:spPr>
              <a:xfrm>
                <a:off x="343620" y="4738617"/>
                <a:ext cx="832440" cy="820569"/>
              </a:xfrm>
              <a:prstGeom prst="homePlate">
                <a:avLst>
                  <a:gd name="adj" fmla="val 33100"/>
                </a:avLst>
              </a:prstGeom>
              <a:grp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ctr" latinLnBrk="0"/>
                <a:endParaRPr lang="en-US" sz="1400" spc="-6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4D48A06-A561-4575-BAC6-C6D943FD294C}"/>
                  </a:ext>
                </a:extLst>
              </p:cNvPr>
              <p:cNvSpPr txBox="1"/>
              <p:nvPr/>
            </p:nvSpPr>
            <p:spPr>
              <a:xfrm>
                <a:off x="368509" y="4805761"/>
                <a:ext cx="594331" cy="647342"/>
              </a:xfrm>
              <a:prstGeom prst="rect">
                <a:avLst/>
              </a:prstGeom>
              <a:grpFill/>
            </p:spPr>
            <p:txBody>
              <a:bodyPr vert="horz" wrap="square" rtlCol="0">
                <a:spAutoFit/>
              </a:bodyPr>
              <a:lstStyle/>
              <a:p>
                <a:pPr algn="ctr"/>
                <a:r>
                  <a:rPr lang="en-US" altLang="ko-KR" sz="2400" b="1" spc="-70" dirty="0">
                    <a:solidFill>
                      <a:schemeClr val="bg1"/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  <a:cs typeface="함초롬돋움" panose="02030504000101010101" pitchFamily="18" charset="-127"/>
                  </a:rPr>
                  <a:t>04</a:t>
                </a:r>
                <a:endParaRPr lang="ko-KR" altLang="en-US" sz="2400" b="1" spc="-70" dirty="0">
                  <a:solidFill>
                    <a:schemeClr val="bg1"/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함초롬돋움" panose="02030504000101010101" pitchFamily="18" charset="-127"/>
                </a:endParaRPr>
              </a:p>
            </p:txBody>
          </p:sp>
        </p:grp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91D16B07-535B-43E3-B55E-8DC41E8BB2D6}"/>
                </a:ext>
              </a:extLst>
            </p:cNvPr>
            <p:cNvCxnSpPr/>
            <p:nvPr/>
          </p:nvCxnSpPr>
          <p:spPr>
            <a:xfrm>
              <a:off x="1508323" y="2238242"/>
              <a:ext cx="6953553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11FE002D-B088-4108-BA74-459A3D1CCA68}"/>
                </a:ext>
              </a:extLst>
            </p:cNvPr>
            <p:cNvCxnSpPr/>
            <p:nvPr/>
          </p:nvCxnSpPr>
          <p:spPr>
            <a:xfrm>
              <a:off x="1508322" y="3042647"/>
              <a:ext cx="6953553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9BA6D126-D0B7-48A0-8AFC-2CDD179FE15C}"/>
                </a:ext>
              </a:extLst>
            </p:cNvPr>
            <p:cNvCxnSpPr/>
            <p:nvPr/>
          </p:nvCxnSpPr>
          <p:spPr>
            <a:xfrm>
              <a:off x="1508324" y="3817599"/>
              <a:ext cx="6953553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9436EAE4-2178-4788-81F8-F1DB5971FDBF}"/>
                </a:ext>
              </a:extLst>
            </p:cNvPr>
            <p:cNvCxnSpPr/>
            <p:nvPr/>
          </p:nvCxnSpPr>
          <p:spPr>
            <a:xfrm>
              <a:off x="1508324" y="4600551"/>
              <a:ext cx="6953553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972DE6B-C276-4CBA-97C2-4252E35E126E}"/>
                </a:ext>
              </a:extLst>
            </p:cNvPr>
            <p:cNvSpPr txBox="1"/>
            <p:nvPr/>
          </p:nvSpPr>
          <p:spPr>
            <a:xfrm>
              <a:off x="1292730" y="2377197"/>
              <a:ext cx="6994584" cy="738664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marL="180000" latinLnBrk="1">
                <a:lnSpc>
                  <a:spcPct val="150000"/>
                </a:lnSpc>
              </a:pPr>
              <a:r>
                <a:rPr lang="ko-KR" altLang="en-US" sz="1400" b="1" spc="-70" dirty="0" smtClean="0">
                  <a:latin typeface="NanumGothic" panose="020D0604000000000000" pitchFamily="34" charset="-127"/>
                  <a:ea typeface="NanumGothic" panose="020D0604000000000000" pitchFamily="34" charset="-127"/>
                  <a:cs typeface="함초롬돋움" panose="02030504000101010101" pitchFamily="18" charset="-127"/>
                </a:rPr>
                <a:t> 거리와 유사도</a:t>
              </a:r>
              <a:endParaRPr lang="en-US" altLang="ko-KR" sz="1400" b="1" spc="-70" dirty="0" smtClean="0">
                <a:latin typeface="NanumGothic" panose="020D0604000000000000" pitchFamily="34" charset="-127"/>
                <a:ea typeface="NanumGothic" panose="020D0604000000000000" pitchFamily="34" charset="-127"/>
                <a:cs typeface="함초롬돋움" panose="02030504000101010101" pitchFamily="18" charset="-127"/>
              </a:endParaRPr>
            </a:p>
            <a:p>
              <a:pPr marL="180000" latinLnBrk="1">
                <a:lnSpc>
                  <a:spcPct val="150000"/>
                </a:lnSpc>
              </a:pPr>
              <a:r>
                <a:rPr lang="en-US" altLang="ko-KR" sz="1400" spc="-70" dirty="0" smtClean="0">
                  <a:latin typeface="NanumGothic" panose="020D0604000000000000" pitchFamily="34" charset="-127"/>
                  <a:ea typeface="NanumGothic" panose="020D0604000000000000" pitchFamily="34" charset="-127"/>
                  <a:cs typeface="함초롬돋움" panose="02030504000101010101" pitchFamily="18" charset="-127"/>
                </a:rPr>
                <a:t> Manhattan, Euclidean, </a:t>
              </a:r>
              <a:r>
                <a:rPr lang="en-US" altLang="ko-KR" sz="1400" spc="-70" dirty="0" smtClean="0">
                  <a:latin typeface="NanumGothic" panose="020D0604000000000000" pitchFamily="34" charset="-127"/>
                  <a:ea typeface="NanumGothic" panose="020D0604000000000000" pitchFamily="34" charset="-127"/>
                  <a:cs typeface="함초롬돋움" panose="02030504000101010101" pitchFamily="18" charset="-127"/>
                </a:rPr>
                <a:t>Cosine, </a:t>
              </a:r>
              <a:r>
                <a:rPr lang="en-US" altLang="ko-KR" sz="1400" spc="-70" dirty="0" err="1" smtClean="0">
                  <a:latin typeface="NanumGothic" panose="020D0604000000000000" pitchFamily="34" charset="-127"/>
                  <a:ea typeface="NanumGothic" panose="020D0604000000000000" pitchFamily="34" charset="-127"/>
                  <a:cs typeface="함초롬돋움" panose="02030504000101010101" pitchFamily="18" charset="-127"/>
                </a:rPr>
                <a:t>Jaccard</a:t>
              </a:r>
              <a:r>
                <a:rPr lang="en-US" altLang="ko-KR" sz="1400" spc="-70" dirty="0" smtClean="0">
                  <a:latin typeface="NanumGothic" panose="020D0604000000000000" pitchFamily="34" charset="-127"/>
                  <a:ea typeface="NanumGothic" panose="020D0604000000000000" pitchFamily="34" charset="-127"/>
                  <a:cs typeface="함초롬돋움" panose="02030504000101010101" pitchFamily="18" charset="-127"/>
                </a:rPr>
                <a:t> </a:t>
              </a:r>
              <a:r>
                <a:rPr lang="en-US" altLang="ko-KR" sz="1400" spc="-70" dirty="0" smtClean="0">
                  <a:latin typeface="NanumGothic" panose="020D0604000000000000" pitchFamily="34" charset="-127"/>
                  <a:ea typeface="NanumGothic" panose="020D0604000000000000" pitchFamily="34" charset="-127"/>
                  <a:cs typeface="함초롬돋움" panose="02030504000101010101" pitchFamily="18" charset="-127"/>
                </a:rPr>
                <a:t>Distance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36848D0-7069-4793-824F-09CC93C6EEB0}"/>
                </a:ext>
              </a:extLst>
            </p:cNvPr>
            <p:cNvSpPr txBox="1"/>
            <p:nvPr/>
          </p:nvSpPr>
          <p:spPr>
            <a:xfrm>
              <a:off x="1292730" y="3158442"/>
              <a:ext cx="7169145" cy="738664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marL="180000" latinLnBrk="1">
                <a:lnSpc>
                  <a:spcPct val="150000"/>
                </a:lnSpc>
              </a:pPr>
              <a:r>
                <a:rPr lang="ko-KR" altLang="en-US" sz="1400" b="1" spc="-70" dirty="0" smtClean="0">
                  <a:latin typeface="NanumGothic" panose="020D0604000000000000" pitchFamily="34" charset="-127"/>
                  <a:ea typeface="NanumGothic" panose="020D0604000000000000" pitchFamily="34" charset="-127"/>
                  <a:cs typeface="함초롬돋움" panose="02030504000101010101" pitchFamily="18" charset="-127"/>
                </a:rPr>
                <a:t> 대표적 군집화 기법</a:t>
              </a:r>
              <a:endParaRPr lang="en-US" altLang="ko-KR" sz="1400" b="1" spc="-70" dirty="0" smtClean="0">
                <a:latin typeface="NanumGothic" panose="020D0604000000000000" pitchFamily="34" charset="-127"/>
                <a:ea typeface="NanumGothic" panose="020D0604000000000000" pitchFamily="34" charset="-127"/>
                <a:cs typeface="함초롬돋움" panose="02030504000101010101" pitchFamily="18" charset="-127"/>
              </a:endParaRPr>
            </a:p>
            <a:p>
              <a:pPr marL="180000" latinLnBrk="1">
                <a:lnSpc>
                  <a:spcPct val="150000"/>
                </a:lnSpc>
              </a:pPr>
              <a:r>
                <a:rPr lang="en-US" altLang="ko-KR" sz="1400" spc="-70" dirty="0" smtClean="0">
                  <a:latin typeface="NanumGothic" panose="020D0604000000000000" pitchFamily="34" charset="-127"/>
                  <a:ea typeface="NanumGothic" panose="020D0604000000000000" pitchFamily="34" charset="-127"/>
                  <a:cs typeface="함초롬돋움" panose="02030504000101010101" pitchFamily="18" charset="-127"/>
                </a:rPr>
                <a:t> K-means, Mean Shift(Density Estimation, Kernel Function, Algorithm)</a:t>
              </a:r>
              <a:endParaRPr lang="ko-KR" altLang="en-US" sz="1400" spc="-70" dirty="0">
                <a:latin typeface="NanumGothic" panose="020D0604000000000000" pitchFamily="34" charset="-127"/>
                <a:ea typeface="NanumGothic" panose="020D0604000000000000" pitchFamily="34" charset="-127"/>
                <a:cs typeface="함초롬돋움" panose="02030504000101010101" pitchFamily="18" charset="-127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552917C-0BBF-44AD-93E6-2D03EAF80E7A}"/>
                </a:ext>
              </a:extLst>
            </p:cNvPr>
            <p:cNvSpPr txBox="1"/>
            <p:nvPr/>
          </p:nvSpPr>
          <p:spPr>
            <a:xfrm>
              <a:off x="1380010" y="4080549"/>
              <a:ext cx="6994584" cy="373564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marL="180000" latinLnBrk="1">
                <a:lnSpc>
                  <a:spcPct val="150000"/>
                </a:lnSpc>
              </a:pPr>
              <a:r>
                <a:rPr lang="en-US" altLang="ko-KR" sz="1400" b="1" spc="-70" dirty="0" smtClean="0">
                  <a:latin typeface="NanumGothic" panose="020D0604000000000000" pitchFamily="34" charset="-127"/>
                  <a:ea typeface="NanumGothic" panose="020D0604000000000000" pitchFamily="34" charset="-127"/>
                  <a:cs typeface="함초롬돋움" panose="02030504000101010101" pitchFamily="18" charset="-127"/>
                </a:rPr>
                <a:t>K-</a:t>
              </a:r>
              <a:r>
                <a:rPr lang="ko-KR" altLang="en-US" sz="1400" b="1" spc="-70" dirty="0" err="1" smtClean="0">
                  <a:latin typeface="NanumGothic" panose="020D0604000000000000" pitchFamily="34" charset="-127"/>
                  <a:ea typeface="NanumGothic" panose="020D0604000000000000" pitchFamily="34" charset="-127"/>
                  <a:cs typeface="함초롬돋움" panose="02030504000101010101" pitchFamily="18" charset="-127"/>
                </a:rPr>
                <a:t>최근접</a:t>
              </a:r>
              <a:r>
                <a:rPr lang="ko-KR" altLang="en-US" sz="1400" b="1" spc="-70" dirty="0" smtClean="0">
                  <a:latin typeface="NanumGothic" panose="020D0604000000000000" pitchFamily="34" charset="-127"/>
                  <a:ea typeface="NanumGothic" panose="020D0604000000000000" pitchFamily="34" charset="-127"/>
                  <a:cs typeface="함초롬돋움" panose="02030504000101010101" pitchFamily="18" charset="-127"/>
                </a:rPr>
                <a:t> </a:t>
              </a:r>
              <a:r>
                <a:rPr lang="ko-KR" altLang="en-US" sz="1400" b="1" spc="-70" dirty="0" smtClean="0">
                  <a:latin typeface="NanumGothic" panose="020D0604000000000000" pitchFamily="34" charset="-127"/>
                  <a:ea typeface="NanumGothic" panose="020D0604000000000000" pitchFamily="34" charset="-127"/>
                  <a:cs typeface="함초롬돋움" panose="02030504000101010101" pitchFamily="18" charset="-127"/>
                </a:rPr>
                <a:t>이웃 알고리즘</a:t>
              </a:r>
              <a:r>
                <a:rPr lang="en-US" altLang="ko-KR" sz="1400" spc="-70" dirty="0" smtClean="0">
                  <a:latin typeface="NanumGothic" panose="020D0604000000000000" pitchFamily="34" charset="-127"/>
                  <a:ea typeface="NanumGothic" panose="020D0604000000000000" pitchFamily="34" charset="-127"/>
                  <a:cs typeface="함초롬돋움" panose="02030504000101010101" pitchFamily="18" charset="-127"/>
                </a:rPr>
                <a:t>(K Nearest Neighbor)</a:t>
              </a:r>
              <a:endParaRPr lang="ko-KR" altLang="en-US" sz="1400" spc="-70" dirty="0">
                <a:latin typeface="NanumGothic" panose="020D0604000000000000" pitchFamily="34" charset="-127"/>
                <a:ea typeface="NanumGothic" panose="020D0604000000000000" pitchFamily="34" charset="-127"/>
                <a:cs typeface="함초롬돋움" panose="02030504000101010101" pitchFamily="18" charset="-127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72379BF-5EC3-4CF2-B22D-AFE2F6960578}"/>
                </a:ext>
              </a:extLst>
            </p:cNvPr>
            <p:cNvSpPr txBox="1"/>
            <p:nvPr/>
          </p:nvSpPr>
          <p:spPr>
            <a:xfrm>
              <a:off x="1292730" y="1733845"/>
              <a:ext cx="6994584" cy="415498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marL="180000" latinLnBrk="1">
                <a:lnSpc>
                  <a:spcPct val="150000"/>
                </a:lnSpc>
              </a:pPr>
              <a:r>
                <a:rPr lang="ko-KR" altLang="en-US" sz="1400" b="1" spc="-70" dirty="0" smtClean="0">
                  <a:latin typeface="NanumGothic" panose="020D0604000000000000" pitchFamily="34" charset="-127"/>
                  <a:ea typeface="NanumGothic" panose="020D0604000000000000" pitchFamily="34" charset="-127"/>
                  <a:cs typeface="함초롬돋움" panose="02030504000101010101" pitchFamily="18" charset="-127"/>
                </a:rPr>
                <a:t> 군집화 개요</a:t>
              </a:r>
              <a:endParaRPr lang="en-US" altLang="ko-KR" sz="1400" b="1" spc="-70" dirty="0">
                <a:latin typeface="NanumGothic" panose="020D0604000000000000" pitchFamily="34" charset="-127"/>
                <a:ea typeface="NanumGothic" panose="020D0604000000000000" pitchFamily="34" charset="-127"/>
                <a:cs typeface="함초롬돋움" panose="02030504000101010101" pitchFamily="18" charset="-127"/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6EBABAC9-F368-604F-8F55-40C2DCBC1342}"/>
              </a:ext>
            </a:extLst>
          </p:cNvPr>
          <p:cNvSpPr txBox="1"/>
          <p:nvPr/>
        </p:nvSpPr>
        <p:spPr>
          <a:xfrm>
            <a:off x="3560345" y="6538913"/>
            <a:ext cx="30171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2021-1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학기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비즈니스 데이터 사이언스 세미나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화살표: 오각형 13">
            <a:extLst>
              <a:ext uri="{FF2B5EF4-FFF2-40B4-BE49-F238E27FC236}">
                <a16:creationId xmlns:a16="http://schemas.microsoft.com/office/drawing/2014/main" id="{C4508EA4-2D64-4F01-A269-F31FCD4BAB70}"/>
              </a:ext>
            </a:extLst>
          </p:cNvPr>
          <p:cNvSpPr/>
          <p:nvPr/>
        </p:nvSpPr>
        <p:spPr>
          <a:xfrm>
            <a:off x="585729" y="5068624"/>
            <a:ext cx="904377" cy="585205"/>
          </a:xfrm>
          <a:prstGeom prst="homePlate">
            <a:avLst>
              <a:gd name="adj" fmla="val 33100"/>
            </a:avLst>
          </a:prstGeom>
          <a:solidFill>
            <a:srgbClr val="9C1B1E"/>
          </a:solidFill>
        </p:spPr>
        <p:txBody>
          <a:bodyPr wrap="square" lIns="0" tIns="0" rIns="0" bIns="0" rtlCol="0" anchor="ctr" anchorCtr="0">
            <a:spAutoFit/>
          </a:bodyPr>
          <a:lstStyle/>
          <a:p>
            <a:pPr algn="ctr" latinLnBrk="0"/>
            <a:endParaRPr lang="en-US" sz="1400" spc="-6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B63900E-79E4-4E6E-8A14-F5CA6D511213}"/>
              </a:ext>
            </a:extLst>
          </p:cNvPr>
          <p:cNvSpPr txBox="1"/>
          <p:nvPr/>
        </p:nvSpPr>
        <p:spPr>
          <a:xfrm>
            <a:off x="606069" y="5121731"/>
            <a:ext cx="642899" cy="461665"/>
          </a:xfrm>
          <a:prstGeom prst="rect">
            <a:avLst/>
          </a:prstGeom>
          <a:solidFill>
            <a:srgbClr val="9C1B1E"/>
          </a:solidFill>
        </p:spPr>
        <p:txBody>
          <a:bodyPr vert="horz" wrap="square" rtlCol="0">
            <a:spAutoFit/>
          </a:bodyPr>
          <a:lstStyle/>
          <a:p>
            <a:pPr algn="ctr"/>
            <a:r>
              <a:rPr lang="en-US" altLang="ko-KR" sz="2400" b="1" spc="-70" dirty="0" smtClean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함초롬돋움" panose="02030504000101010101" pitchFamily="18" charset="-127"/>
              </a:rPr>
              <a:t>05</a:t>
            </a:r>
            <a:endParaRPr lang="ko-KR" altLang="en-US" sz="2400" b="1" spc="-7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함초롬돋움" panose="02030504000101010101" pitchFamily="18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36848D0-7069-4793-824F-09CC93C6EEB0}"/>
              </a:ext>
            </a:extLst>
          </p:cNvPr>
          <p:cNvSpPr txBox="1"/>
          <p:nvPr/>
        </p:nvSpPr>
        <p:spPr>
          <a:xfrm>
            <a:off x="1331729" y="4987614"/>
            <a:ext cx="7169145" cy="69512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180000" latinLnBrk="1">
              <a:lnSpc>
                <a:spcPct val="150000"/>
              </a:lnSpc>
            </a:pPr>
            <a:r>
              <a:rPr lang="ko-KR" altLang="en-US" sz="1400" b="1" spc="-70" dirty="0" smtClean="0">
                <a:latin typeface="NanumGothic" panose="020D0604000000000000" pitchFamily="34" charset="-127"/>
                <a:ea typeface="NanumGothic" panose="020D0604000000000000" pitchFamily="34" charset="-127"/>
                <a:cs typeface="함초롬돋움" panose="02030504000101010101" pitchFamily="18" charset="-127"/>
              </a:rPr>
              <a:t> 군집화 </a:t>
            </a:r>
            <a:r>
              <a:rPr lang="ko-KR" altLang="en-US" sz="1400" b="1" spc="-70" dirty="0">
                <a:latin typeface="NanumGothic" panose="020D0604000000000000" pitchFamily="34" charset="-127"/>
                <a:ea typeface="NanumGothic" panose="020D0604000000000000" pitchFamily="34" charset="-127"/>
                <a:cs typeface="함초롬돋움" panose="02030504000101010101" pitchFamily="18" charset="-127"/>
              </a:rPr>
              <a:t>성능 측정</a:t>
            </a:r>
            <a:endParaRPr lang="en-US" altLang="ko-KR" sz="1400" b="1" spc="-70" dirty="0">
              <a:latin typeface="NanumGothic" panose="020D0604000000000000" pitchFamily="34" charset="-127"/>
              <a:ea typeface="NanumGothic" panose="020D0604000000000000" pitchFamily="34" charset="-127"/>
              <a:cs typeface="함초롬돋움" panose="02030504000101010101" pitchFamily="18" charset="-127"/>
            </a:endParaRPr>
          </a:p>
          <a:p>
            <a:pPr marL="180000" latinLnBrk="1">
              <a:lnSpc>
                <a:spcPct val="150000"/>
              </a:lnSpc>
            </a:pPr>
            <a:r>
              <a:rPr lang="en-US" altLang="ko-KR" sz="1400" spc="-70" dirty="0" smtClean="0">
                <a:latin typeface="NanumGothic" panose="020D0604000000000000" pitchFamily="34" charset="-127"/>
                <a:ea typeface="NanumGothic" panose="020D0604000000000000" pitchFamily="34" charset="-127"/>
                <a:cs typeface="함초롬돋움" panose="02030504000101010101" pitchFamily="18" charset="-127"/>
              </a:rPr>
              <a:t> Silhouette </a:t>
            </a:r>
            <a:r>
              <a:rPr lang="en-US" altLang="ko-KR" sz="1400" spc="-70" dirty="0">
                <a:latin typeface="NanumGothic" panose="020D0604000000000000" pitchFamily="34" charset="-127"/>
                <a:ea typeface="NanumGothic" panose="020D0604000000000000" pitchFamily="34" charset="-127"/>
                <a:cs typeface="함초롬돋움" panose="02030504000101010101" pitchFamily="18" charset="-127"/>
              </a:rPr>
              <a:t>Analysis</a:t>
            </a:r>
            <a:endParaRPr lang="ko-KR" altLang="en-US" sz="1400" spc="-70" dirty="0">
              <a:latin typeface="NanumGothic" panose="020D0604000000000000" pitchFamily="34" charset="-127"/>
              <a:ea typeface="NanumGothic" panose="020D0604000000000000" pitchFamily="34" charset="-127"/>
              <a:cs typeface="함초롬돋움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3733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10947476-30A4-4D18-B37A-7202071E6FA4}"/>
              </a:ext>
            </a:extLst>
          </p:cNvPr>
          <p:cNvGrpSpPr/>
          <p:nvPr/>
        </p:nvGrpSpPr>
        <p:grpSpPr>
          <a:xfrm>
            <a:off x="2017059" y="2674141"/>
            <a:ext cx="5109883" cy="1509718"/>
            <a:chOff x="2017059" y="2146239"/>
            <a:chExt cx="5109883" cy="1509718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4D611EA8-473B-46FA-8122-85B437180227}"/>
                </a:ext>
              </a:extLst>
            </p:cNvPr>
            <p:cNvSpPr/>
            <p:nvPr/>
          </p:nvSpPr>
          <p:spPr>
            <a:xfrm>
              <a:off x="2017059" y="2146239"/>
              <a:ext cx="5109883" cy="108000"/>
            </a:xfrm>
            <a:prstGeom prst="rect">
              <a:avLst/>
            </a:prstGeom>
            <a:gradFill flip="none" rotWithShape="1">
              <a:gsLst>
                <a:gs pos="0">
                  <a:srgbClr val="26336B"/>
                </a:gs>
                <a:gs pos="61000">
                  <a:srgbClr val="9F1915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A02D2456-35A3-4324-B834-5891D3191FAC}"/>
                </a:ext>
              </a:extLst>
            </p:cNvPr>
            <p:cNvSpPr/>
            <p:nvPr/>
          </p:nvSpPr>
          <p:spPr>
            <a:xfrm>
              <a:off x="2017059" y="3547957"/>
              <a:ext cx="5109883" cy="108000"/>
            </a:xfrm>
            <a:prstGeom prst="rect">
              <a:avLst/>
            </a:prstGeom>
            <a:gradFill flip="none" rotWithShape="1">
              <a:gsLst>
                <a:gs pos="0">
                  <a:srgbClr val="26336B"/>
                </a:gs>
                <a:gs pos="61000">
                  <a:srgbClr val="9F1915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8D550E69-6FA6-4D5E-ADA3-0082768A2CF9}"/>
              </a:ext>
            </a:extLst>
          </p:cNvPr>
          <p:cNvSpPr txBox="1"/>
          <p:nvPr/>
        </p:nvSpPr>
        <p:spPr>
          <a:xfrm>
            <a:off x="3273417" y="3105835"/>
            <a:ext cx="25971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R" altLang="en-US" sz="3600" b="1" dirty="0" smtClean="0">
                <a:solidFill>
                  <a:prstClr val="black"/>
                </a:solidFill>
                <a:ea typeface="NanumGothic" panose="020D0604000000000000" pitchFamily="34" charset="-127"/>
              </a:rPr>
              <a:t>군집화 개요</a:t>
            </a:r>
            <a:endParaRPr kumimoji="1" lang="ko-KR" altLang="en-US" sz="3600" b="1" dirty="0">
              <a:solidFill>
                <a:prstClr val="black"/>
              </a:solidFill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07923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898060" y="6540548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E00F004-BD89-484A-9E0D-939812231C51}"/>
              </a:ext>
            </a:extLst>
          </p:cNvPr>
          <p:cNvSpPr/>
          <p:nvPr/>
        </p:nvSpPr>
        <p:spPr>
          <a:xfrm>
            <a:off x="0" y="6448285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16A8DA-5D55-45BD-85EA-BE2F87A4FCF7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DA6BE5-037F-4552-8536-DD1511D2DB96}"/>
              </a:ext>
            </a:extLst>
          </p:cNvPr>
          <p:cNvSpPr txBox="1"/>
          <p:nvPr/>
        </p:nvSpPr>
        <p:spPr>
          <a:xfrm>
            <a:off x="401050" y="289035"/>
            <a:ext cx="78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b="1" dirty="0" smtClean="0">
                <a:ea typeface="나눔스퀘어_ac ExtraBold" panose="020B0600000101010101" pitchFamily="50" charset="-127"/>
              </a:rPr>
              <a:t>군집화 개요</a:t>
            </a:r>
            <a:endParaRPr lang="en-US" altLang="ko-KR" sz="2000" b="1" dirty="0">
              <a:ea typeface="나눔스퀘어_ac ExtraBold" panose="020B0600000101010101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AAABA0-83DE-8C46-91C4-A610346B147D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D24E5A-6EF2-4301-BBDA-C418695D3FF3}"/>
              </a:ext>
            </a:extLst>
          </p:cNvPr>
          <p:cNvSpPr txBox="1"/>
          <p:nvPr/>
        </p:nvSpPr>
        <p:spPr>
          <a:xfrm>
            <a:off x="3560345" y="6538913"/>
            <a:ext cx="30171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2021-1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학기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비즈니스 데이터 사이언스</a:t>
            </a:r>
            <a:r>
              <a:rPr lang="en-US" altLang="ko-KR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세미나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286871" y="4906570"/>
            <a:ext cx="86685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- </a:t>
            </a:r>
            <a:r>
              <a:rPr lang="ko-KR" altLang="en-US" dirty="0" smtClean="0"/>
              <a:t>각 데이터 포인트들을 한데 모아</a:t>
            </a:r>
            <a:r>
              <a:rPr lang="en-US" altLang="ko-KR" dirty="0" smtClean="0"/>
              <a:t>, </a:t>
            </a:r>
            <a:r>
              <a:rPr lang="ko-KR" altLang="en-US" dirty="0" smtClean="0"/>
              <a:t>별개의 군집으로 그룹화 하는 과정을 의미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- </a:t>
            </a:r>
            <a:r>
              <a:rPr lang="ko-KR" altLang="en-US" dirty="0" err="1" smtClean="0"/>
              <a:t>유사도가</a:t>
            </a:r>
            <a:r>
              <a:rPr lang="ko-KR" altLang="en-US" dirty="0" smtClean="0"/>
              <a:t> 높은 데이터들을 동일한 그룹에  할당하고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서로 다른 군집이 상이성을    가지도록 그룹화</a:t>
            </a:r>
            <a:endParaRPr lang="ko-KR" altLang="en-US" dirty="0"/>
          </a:p>
        </p:txBody>
      </p:sp>
      <p:sp>
        <p:nvSpPr>
          <p:cNvPr id="2" name="직사각형 1"/>
          <p:cNvSpPr/>
          <p:nvPr/>
        </p:nvSpPr>
        <p:spPr>
          <a:xfrm>
            <a:off x="1783975" y="1281953"/>
            <a:ext cx="4948519" cy="293145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9312" y="1497668"/>
            <a:ext cx="3647370" cy="251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440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898060" y="6540548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E00F004-BD89-484A-9E0D-939812231C51}"/>
              </a:ext>
            </a:extLst>
          </p:cNvPr>
          <p:cNvSpPr/>
          <p:nvPr/>
        </p:nvSpPr>
        <p:spPr>
          <a:xfrm>
            <a:off x="0" y="6448285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16A8DA-5D55-45BD-85EA-BE2F87A4FCF7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DA6BE5-037F-4552-8536-DD1511D2DB96}"/>
              </a:ext>
            </a:extLst>
          </p:cNvPr>
          <p:cNvSpPr txBox="1"/>
          <p:nvPr/>
        </p:nvSpPr>
        <p:spPr>
          <a:xfrm>
            <a:off x="401050" y="289035"/>
            <a:ext cx="78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b="1" dirty="0" smtClean="0">
                <a:ea typeface="나눔스퀘어_ac ExtraBold" panose="020B0600000101010101" pitchFamily="50" charset="-127"/>
              </a:rPr>
              <a:t>군집화 개요</a:t>
            </a:r>
            <a:endParaRPr lang="en-US" altLang="ko-KR" sz="2000" b="1" dirty="0">
              <a:ea typeface="나눔스퀘어_ac ExtraBold" panose="020B0600000101010101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AAABA0-83DE-8C46-91C4-A610346B147D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D24E5A-6EF2-4301-BBDA-C418695D3FF3}"/>
              </a:ext>
            </a:extLst>
          </p:cNvPr>
          <p:cNvSpPr txBox="1"/>
          <p:nvPr/>
        </p:nvSpPr>
        <p:spPr>
          <a:xfrm>
            <a:off x="3560345" y="6538913"/>
            <a:ext cx="30171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2021-1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학기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비즈니스 데이터 사이언스</a:t>
            </a:r>
            <a:r>
              <a:rPr lang="en-US" altLang="ko-KR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세미나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24118" y="1093694"/>
            <a:ext cx="8731342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/>
              <a:t>CASE : </a:t>
            </a:r>
            <a:r>
              <a:rPr lang="ko-KR" altLang="en-US" sz="2400" b="1" dirty="0" smtClean="0"/>
              <a:t>대통령 선거</a:t>
            </a:r>
            <a:endParaRPr lang="en-US" altLang="ko-KR" sz="2400" b="1" dirty="0" smtClean="0"/>
          </a:p>
          <a:p>
            <a:endParaRPr lang="en-US" altLang="ko-KR" b="1" dirty="0" smtClean="0">
              <a:solidFill>
                <a:srgbClr val="00B0F0"/>
              </a:solidFill>
            </a:endParaRPr>
          </a:p>
          <a:p>
            <a:endParaRPr lang="en-US" altLang="ko-KR" b="1" dirty="0">
              <a:solidFill>
                <a:srgbClr val="00B0F0"/>
              </a:solidFill>
            </a:endParaRPr>
          </a:p>
          <a:p>
            <a:endParaRPr lang="en-US" altLang="ko-KR" dirty="0"/>
          </a:p>
          <a:p>
            <a:pPr marL="342900" indent="-342900">
              <a:buFont typeface="+mj-lt"/>
              <a:buAutoNum type="arabicPeriod"/>
            </a:pPr>
            <a:r>
              <a:rPr lang="ko-KR" altLang="en-US" dirty="0" smtClean="0"/>
              <a:t>투표자의 개개인의 정보를 얻는다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이 정보에서 </a:t>
            </a:r>
            <a:r>
              <a:rPr lang="ko-KR" altLang="en-US" b="1" dirty="0" smtClean="0">
                <a:solidFill>
                  <a:srgbClr val="FF0000"/>
                </a:solidFill>
              </a:rPr>
              <a:t>어떠한 요소들이</a:t>
            </a:r>
            <a:r>
              <a:rPr lang="en-US" altLang="ko-KR" b="1" dirty="0">
                <a:solidFill>
                  <a:srgbClr val="FF0000"/>
                </a:solidFill>
              </a:rPr>
              <a:t> </a:t>
            </a:r>
            <a:r>
              <a:rPr lang="en-US" altLang="ko-KR" b="1" dirty="0" smtClean="0">
                <a:solidFill>
                  <a:srgbClr val="FF0000"/>
                </a:solidFill>
              </a:rPr>
              <a:t>(Feature)</a:t>
            </a:r>
            <a:r>
              <a:rPr lang="en-US" altLang="ko-KR" b="1" dirty="0" smtClean="0"/>
              <a:t> </a:t>
            </a:r>
            <a:r>
              <a:rPr lang="ko-KR" altLang="en-US" dirty="0" smtClean="0"/>
              <a:t>투표 결과에 영향을 끼칠 수 있는지 알려줄 수 있다</a:t>
            </a:r>
            <a:r>
              <a:rPr lang="en-US" altLang="ko-KR" dirty="0" smtClean="0"/>
              <a:t>.</a:t>
            </a:r>
          </a:p>
          <a:p>
            <a:pPr marL="285750" indent="-285750">
              <a:buFontTx/>
              <a:buChar char="-"/>
            </a:pPr>
            <a:endParaRPr lang="en-US" altLang="ko-KR" dirty="0" smtClean="0"/>
          </a:p>
          <a:p>
            <a:endParaRPr lang="en-US" altLang="ko-KR" dirty="0" smtClean="0"/>
          </a:p>
          <a:p>
            <a:r>
              <a:rPr lang="en-US" altLang="ko-KR" dirty="0" smtClean="0"/>
              <a:t>2.   </a:t>
            </a:r>
            <a:r>
              <a:rPr lang="ko-KR" altLang="en-US" b="1" dirty="0" smtClean="0">
                <a:solidFill>
                  <a:srgbClr val="FF0000"/>
                </a:solidFill>
              </a:rPr>
              <a:t>여러가지 정보들을</a:t>
            </a:r>
            <a:r>
              <a:rPr lang="ko-KR" altLang="en-US" dirty="0" smtClean="0"/>
              <a:t> </a:t>
            </a:r>
            <a:r>
              <a:rPr lang="en-US" altLang="ko-KR" b="1" dirty="0" smtClean="0">
                <a:solidFill>
                  <a:srgbClr val="FF0000"/>
                </a:solidFill>
              </a:rPr>
              <a:t>(</a:t>
            </a:r>
            <a:r>
              <a:rPr lang="en-US" altLang="ko-KR" b="1" dirty="0">
                <a:solidFill>
                  <a:srgbClr val="FF0000"/>
                </a:solidFill>
              </a:rPr>
              <a:t>Feature</a:t>
            </a:r>
            <a:r>
              <a:rPr lang="en-US" altLang="ko-KR" b="1" dirty="0" smtClean="0">
                <a:solidFill>
                  <a:srgbClr val="FF0000"/>
                </a:solidFill>
              </a:rPr>
              <a:t>) </a:t>
            </a:r>
            <a:r>
              <a:rPr lang="ko-KR" altLang="en-US" dirty="0" smtClean="0"/>
              <a:t>기준으로 하여</a:t>
            </a:r>
            <a:r>
              <a:rPr lang="en-US" altLang="ko-KR" dirty="0" smtClean="0"/>
              <a:t>, </a:t>
            </a:r>
            <a:r>
              <a:rPr lang="ko-KR" altLang="en-US" b="1" dirty="0" smtClean="0">
                <a:solidFill>
                  <a:srgbClr val="FF0000"/>
                </a:solidFill>
              </a:rPr>
              <a:t>몇 개의 특정 그룹</a:t>
            </a:r>
            <a:r>
              <a:rPr lang="en-US" altLang="ko-KR" b="1" dirty="0" smtClean="0">
                <a:solidFill>
                  <a:srgbClr val="FF0000"/>
                </a:solidFill>
              </a:rPr>
              <a:t>(Cluster)</a:t>
            </a:r>
            <a:r>
              <a:rPr lang="ko-KR" altLang="en-US" dirty="0" smtClean="0"/>
              <a:t>로 나눈다</a:t>
            </a:r>
            <a:r>
              <a:rPr lang="en-US" altLang="ko-KR" dirty="0" smtClean="0"/>
              <a:t>. 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 (EX : </a:t>
            </a:r>
            <a:r>
              <a:rPr lang="ko-KR" altLang="en-US" sz="1600" dirty="0" smtClean="0"/>
              <a:t>분위기에 편승하는 그룹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특정 정당을 지지하는 그룹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공약 내용에 초점을 맞추는 그룹 등</a:t>
            </a:r>
            <a:r>
              <a:rPr lang="en-US" altLang="ko-KR" sz="1600" dirty="0" smtClean="0"/>
              <a:t>)</a:t>
            </a:r>
          </a:p>
          <a:p>
            <a:pPr marL="285750" indent="-285750">
              <a:buFontTx/>
              <a:buChar char="-"/>
            </a:pPr>
            <a:endParaRPr lang="en-US" altLang="ko-KR" dirty="0" smtClean="0"/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r>
              <a:rPr lang="en-US" altLang="ko-KR" dirty="0" smtClean="0"/>
              <a:t>3.   </a:t>
            </a:r>
            <a:r>
              <a:rPr lang="ko-KR" altLang="en-US" dirty="0" smtClean="0"/>
              <a:t>각 그룹의 유권자들에게 특화된 선거 전략을 세운다</a:t>
            </a:r>
            <a:r>
              <a:rPr lang="en-US" altLang="ko-KR" dirty="0" smtClean="0"/>
              <a:t>.</a:t>
            </a:r>
            <a:r>
              <a:rPr lang="ko-KR" altLang="en-US" dirty="0" smtClean="0"/>
              <a:t> 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2755177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898060" y="6540548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E00F004-BD89-484A-9E0D-939812231C51}"/>
              </a:ext>
            </a:extLst>
          </p:cNvPr>
          <p:cNvSpPr/>
          <p:nvPr/>
        </p:nvSpPr>
        <p:spPr>
          <a:xfrm>
            <a:off x="0" y="6448285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16A8DA-5D55-45BD-85EA-BE2F87A4FCF7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DA6BE5-037F-4552-8536-DD1511D2DB96}"/>
              </a:ext>
            </a:extLst>
          </p:cNvPr>
          <p:cNvSpPr txBox="1"/>
          <p:nvPr/>
        </p:nvSpPr>
        <p:spPr>
          <a:xfrm>
            <a:off x="401050" y="289035"/>
            <a:ext cx="78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b="1" dirty="0" smtClean="0">
                <a:ea typeface="나눔스퀘어_ac ExtraBold" panose="020B0600000101010101" pitchFamily="50" charset="-127"/>
              </a:rPr>
              <a:t>군집화 개요</a:t>
            </a:r>
            <a:endParaRPr lang="en-US" altLang="ko-KR" sz="2000" b="1" dirty="0">
              <a:ea typeface="나눔스퀘어_ac ExtraBold" panose="020B0600000101010101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AAABA0-83DE-8C46-91C4-A610346B147D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D24E5A-6EF2-4301-BBDA-C418695D3FF3}"/>
              </a:ext>
            </a:extLst>
          </p:cNvPr>
          <p:cNvSpPr txBox="1"/>
          <p:nvPr/>
        </p:nvSpPr>
        <p:spPr>
          <a:xfrm>
            <a:off x="3560345" y="6538913"/>
            <a:ext cx="30171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2021-1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학기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비즈니스 데이터 사이언스</a:t>
            </a:r>
            <a:r>
              <a:rPr lang="en-US" altLang="ko-KR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세미나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555757" y="1271453"/>
            <a:ext cx="8274478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000" dirty="0" smtClean="0"/>
              <a:t>군집화 활용 분야</a:t>
            </a:r>
            <a:endParaRPr lang="en-US" altLang="ko-KR" sz="2000" dirty="0" smtClean="0"/>
          </a:p>
          <a:p>
            <a:endParaRPr lang="en-US" altLang="ko-KR" sz="2000" dirty="0" smtClean="0"/>
          </a:p>
          <a:p>
            <a:pPr marL="285750" indent="-285750">
              <a:buFontTx/>
              <a:buChar char="-"/>
            </a:pPr>
            <a:r>
              <a:rPr lang="ko-KR" altLang="en-US" dirty="0" smtClean="0"/>
              <a:t>고객에 대한 </a:t>
            </a:r>
            <a:r>
              <a:rPr lang="en-US" altLang="ko-KR" dirty="0" smtClean="0"/>
              <a:t>Segmentation</a:t>
            </a:r>
            <a:r>
              <a:rPr lang="ko-KR" altLang="en-US" dirty="0" smtClean="0"/>
              <a:t>을 통한 마케팅</a:t>
            </a:r>
            <a:endParaRPr lang="en-US" altLang="ko-KR" dirty="0" smtClean="0"/>
          </a:p>
          <a:p>
            <a:pPr marL="285750" indent="-285750">
              <a:buFontTx/>
              <a:buChar char="-"/>
            </a:pPr>
            <a:endParaRPr lang="en-US" altLang="ko-KR" dirty="0" smtClean="0"/>
          </a:p>
          <a:p>
            <a:pPr marL="285750" indent="-285750">
              <a:buFontTx/>
              <a:buChar char="-"/>
            </a:pPr>
            <a:r>
              <a:rPr lang="en-US" altLang="ko-KR" dirty="0" smtClean="0"/>
              <a:t>Object Detection, Image Tracking</a:t>
            </a:r>
          </a:p>
          <a:p>
            <a:pPr marL="285750" indent="-285750">
              <a:buFontTx/>
              <a:buChar char="-"/>
            </a:pPr>
            <a:endParaRPr lang="en-US" altLang="ko-KR" dirty="0" smtClean="0"/>
          </a:p>
          <a:p>
            <a:pPr marL="285750" indent="-285750">
              <a:buFontTx/>
              <a:buChar char="-"/>
            </a:pPr>
            <a:r>
              <a:rPr lang="ko-KR" altLang="en-US" dirty="0" smtClean="0"/>
              <a:t>이상치 검출 </a:t>
            </a:r>
            <a:endParaRPr lang="en-US" altLang="ko-KR" dirty="0" smtClean="0"/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 smtClean="0"/>
              <a:t>검색 엔진 내부에서 키워드 검색 결과를 그룹화 </a:t>
            </a:r>
            <a:endParaRPr lang="en-US" altLang="ko-KR" dirty="0" smtClean="0"/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endParaRPr lang="en-US" altLang="ko-KR" dirty="0" smtClean="0"/>
          </a:p>
          <a:p>
            <a:r>
              <a:rPr lang="en-US" altLang="ko-KR" b="1" dirty="0" smtClean="0"/>
              <a:t>-&gt;</a:t>
            </a:r>
            <a:r>
              <a:rPr lang="en-US" altLang="ko-KR" dirty="0" smtClean="0"/>
              <a:t> </a:t>
            </a:r>
            <a:r>
              <a:rPr lang="ko-KR" altLang="en-US" b="1" dirty="0" smtClean="0"/>
              <a:t>군집화 과정에 기반이 되는 </a:t>
            </a:r>
            <a:r>
              <a:rPr lang="ko-KR" altLang="en-US" b="1" dirty="0" err="1" smtClean="0"/>
              <a:t>유사도를</a:t>
            </a:r>
            <a:r>
              <a:rPr lang="ko-KR" altLang="en-US" b="1" dirty="0" smtClean="0"/>
              <a:t> 어떻게 정의할 것인지가 관건</a:t>
            </a:r>
            <a:endParaRPr lang="en-US" altLang="ko-KR" b="1" dirty="0" smtClean="0">
              <a:solidFill>
                <a:srgbClr val="00B0F0"/>
              </a:solidFill>
            </a:endParaRPr>
          </a:p>
          <a:p>
            <a:r>
              <a:rPr lang="en-US" altLang="ko-KR" b="1" dirty="0" smtClean="0"/>
              <a:t>-&gt;</a:t>
            </a:r>
            <a:r>
              <a:rPr lang="en-US" altLang="ko-KR" b="1" dirty="0" smtClean="0">
                <a:solidFill>
                  <a:srgbClr val="00B0F0"/>
                </a:solidFill>
              </a:rPr>
              <a:t> </a:t>
            </a:r>
            <a:r>
              <a:rPr lang="ko-KR" altLang="en-US" b="1" dirty="0" smtClean="0"/>
              <a:t>데이터 쌍의</a:t>
            </a:r>
            <a:r>
              <a:rPr lang="ko-KR" altLang="en-US" b="1" dirty="0" smtClean="0">
                <a:solidFill>
                  <a:srgbClr val="00B0F0"/>
                </a:solidFill>
              </a:rPr>
              <a:t> 거리가 가까울수록</a:t>
            </a:r>
            <a:r>
              <a:rPr lang="en-US" altLang="ko-KR" b="1" dirty="0" smtClean="0">
                <a:solidFill>
                  <a:srgbClr val="00B0F0"/>
                </a:solidFill>
              </a:rPr>
              <a:t>, </a:t>
            </a:r>
            <a:r>
              <a:rPr lang="ko-KR" altLang="en-US" b="1" dirty="0" err="1" smtClean="0">
                <a:solidFill>
                  <a:srgbClr val="00B0F0"/>
                </a:solidFill>
              </a:rPr>
              <a:t>유사도는</a:t>
            </a:r>
            <a:r>
              <a:rPr lang="ko-KR" altLang="en-US" b="1" dirty="0" smtClean="0">
                <a:solidFill>
                  <a:srgbClr val="00B0F0"/>
                </a:solidFill>
              </a:rPr>
              <a:t> </a:t>
            </a:r>
            <a:r>
              <a:rPr lang="ko-KR" altLang="en-US" b="1" dirty="0" smtClean="0">
                <a:solidFill>
                  <a:srgbClr val="00B0F0"/>
                </a:solidFill>
              </a:rPr>
              <a:t>커짐</a:t>
            </a:r>
            <a:r>
              <a:rPr lang="en-US" altLang="ko-KR" b="1" dirty="0" smtClean="0">
                <a:solidFill>
                  <a:srgbClr val="00B0F0"/>
                </a:solidFill>
              </a:rPr>
              <a:t>!</a:t>
            </a:r>
            <a:endParaRPr lang="en-US" altLang="ko-KR" dirty="0" smtClean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390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10947476-30A4-4D18-B37A-7202071E6FA4}"/>
              </a:ext>
            </a:extLst>
          </p:cNvPr>
          <p:cNvGrpSpPr/>
          <p:nvPr/>
        </p:nvGrpSpPr>
        <p:grpSpPr>
          <a:xfrm>
            <a:off x="2017059" y="2674141"/>
            <a:ext cx="5109883" cy="1509718"/>
            <a:chOff x="2017059" y="2146239"/>
            <a:chExt cx="5109883" cy="1509718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4D611EA8-473B-46FA-8122-85B437180227}"/>
                </a:ext>
              </a:extLst>
            </p:cNvPr>
            <p:cNvSpPr/>
            <p:nvPr/>
          </p:nvSpPr>
          <p:spPr>
            <a:xfrm>
              <a:off x="2017059" y="2146239"/>
              <a:ext cx="5109883" cy="108000"/>
            </a:xfrm>
            <a:prstGeom prst="rect">
              <a:avLst/>
            </a:prstGeom>
            <a:gradFill flip="none" rotWithShape="1">
              <a:gsLst>
                <a:gs pos="0">
                  <a:srgbClr val="26336B"/>
                </a:gs>
                <a:gs pos="61000">
                  <a:srgbClr val="9F1915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A02D2456-35A3-4324-B834-5891D3191FAC}"/>
                </a:ext>
              </a:extLst>
            </p:cNvPr>
            <p:cNvSpPr/>
            <p:nvPr/>
          </p:nvSpPr>
          <p:spPr>
            <a:xfrm>
              <a:off x="2017059" y="3547957"/>
              <a:ext cx="5109883" cy="108000"/>
            </a:xfrm>
            <a:prstGeom prst="rect">
              <a:avLst/>
            </a:prstGeom>
            <a:gradFill flip="none" rotWithShape="1">
              <a:gsLst>
                <a:gs pos="0">
                  <a:srgbClr val="26336B"/>
                </a:gs>
                <a:gs pos="61000">
                  <a:srgbClr val="9F1915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8D550E69-6FA6-4D5E-ADA3-0082768A2CF9}"/>
              </a:ext>
            </a:extLst>
          </p:cNvPr>
          <p:cNvSpPr txBox="1"/>
          <p:nvPr/>
        </p:nvSpPr>
        <p:spPr>
          <a:xfrm>
            <a:off x="3042586" y="3105835"/>
            <a:ext cx="30588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R" altLang="en-US" sz="3600" b="1" dirty="0" smtClean="0">
                <a:solidFill>
                  <a:prstClr val="black"/>
                </a:solidFill>
                <a:ea typeface="NanumGothic" panose="020D0604000000000000" pitchFamily="34" charset="-127"/>
              </a:rPr>
              <a:t>거리와 </a:t>
            </a:r>
            <a:r>
              <a:rPr kumimoji="1" lang="ko-KR" altLang="en-US" sz="3600" b="1" dirty="0" smtClean="0">
                <a:solidFill>
                  <a:prstClr val="black"/>
                </a:solidFill>
                <a:ea typeface="NanumGothic" panose="020D0604000000000000" pitchFamily="34" charset="-127"/>
              </a:rPr>
              <a:t>유사도</a:t>
            </a:r>
            <a:endParaRPr kumimoji="1" lang="en-US" altLang="ko-KR" sz="3600" b="1" dirty="0" smtClean="0">
              <a:solidFill>
                <a:prstClr val="black"/>
              </a:solidFill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8938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449824" y="6244713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E00F004-BD89-484A-9E0D-939812231C51}"/>
              </a:ext>
            </a:extLst>
          </p:cNvPr>
          <p:cNvSpPr/>
          <p:nvPr/>
        </p:nvSpPr>
        <p:spPr>
          <a:xfrm>
            <a:off x="0" y="6448285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16A8DA-5D55-45BD-85EA-BE2F87A4FCF7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DA6BE5-037F-4552-8536-DD1511D2DB96}"/>
              </a:ext>
            </a:extLst>
          </p:cNvPr>
          <p:cNvSpPr txBox="1"/>
          <p:nvPr/>
        </p:nvSpPr>
        <p:spPr>
          <a:xfrm>
            <a:off x="401050" y="289035"/>
            <a:ext cx="78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b="1" dirty="0" smtClean="0">
                <a:ea typeface="NanumGothic" panose="020D0604000000000000"/>
              </a:rPr>
              <a:t>거리와 유사도</a:t>
            </a:r>
            <a:r>
              <a:rPr lang="en-US" altLang="ko-KR" sz="2000" b="1" dirty="0" smtClean="0">
                <a:ea typeface="NanumGothic" panose="020D0604000000000000"/>
              </a:rPr>
              <a:t>(</a:t>
            </a:r>
            <a:r>
              <a:rPr lang="ko-KR" altLang="en-US" sz="2000" b="1" dirty="0" smtClean="0">
                <a:ea typeface="NanumGothic" panose="020D0604000000000000"/>
              </a:rPr>
              <a:t>대표적 거리 측정 방법</a:t>
            </a:r>
            <a:r>
              <a:rPr lang="en-US" altLang="ko-KR" sz="2000" b="1" dirty="0" smtClean="0">
                <a:ea typeface="NanumGothic" panose="020D0604000000000000"/>
              </a:rPr>
              <a:t>)</a:t>
            </a:r>
            <a:endParaRPr lang="en-US" altLang="ko-KR" sz="2000" b="1" dirty="0">
              <a:ea typeface="NanumGothic" panose="020D060400000000000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AAABA0-83DE-8C46-91C4-A610346B147D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文本框 4">
            <a:extLst>
              <a:ext uri="{FF2B5EF4-FFF2-40B4-BE49-F238E27FC236}">
                <a16:creationId xmlns:a16="http://schemas.microsoft.com/office/drawing/2014/main" id="{914EA958-2EA0-7E43-9809-FACBE5B6E295}"/>
              </a:ext>
            </a:extLst>
          </p:cNvPr>
          <p:cNvSpPr txBox="1"/>
          <p:nvPr/>
        </p:nvSpPr>
        <p:spPr>
          <a:xfrm>
            <a:off x="401050" y="1112126"/>
            <a:ext cx="8219379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 latinLnBrk="1">
              <a:spcAft>
                <a:spcPts val="600"/>
              </a:spcAft>
              <a:buAutoNum type="arabicPeriod"/>
            </a:pPr>
            <a:r>
              <a:rPr lang="ko-KR" altLang="en-US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유클리드 거리</a:t>
            </a:r>
            <a:r>
              <a:rPr lang="en-US" altLang="ko-KR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(Euclidean Distance)</a:t>
            </a:r>
          </a:p>
          <a:p>
            <a:pPr marL="342900" indent="-342900" algn="just" latinLnBrk="1">
              <a:spcAft>
                <a:spcPts val="600"/>
              </a:spcAft>
              <a:buAutoNum type="arabicPeriod"/>
            </a:pPr>
            <a:endParaRPr lang="en-US" altLang="ko-KR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342900" indent="-342900" algn="just" latinLnBrk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대표적으로 사용하는 기하학적 거리 측정 방식</a:t>
            </a:r>
            <a:endParaRPr lang="en-US" altLang="ko-KR" dirty="0" smtClean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342900" indent="-342900" algn="just" latinLnBrk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계산 방식은 아래와 같음</a:t>
            </a:r>
            <a:r>
              <a:rPr lang="en-US" altLang="ko-KR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  <a:p>
            <a:pPr marL="342900" indent="-342900" algn="just" latinLnBrk="1">
              <a:spcAft>
                <a:spcPts val="600"/>
              </a:spcAft>
              <a:buAutoNum type="arabicPeriod"/>
            </a:pPr>
            <a:endParaRPr lang="en-US" altLang="ko-KR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D24E5A-6EF2-4301-BBDA-C418695D3FF3}"/>
              </a:ext>
            </a:extLst>
          </p:cNvPr>
          <p:cNvSpPr txBox="1"/>
          <p:nvPr/>
        </p:nvSpPr>
        <p:spPr>
          <a:xfrm>
            <a:off x="3112109" y="6243078"/>
            <a:ext cx="30171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2021-1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학기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비즈니스 데이터 사이언스</a:t>
            </a:r>
            <a:r>
              <a:rPr lang="en-US" altLang="ko-KR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세미나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2" name="타원 41"/>
          <p:cNvSpPr/>
          <p:nvPr/>
        </p:nvSpPr>
        <p:spPr>
          <a:xfrm>
            <a:off x="1032434" y="4631547"/>
            <a:ext cx="224117" cy="21515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/>
          <p:cNvSpPr/>
          <p:nvPr/>
        </p:nvSpPr>
        <p:spPr>
          <a:xfrm>
            <a:off x="2578708" y="3697511"/>
            <a:ext cx="224117" cy="21515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1798823" y="3252453"/>
                <a:ext cx="22441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 (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ko-KR" dirty="0" smtClean="0"/>
                  <a:t>, …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ko-KR" dirty="0" smtClean="0"/>
                  <a:t>)</a:t>
                </a:r>
                <a:endParaRPr lang="ko-KR" altLang="en-US" dirty="0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8823" y="3252453"/>
                <a:ext cx="2244140" cy="276999"/>
              </a:xfrm>
              <a:prstGeom prst="rect">
                <a:avLst/>
              </a:prstGeom>
              <a:blipFill>
                <a:blip r:embed="rId4"/>
                <a:stretch>
                  <a:fillRect l="-3533" t="-28889" r="-5707" b="-5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/>
              <p:cNvSpPr txBox="1"/>
              <p:nvPr/>
            </p:nvSpPr>
            <p:spPr>
              <a:xfrm>
                <a:off x="240494" y="4918125"/>
                <a:ext cx="227581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 (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ko-KR" dirty="0" smtClean="0"/>
                  <a:t>, …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ko-KR" dirty="0" smtClean="0"/>
                  <a:t>)</a:t>
                </a:r>
                <a:endParaRPr lang="ko-KR" altLang="en-US" dirty="0"/>
              </a:p>
            </p:txBody>
          </p:sp>
        </mc:Choice>
        <mc:Fallback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494" y="4918125"/>
                <a:ext cx="2275816" cy="276999"/>
              </a:xfrm>
              <a:prstGeom prst="rect">
                <a:avLst/>
              </a:prstGeom>
              <a:blipFill>
                <a:blip r:embed="rId5"/>
                <a:stretch>
                  <a:fillRect l="-3476" t="-28889" r="-5348" b="-5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직선 화살표 연결선 8"/>
          <p:cNvCxnSpPr/>
          <p:nvPr/>
        </p:nvCxnSpPr>
        <p:spPr>
          <a:xfrm flipH="1">
            <a:off x="1256551" y="3881155"/>
            <a:ext cx="1354978" cy="8579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/>
          <p:cNvCxnSpPr>
            <a:stCxn id="43" idx="2"/>
          </p:cNvCxnSpPr>
          <p:nvPr/>
        </p:nvCxnSpPr>
        <p:spPr>
          <a:xfrm flipH="1" flipV="1">
            <a:off x="1144491" y="3805087"/>
            <a:ext cx="1434217" cy="1"/>
          </a:xfrm>
          <a:prstGeom prst="straightConnector1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직선 화살표 연결선 23"/>
          <p:cNvCxnSpPr>
            <a:endCxn id="42" idx="0"/>
          </p:cNvCxnSpPr>
          <p:nvPr/>
        </p:nvCxnSpPr>
        <p:spPr>
          <a:xfrm>
            <a:off x="1144491" y="3805087"/>
            <a:ext cx="2" cy="826460"/>
          </a:xfrm>
          <a:prstGeom prst="straightConnector1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/>
              <p:cNvSpPr txBox="1"/>
              <p:nvPr/>
            </p:nvSpPr>
            <p:spPr>
              <a:xfrm>
                <a:off x="2370044" y="4105953"/>
                <a:ext cx="6478120" cy="5636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1" i="1" smtClean="0">
                          <a:latin typeface="Cambria Math" panose="02040503050406030204" pitchFamily="18" charset="0"/>
                        </a:rPr>
                        <m:t>𝑫𝒊𝒔𝒕𝒂𝒏𝒄𝒆</m:t>
                      </m:r>
                      <m:d>
                        <m:dPr>
                          <m:ctrlPr>
                            <a:rPr lang="en-US" altLang="ko-KR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en-US" altLang="ko-KR" b="1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ko-KR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</m:d>
                      <m:r>
                        <a:rPr lang="en-US" altLang="ko-KR" b="1" i="1" smtClean="0"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US" altLang="ko-KR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altLang="ko-KR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1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ko-KR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1" i="1" smtClean="0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lang="en-US" altLang="ko-KR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ko-KR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1" i="1" smtClean="0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  <m:sub>
                                  <m:r>
                                    <a:rPr lang="en-US" altLang="ko-KR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ko-KR" b="1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ko-KR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ko-KR" b="1" i="1" smtClean="0">
                              <a:latin typeface="Cambria Math" panose="02040503050406030204" pitchFamily="18" charset="0"/>
                            </a:rPr>
                            <m:t> +</m:t>
                          </m:r>
                          <m:sSup>
                            <m:sSupPr>
                              <m:ctrlP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ko-KR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1" i="1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lang="en-US" altLang="ko-KR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1" i="1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  <m:sub>
                                  <m:r>
                                    <a:rPr lang="en-US" altLang="ko-KR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altLang="ko-KR" b="1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p>
                          <m:r>
                            <a:rPr lang="en-US" altLang="ko-KR" b="1" i="1" smtClean="0">
                              <a:latin typeface="Cambria Math" panose="02040503050406030204" pitchFamily="18" charset="0"/>
                            </a:rPr>
                            <m:t>+ </m:t>
                          </m:r>
                          <m:r>
                            <a:rPr lang="en-US" altLang="ko-KR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</m:t>
                          </m:r>
                          <m:r>
                            <a:rPr lang="en-US" altLang="ko-KR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ko-KR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1" i="1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lang="en-US" altLang="ko-KR" b="1" i="1" smtClean="0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b>
                              </m:sSub>
                              <m: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1" i="1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  <m:sub>
                                  <m:r>
                                    <a:rPr lang="en-US" altLang="ko-KR" b="1" i="1" smtClean="0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b>
                              </m:sSub>
                              <m: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0044" y="4105953"/>
                <a:ext cx="6478120" cy="56368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5266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898060" y="6540548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E00F004-BD89-484A-9E0D-939812231C51}"/>
              </a:ext>
            </a:extLst>
          </p:cNvPr>
          <p:cNvSpPr/>
          <p:nvPr/>
        </p:nvSpPr>
        <p:spPr>
          <a:xfrm>
            <a:off x="0" y="6448285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16A8DA-5D55-45BD-85EA-BE2F87A4FCF7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DA6BE5-037F-4552-8536-DD1511D2DB96}"/>
              </a:ext>
            </a:extLst>
          </p:cNvPr>
          <p:cNvSpPr txBox="1"/>
          <p:nvPr/>
        </p:nvSpPr>
        <p:spPr>
          <a:xfrm>
            <a:off x="401050" y="289035"/>
            <a:ext cx="78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b="1" dirty="0" smtClean="0">
                <a:ea typeface="NanumGothic" panose="020D0604000000000000"/>
              </a:rPr>
              <a:t>거리와 유사도</a:t>
            </a:r>
            <a:r>
              <a:rPr lang="en-US" altLang="ko-KR" sz="2000" b="1" dirty="0" smtClean="0">
                <a:ea typeface="NanumGothic" panose="020D0604000000000000"/>
              </a:rPr>
              <a:t>(</a:t>
            </a:r>
            <a:r>
              <a:rPr lang="ko-KR" altLang="en-US" sz="2000" b="1" dirty="0" smtClean="0">
                <a:ea typeface="NanumGothic" panose="020D0604000000000000"/>
              </a:rPr>
              <a:t>대표적 거리 측정 방법</a:t>
            </a:r>
            <a:r>
              <a:rPr lang="en-US" altLang="ko-KR" sz="2000" b="1" dirty="0" smtClean="0">
                <a:ea typeface="NanumGothic" panose="020D0604000000000000"/>
              </a:rPr>
              <a:t>)</a:t>
            </a:r>
            <a:endParaRPr lang="en-US" altLang="ko-KR" sz="2000" b="1" dirty="0">
              <a:ea typeface="NanumGothic" panose="020D060400000000000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AAABA0-83DE-8C46-91C4-A610346B147D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文本框 4">
            <a:extLst>
              <a:ext uri="{FF2B5EF4-FFF2-40B4-BE49-F238E27FC236}">
                <a16:creationId xmlns:a16="http://schemas.microsoft.com/office/drawing/2014/main" id="{914EA958-2EA0-7E43-9809-FACBE5B6E295}"/>
              </a:ext>
            </a:extLst>
          </p:cNvPr>
          <p:cNvSpPr txBox="1"/>
          <p:nvPr/>
        </p:nvSpPr>
        <p:spPr>
          <a:xfrm>
            <a:off x="401050" y="1112126"/>
            <a:ext cx="8219379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latinLnBrk="1">
              <a:spcAft>
                <a:spcPts val="600"/>
              </a:spcAft>
            </a:pPr>
            <a:r>
              <a:rPr lang="en-US" altLang="ko-KR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2. </a:t>
            </a:r>
            <a:r>
              <a:rPr lang="ko-KR" altLang="en-US" b="1" dirty="0" err="1" smtClean="0">
                <a:latin typeface="NanumGothic" panose="020D0604000000000000" pitchFamily="34" charset="-127"/>
                <a:ea typeface="NanumGothic" panose="020D0604000000000000" pitchFamily="34" charset="-127"/>
              </a:rPr>
              <a:t>맨하탄</a:t>
            </a:r>
            <a:r>
              <a:rPr lang="ko-KR" altLang="en-US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 거리</a:t>
            </a:r>
            <a:r>
              <a:rPr lang="en-US" altLang="ko-KR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(Manhattan Distance)</a:t>
            </a:r>
          </a:p>
          <a:p>
            <a:pPr algn="just" latinLnBrk="1">
              <a:spcAft>
                <a:spcPts val="600"/>
              </a:spcAft>
            </a:pPr>
            <a:endParaRPr lang="en-US" altLang="ko-KR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342900" indent="-342900" algn="just" latinLnBrk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유클리드 방식과 다르게 각 좌표 간 절댓값의 차이를 이용 </a:t>
            </a:r>
            <a:endParaRPr lang="en-US" altLang="ko-KR" dirty="0" smtClean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342900" indent="-342900" algn="just" latinLnBrk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계산 방식은 아래와 같음</a:t>
            </a:r>
            <a:r>
              <a:rPr lang="en-US" altLang="ko-KR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  <a:p>
            <a:pPr marL="342900" indent="-342900" algn="just" latinLnBrk="1">
              <a:spcAft>
                <a:spcPts val="600"/>
              </a:spcAft>
              <a:buAutoNum type="arabicPeriod"/>
            </a:pPr>
            <a:endParaRPr lang="en-US" altLang="ko-KR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D24E5A-6EF2-4301-BBDA-C418695D3FF3}"/>
              </a:ext>
            </a:extLst>
          </p:cNvPr>
          <p:cNvSpPr txBox="1"/>
          <p:nvPr/>
        </p:nvSpPr>
        <p:spPr>
          <a:xfrm>
            <a:off x="3560345" y="6538913"/>
            <a:ext cx="30171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2021-1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학기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비즈니스 데이터 사이언스</a:t>
            </a:r>
            <a:r>
              <a:rPr lang="en-US" altLang="ko-KR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세미나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2" name="타원 41"/>
          <p:cNvSpPr/>
          <p:nvPr/>
        </p:nvSpPr>
        <p:spPr>
          <a:xfrm>
            <a:off x="1480670" y="4927382"/>
            <a:ext cx="224117" cy="21515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/>
          <p:cNvSpPr/>
          <p:nvPr/>
        </p:nvSpPr>
        <p:spPr>
          <a:xfrm>
            <a:off x="3026944" y="3993346"/>
            <a:ext cx="224117" cy="21515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247059" y="3548288"/>
                <a:ext cx="22441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 (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ko-KR" dirty="0" smtClean="0"/>
                  <a:t>, …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ko-KR" dirty="0" smtClean="0"/>
                  <a:t>)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7059" y="3548288"/>
                <a:ext cx="2244140" cy="276999"/>
              </a:xfrm>
              <a:prstGeom prst="rect">
                <a:avLst/>
              </a:prstGeom>
              <a:blipFill>
                <a:blip r:embed="rId4"/>
                <a:stretch>
                  <a:fillRect l="-3804" t="-28261" r="-5435" b="-5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688730" y="5213960"/>
                <a:ext cx="227581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 (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ko-KR" dirty="0" smtClean="0"/>
                  <a:t>, …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ko-KR" dirty="0" smtClean="0"/>
                  <a:t>)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730" y="5213960"/>
                <a:ext cx="2275816" cy="276999"/>
              </a:xfrm>
              <a:prstGeom prst="rect">
                <a:avLst/>
              </a:prstGeom>
              <a:blipFill>
                <a:blip r:embed="rId5"/>
                <a:stretch>
                  <a:fillRect l="-3753" t="-28261" r="-5362" b="-5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직선 화살표 연결선 8"/>
          <p:cNvCxnSpPr/>
          <p:nvPr/>
        </p:nvCxnSpPr>
        <p:spPr>
          <a:xfrm flipH="1">
            <a:off x="1704787" y="4176990"/>
            <a:ext cx="1354978" cy="8579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/>
          <p:cNvCxnSpPr>
            <a:stCxn id="43" idx="2"/>
          </p:cNvCxnSpPr>
          <p:nvPr/>
        </p:nvCxnSpPr>
        <p:spPr>
          <a:xfrm flipH="1" flipV="1">
            <a:off x="1592727" y="4100922"/>
            <a:ext cx="1434217" cy="1"/>
          </a:xfrm>
          <a:prstGeom prst="straightConnector1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직선 화살표 연결선 23"/>
          <p:cNvCxnSpPr>
            <a:endCxn id="42" idx="0"/>
          </p:cNvCxnSpPr>
          <p:nvPr/>
        </p:nvCxnSpPr>
        <p:spPr>
          <a:xfrm>
            <a:off x="1592727" y="4100922"/>
            <a:ext cx="2" cy="826460"/>
          </a:xfrm>
          <a:prstGeom prst="straightConnector1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3139002" y="4605974"/>
                <a:ext cx="565962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𝑫𝒊𝒔𝒕𝒂𝒏𝒄𝒆</m:t>
                    </m:r>
                    <m:d>
                      <m:d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d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|"/>
                        <m:endChr m:val="|"/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|"/>
                        <m:endChr m:val="|"/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b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</m:oMath>
                </a14:m>
                <a:r>
                  <a:rPr lang="ko-KR" altLang="en-US" b="1" dirty="0" smtClean="0"/>
                  <a:t> </a:t>
                </a:r>
                <a:r>
                  <a:rPr lang="en-US" altLang="ko-KR" b="1" dirty="0" smtClean="0"/>
                  <a:t>+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 </m:t>
                    </m:r>
                  </m:oMath>
                </a14:m>
                <a:r>
                  <a:rPr lang="en-US" altLang="ko-KR" b="1" dirty="0" smtClean="0"/>
                  <a:t>+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b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</m:e>
                    </m:d>
                  </m:oMath>
                </a14:m>
                <a:endParaRPr lang="ko-KR" altLang="en-US" b="1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9002" y="4605974"/>
                <a:ext cx="5659626" cy="276999"/>
              </a:xfrm>
              <a:prstGeom prst="rect">
                <a:avLst/>
              </a:prstGeom>
              <a:blipFill>
                <a:blip r:embed="rId6"/>
                <a:stretch>
                  <a:fillRect l="-1509" t="-28889" b="-5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9466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898060" y="6540548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E00F004-BD89-484A-9E0D-939812231C51}"/>
              </a:ext>
            </a:extLst>
          </p:cNvPr>
          <p:cNvSpPr/>
          <p:nvPr/>
        </p:nvSpPr>
        <p:spPr>
          <a:xfrm>
            <a:off x="0" y="6448285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16A8DA-5D55-45BD-85EA-BE2F87A4FCF7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DA6BE5-037F-4552-8536-DD1511D2DB96}"/>
              </a:ext>
            </a:extLst>
          </p:cNvPr>
          <p:cNvSpPr txBox="1"/>
          <p:nvPr/>
        </p:nvSpPr>
        <p:spPr>
          <a:xfrm>
            <a:off x="392085" y="289035"/>
            <a:ext cx="78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b="1" dirty="0" smtClean="0">
                <a:ea typeface="NanumGothic" panose="020D0604000000000000"/>
              </a:rPr>
              <a:t>거리와 유사도</a:t>
            </a:r>
            <a:r>
              <a:rPr lang="en-US" altLang="ko-KR" sz="2000" b="1" dirty="0" smtClean="0">
                <a:ea typeface="NanumGothic" panose="020D0604000000000000"/>
              </a:rPr>
              <a:t>(</a:t>
            </a:r>
            <a:r>
              <a:rPr lang="ko-KR" altLang="en-US" sz="2000" b="1" dirty="0" smtClean="0">
                <a:ea typeface="NanumGothic" panose="020D0604000000000000"/>
              </a:rPr>
              <a:t>대표적 거리 측정 방법</a:t>
            </a:r>
            <a:r>
              <a:rPr lang="en-US" altLang="ko-KR" sz="2000" b="1" dirty="0" smtClean="0">
                <a:ea typeface="NanumGothic" panose="020D0604000000000000"/>
              </a:rPr>
              <a:t>)</a:t>
            </a:r>
            <a:endParaRPr lang="en-US" altLang="ko-KR" sz="2000" b="1" dirty="0">
              <a:ea typeface="NanumGothic" panose="020D060400000000000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AAABA0-83DE-8C46-91C4-A610346B147D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文本框 4">
            <a:extLst>
              <a:ext uri="{FF2B5EF4-FFF2-40B4-BE49-F238E27FC236}">
                <a16:creationId xmlns:a16="http://schemas.microsoft.com/office/drawing/2014/main" id="{914EA958-2EA0-7E43-9809-FACBE5B6E295}"/>
              </a:ext>
            </a:extLst>
          </p:cNvPr>
          <p:cNvSpPr txBox="1"/>
          <p:nvPr/>
        </p:nvSpPr>
        <p:spPr>
          <a:xfrm>
            <a:off x="401050" y="1112126"/>
            <a:ext cx="8219379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latinLnBrk="1">
              <a:spcAft>
                <a:spcPts val="600"/>
              </a:spcAft>
            </a:pPr>
            <a:r>
              <a:rPr lang="en-US" altLang="ko-KR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r>
              <a:rPr lang="en-US" altLang="ko-KR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  <a:r>
              <a:rPr lang="ko-KR" altLang="en-US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코사인 거리</a:t>
            </a:r>
            <a:r>
              <a:rPr lang="en-US" altLang="ko-KR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(Cosine Distance)</a:t>
            </a:r>
          </a:p>
          <a:p>
            <a:pPr algn="just" latinLnBrk="1">
              <a:spcAft>
                <a:spcPts val="600"/>
              </a:spcAft>
            </a:pPr>
            <a:endParaRPr lang="en-US" altLang="ko-KR" b="1" dirty="0" smtClean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 algn="just" latinLnBrk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각 벡터 간 각도의 차이</a:t>
            </a:r>
            <a:r>
              <a:rPr lang="en-US" altLang="ko-KR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즉 벡터의 내적 연산을 이용</a:t>
            </a:r>
            <a:endParaRPr lang="en-US" altLang="ko-KR" dirty="0" smtClean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 algn="just" latinLnBrk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계산 방식은 아래와 같음</a:t>
            </a:r>
            <a:r>
              <a:rPr lang="en-US" altLang="ko-KR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  <a:p>
            <a:pPr marL="342900" indent="-342900" algn="just" latinLnBrk="1">
              <a:spcAft>
                <a:spcPts val="600"/>
              </a:spcAft>
              <a:buAutoNum type="arabicPeriod"/>
            </a:pPr>
            <a:endParaRPr lang="en-US" altLang="ko-KR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D24E5A-6EF2-4301-BBDA-C418695D3FF3}"/>
              </a:ext>
            </a:extLst>
          </p:cNvPr>
          <p:cNvSpPr txBox="1"/>
          <p:nvPr/>
        </p:nvSpPr>
        <p:spPr>
          <a:xfrm>
            <a:off x="3560345" y="6538913"/>
            <a:ext cx="30171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2021-1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학기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비즈니스 데이터 사이언스</a:t>
            </a:r>
            <a:r>
              <a:rPr lang="en-US" altLang="ko-KR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세미나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2" name="타원 41"/>
          <p:cNvSpPr/>
          <p:nvPr/>
        </p:nvSpPr>
        <p:spPr>
          <a:xfrm>
            <a:off x="1480670" y="4389500"/>
            <a:ext cx="224117" cy="21515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/>
          <p:cNvSpPr/>
          <p:nvPr/>
        </p:nvSpPr>
        <p:spPr>
          <a:xfrm>
            <a:off x="3026944" y="3455464"/>
            <a:ext cx="224117" cy="21515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247059" y="3010406"/>
                <a:ext cx="22441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 (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ko-KR" dirty="0" smtClean="0"/>
                  <a:t>, …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ko-KR" dirty="0" smtClean="0"/>
                  <a:t>)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7059" y="3010406"/>
                <a:ext cx="2244140" cy="276999"/>
              </a:xfrm>
              <a:prstGeom prst="rect">
                <a:avLst/>
              </a:prstGeom>
              <a:blipFill>
                <a:blip r:embed="rId4"/>
                <a:stretch>
                  <a:fillRect l="-3804" t="-28889" r="-5435" b="-5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566879" y="4717617"/>
                <a:ext cx="227581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 (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ko-KR" dirty="0" smtClean="0"/>
                  <a:t>, …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ko-KR" dirty="0" smtClean="0"/>
                  <a:t>)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879" y="4717617"/>
                <a:ext cx="2275816" cy="276999"/>
              </a:xfrm>
              <a:prstGeom prst="rect">
                <a:avLst/>
              </a:prstGeom>
              <a:blipFill>
                <a:blip r:embed="rId5"/>
                <a:stretch>
                  <a:fillRect l="-3753" t="-28889" r="-5362" b="-5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직선 화살표 연결선 3"/>
          <p:cNvCxnSpPr>
            <a:stCxn id="42" idx="7"/>
            <a:endCxn id="43" idx="3"/>
          </p:cNvCxnSpPr>
          <p:nvPr/>
        </p:nvCxnSpPr>
        <p:spPr>
          <a:xfrm flipV="1">
            <a:off x="1671966" y="3639109"/>
            <a:ext cx="1387799" cy="7818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/>
          <p:cNvCxnSpPr/>
          <p:nvPr/>
        </p:nvCxnSpPr>
        <p:spPr>
          <a:xfrm flipV="1">
            <a:off x="1668929" y="4410604"/>
            <a:ext cx="1470073" cy="19719"/>
          </a:xfrm>
          <a:prstGeom prst="straightConnector1">
            <a:avLst/>
          </a:prstGeom>
          <a:ln w="2857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원호 9"/>
          <p:cNvSpPr/>
          <p:nvPr/>
        </p:nvSpPr>
        <p:spPr>
          <a:xfrm>
            <a:off x="2178424" y="4123765"/>
            <a:ext cx="68635" cy="593852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309228" y="4080287"/>
                <a:ext cx="254678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9228" y="4080287"/>
                <a:ext cx="254678" cy="276999"/>
              </a:xfrm>
              <a:prstGeom prst="rect">
                <a:avLst/>
              </a:prstGeom>
              <a:blipFill>
                <a:blip r:embed="rId6"/>
                <a:stretch>
                  <a:fillRect l="-9524" r="-4762" b="-65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697026" y="3629352"/>
                <a:ext cx="5052527" cy="15622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1" i="1" smtClean="0">
                          <a:latin typeface="Cambria Math" panose="02040503050406030204" pitchFamily="18" charset="0"/>
                        </a:rPr>
                        <m:t>𝑫𝒊𝒔𝒕𝒂𝒏𝒄𝒆</m:t>
                      </m:r>
                      <m:d>
                        <m:dPr>
                          <m:ctrlPr>
                            <a:rPr lang="en-US" altLang="ko-KR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</m:d>
                    </m:oMath>
                  </m:oMathPara>
                </a14:m>
                <a:endParaRPr lang="en-US" altLang="ko-KR" sz="2000" b="1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ko-KR" sz="2000" b="1" i="1" smtClean="0">
                          <a:latin typeface="Cambria Math" panose="02040503050406030204" pitchFamily="18" charset="0"/>
                        </a:rPr>
                        <m:t> − </m:t>
                      </m:r>
                      <m:f>
                        <m:fPr>
                          <m:ctrlPr>
                            <a:rPr lang="en-US" altLang="ko-KR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ko-KR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b="1" i="1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</m:d>
                          <m:r>
                            <a:rPr lang="en-US" altLang="ko-KR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ko-KR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b="1" i="1"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ko-KR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</m:d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ko-KR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b="1" i="1" smtClean="0"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altLang="ko-KR" sz="2000" b="1" i="1" dirty="0" smtClean="0">
                  <a:latin typeface="Cambria Math" panose="02040503050406030204" pitchFamily="18" charset="0"/>
                </a:endParaRPr>
              </a:p>
              <a:p>
                <a:pPr algn="ctr"/>
                <a:r>
                  <a:rPr lang="en-US" altLang="ko-KR" sz="2000" b="1" dirty="0" smtClean="0"/>
                  <a:t>= </a:t>
                </a:r>
                <a14:m>
                  <m:oMath xmlns:m="http://schemas.openxmlformats.org/officeDocument/2006/math">
                    <m:r>
                      <a:rPr lang="en-US" altLang="ko-KR" sz="2400" b="1" i="0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ko-KR" sz="2400" b="1" i="0" smtClean="0">
                        <a:latin typeface="Cambria Math" panose="02040503050406030204" pitchFamily="18" charset="0"/>
                      </a:rPr>
                      <m:t> − </m:t>
                    </m:r>
                    <m:f>
                      <m:fPr>
                        <m:ctrlPr>
                          <a:rPr lang="en-US" altLang="ko-KR" sz="2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2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1" i="1" smtClean="0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ko-KR" sz="24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sz="2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1" i="1" smtClean="0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b>
                            <m:r>
                              <a:rPr lang="en-US" altLang="ko-KR" sz="24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ko-KR" sz="2400" b="1" i="1" smtClean="0">
                            <a:latin typeface="Cambria Math" panose="02040503050406030204" pitchFamily="18" charset="0"/>
                          </a:rPr>
                          <m:t> +</m:t>
                        </m:r>
                        <m:sSub>
                          <m:sSubPr>
                            <m:ctrlPr>
                              <a:rPr lang="en-US" altLang="ko-KR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1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sz="2400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ko-KR" sz="24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1" i="1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b>
                            <m:r>
                              <a:rPr lang="en-US" altLang="ko-KR" sz="24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altLang="ko-KR" sz="2400" b="1" i="1" smtClean="0">
                            <a:latin typeface="Cambria Math" panose="02040503050406030204" pitchFamily="18" charset="0"/>
                          </a:rPr>
                          <m:t> + </m:t>
                        </m:r>
                        <m:r>
                          <a:rPr lang="en-US" altLang="ko-KR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 +</m:t>
                        </m:r>
                        <m:sSub>
                          <m:sSubPr>
                            <m:ctrlPr>
                              <a:rPr lang="en-US" altLang="ko-KR" sz="2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1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sz="2400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ko-KR" sz="2400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1" i="1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b>
                            <m:r>
                              <a:rPr lang="en-US" altLang="ko-KR" sz="2400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ko-KR" sz="2400" b="1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altLang="ko-KR" sz="24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400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sz="24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400" b="1" i="1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ko-KR" sz="2400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altLang="ko-KR" sz="2400" b="1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ko-KR" sz="24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400" b="1" i="1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ko-KR" sz="2400" b="1" i="1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altLang="ko-KR" sz="2400" b="1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ko-KR" sz="2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  <m:sSub>
                                  <m:sSubPr>
                                    <m:ctrlPr>
                                      <a:rPr lang="en-US" altLang="ko-KR" sz="24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400" b="1" i="1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ko-KR" sz="2400" b="1" i="1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sub>
                                </m:sSub>
                                <m:r>
                                  <a:rPr lang="en-US" altLang="ko-KR" sz="2400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ko-KR" sz="24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</m:e>
                        </m:rad>
                        <m:rad>
                          <m:radPr>
                            <m:degHide m:val="on"/>
                            <m:ctrlPr>
                              <a:rPr lang="en-US" altLang="ko-KR" sz="2400" b="1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altLang="ko-KR" sz="24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400" b="1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sz="24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400" b="1" i="1" smtClean="0"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e>
                                  <m:sub>
                                    <m:r>
                                      <a:rPr lang="en-US" altLang="ko-KR" sz="2400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altLang="ko-KR" sz="2400" b="1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ko-KR" sz="24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400" b="1" i="1" smtClean="0"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e>
                                  <m:sub>
                                    <m:r>
                                      <a:rPr lang="en-US" altLang="ko-KR" sz="2400" b="1" i="1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altLang="ko-KR" sz="2400" b="1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ko-KR" sz="2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  <m:sSub>
                                  <m:sSubPr>
                                    <m:ctrlPr>
                                      <a:rPr lang="en-US" altLang="ko-KR" sz="24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400" b="1" i="1" smtClean="0"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e>
                                  <m:sub>
                                    <m:r>
                                      <a:rPr lang="en-US" altLang="ko-KR" sz="2400" b="1" i="1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sub>
                                </m:sSub>
                                <m:r>
                                  <a:rPr lang="en-US" altLang="ko-KR" sz="2400" b="1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ko-KR" sz="2400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7026" y="3629352"/>
                <a:ext cx="5052527" cy="15622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8789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898060" y="6540548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E00F004-BD89-484A-9E0D-939812231C51}"/>
              </a:ext>
            </a:extLst>
          </p:cNvPr>
          <p:cNvSpPr/>
          <p:nvPr/>
        </p:nvSpPr>
        <p:spPr>
          <a:xfrm>
            <a:off x="0" y="6448285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16A8DA-5D55-45BD-85EA-BE2F87A4FCF7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DA6BE5-037F-4552-8536-DD1511D2DB96}"/>
              </a:ext>
            </a:extLst>
          </p:cNvPr>
          <p:cNvSpPr txBox="1"/>
          <p:nvPr/>
        </p:nvSpPr>
        <p:spPr>
          <a:xfrm>
            <a:off x="392085" y="289035"/>
            <a:ext cx="78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b="1" dirty="0" smtClean="0">
                <a:ea typeface="NanumGothic" panose="020D0604000000000000"/>
              </a:rPr>
              <a:t>거리와 유사도</a:t>
            </a:r>
            <a:r>
              <a:rPr lang="en-US" altLang="ko-KR" sz="2000" b="1" dirty="0" smtClean="0">
                <a:ea typeface="NanumGothic" panose="020D0604000000000000"/>
              </a:rPr>
              <a:t>(</a:t>
            </a:r>
            <a:r>
              <a:rPr lang="ko-KR" altLang="en-US" sz="2000" b="1" dirty="0" smtClean="0">
                <a:ea typeface="NanumGothic" panose="020D0604000000000000"/>
              </a:rPr>
              <a:t>대표적 거리 측정 방법</a:t>
            </a:r>
            <a:r>
              <a:rPr lang="en-US" altLang="ko-KR" sz="2000" b="1" dirty="0" smtClean="0">
                <a:ea typeface="NanumGothic" panose="020D0604000000000000"/>
              </a:rPr>
              <a:t>)</a:t>
            </a:r>
            <a:endParaRPr lang="en-US" altLang="ko-KR" sz="2000" b="1" dirty="0">
              <a:ea typeface="NanumGothic" panose="020D060400000000000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AAABA0-83DE-8C46-91C4-A610346B147D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文本框 4">
            <a:extLst>
              <a:ext uri="{FF2B5EF4-FFF2-40B4-BE49-F238E27FC236}">
                <a16:creationId xmlns:a16="http://schemas.microsoft.com/office/drawing/2014/main" id="{914EA958-2EA0-7E43-9809-FACBE5B6E295}"/>
              </a:ext>
            </a:extLst>
          </p:cNvPr>
          <p:cNvSpPr txBox="1"/>
          <p:nvPr/>
        </p:nvSpPr>
        <p:spPr>
          <a:xfrm>
            <a:off x="401050" y="1103161"/>
            <a:ext cx="8219379" cy="2139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latinLnBrk="1">
              <a:spcAft>
                <a:spcPts val="600"/>
              </a:spcAft>
            </a:pPr>
            <a:r>
              <a:rPr lang="en-US" altLang="ko-KR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4</a:t>
            </a:r>
            <a:r>
              <a:rPr lang="en-US" altLang="ko-KR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  <a:r>
              <a:rPr lang="ko-KR" altLang="en-US" b="1" dirty="0" err="1" smtClean="0">
                <a:latin typeface="NanumGothic" panose="020D0604000000000000" pitchFamily="34" charset="-127"/>
                <a:ea typeface="NanumGothic" panose="020D0604000000000000" pitchFamily="34" charset="-127"/>
              </a:rPr>
              <a:t>자카드</a:t>
            </a:r>
            <a:r>
              <a:rPr lang="ko-KR" altLang="en-US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 거리</a:t>
            </a:r>
            <a:r>
              <a:rPr lang="en-US" altLang="ko-KR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lang="en-US" altLang="ko-KR" b="1" dirty="0" err="1" smtClean="0">
                <a:latin typeface="NanumGothic" panose="020D0604000000000000" pitchFamily="34" charset="-127"/>
                <a:ea typeface="NanumGothic" panose="020D0604000000000000" pitchFamily="34" charset="-127"/>
              </a:rPr>
              <a:t>Jaccard</a:t>
            </a:r>
            <a:r>
              <a:rPr lang="en-US" altLang="ko-KR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 Distance)</a:t>
            </a:r>
          </a:p>
          <a:p>
            <a:pPr algn="just" latinLnBrk="1">
              <a:spcAft>
                <a:spcPts val="600"/>
              </a:spcAft>
            </a:pPr>
            <a:endParaRPr lang="en-US" altLang="ko-KR" dirty="0" smtClean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 algn="just" latinLnBrk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하나의 객체를 특징</a:t>
            </a:r>
            <a:r>
              <a:rPr lang="en-US" altLang="ko-KR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(feature)</a:t>
            </a:r>
            <a:r>
              <a:rPr lang="ko-KR" altLang="en-US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들의 집합으로 해석</a:t>
            </a:r>
            <a:endParaRPr lang="en-US" altLang="ko-KR" dirty="0" smtClean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 algn="just" latinLnBrk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두 집합 간 합집합 크기 및 교집합 크기의 비율을 통해 계산</a:t>
            </a:r>
            <a:endParaRPr lang="en-US" altLang="ko-KR" dirty="0" smtClean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 algn="just" latinLnBrk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계산 방식은 아래와 같음</a:t>
            </a:r>
            <a:r>
              <a:rPr lang="en-US" altLang="ko-KR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  <a:p>
            <a:pPr marL="342900" indent="-342900" algn="just" latinLnBrk="1">
              <a:spcAft>
                <a:spcPts val="600"/>
              </a:spcAft>
              <a:buAutoNum type="arabicPeriod"/>
            </a:pPr>
            <a:endParaRPr lang="en-US" altLang="ko-KR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D24E5A-6EF2-4301-BBDA-C418695D3FF3}"/>
              </a:ext>
            </a:extLst>
          </p:cNvPr>
          <p:cNvSpPr txBox="1"/>
          <p:nvPr/>
        </p:nvSpPr>
        <p:spPr>
          <a:xfrm>
            <a:off x="3560345" y="6538913"/>
            <a:ext cx="30171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2021-1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학기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비즈니스 데이터 사이언스</a:t>
            </a:r>
            <a:r>
              <a:rPr lang="en-US" altLang="ko-KR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세미나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560345" y="3907585"/>
                <a:ext cx="4747729" cy="104060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400" b="1" i="1" smtClean="0">
                          <a:latin typeface="Cambria Math" panose="02040503050406030204" pitchFamily="18" charset="0"/>
                        </a:rPr>
                        <m:t>𝑫𝒊𝒔𝒕𝒂𝒏𝒄𝒆</m:t>
                      </m:r>
                      <m:d>
                        <m:dPr>
                          <m:ctrlPr>
                            <a:rPr lang="en-US" altLang="ko-KR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en-US" altLang="ko-KR" sz="2400" b="1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ko-KR" sz="2400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</m:d>
                      <m:r>
                        <a:rPr lang="en-US" altLang="ko-KR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4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ko-KR" sz="2400" b="1" i="1" smtClean="0">
                          <a:latin typeface="Cambria Math" panose="02040503050406030204" pitchFamily="18" charset="0"/>
                        </a:rPr>
                        <m:t> − </m:t>
                      </m:r>
                      <m:f>
                        <m:fPr>
                          <m:ctrlPr>
                            <a:rPr lang="en-US" altLang="ko-KR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sz="2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400" b="1" i="1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  <m:r>
                                <a:rPr lang="en-US" altLang="ko-KR" sz="2400" b="1" i="1">
                                  <a:latin typeface="Cambria Math" panose="02040503050406030204" pitchFamily="18" charset="0"/>
                                </a:rPr>
                                <m:t> ∩</m:t>
                              </m:r>
                              <m:r>
                                <a:rPr lang="en-US" altLang="ko-KR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𝑩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400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  <m:r>
                                <a:rPr lang="en-US" altLang="ko-KR" sz="2400" b="1" i="1" smtClean="0">
                                  <a:latin typeface="Cambria Math" panose="02040503050406030204" pitchFamily="18" charset="0"/>
                                </a:rPr>
                                <m:t> ∪</m:t>
                              </m:r>
                              <m:r>
                                <a:rPr lang="en-US" altLang="ko-KR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𝑩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altLang="ko-KR" b="1" i="1" dirty="0" smtClean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0345" y="3907585"/>
                <a:ext cx="4747729" cy="104060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타원 1"/>
          <p:cNvSpPr/>
          <p:nvPr/>
        </p:nvSpPr>
        <p:spPr>
          <a:xfrm>
            <a:off x="591671" y="3629352"/>
            <a:ext cx="1685364" cy="1615001"/>
          </a:xfrm>
          <a:prstGeom prst="ellipse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/>
          <p:cNvSpPr/>
          <p:nvPr/>
        </p:nvSpPr>
        <p:spPr>
          <a:xfrm>
            <a:off x="1561643" y="3647604"/>
            <a:ext cx="1685364" cy="1615001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2328123" y="3326949"/>
            <a:ext cx="573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B</a:t>
            </a:r>
            <a:endParaRPr lang="ko-KR" altLang="en-US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1269395" y="3326949"/>
            <a:ext cx="573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A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568186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10947476-30A4-4D18-B37A-7202071E6FA4}"/>
              </a:ext>
            </a:extLst>
          </p:cNvPr>
          <p:cNvGrpSpPr/>
          <p:nvPr/>
        </p:nvGrpSpPr>
        <p:grpSpPr>
          <a:xfrm>
            <a:off x="2017059" y="2674141"/>
            <a:ext cx="5109883" cy="1509718"/>
            <a:chOff x="2017059" y="2146239"/>
            <a:chExt cx="5109883" cy="1509718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4D611EA8-473B-46FA-8122-85B437180227}"/>
                </a:ext>
              </a:extLst>
            </p:cNvPr>
            <p:cNvSpPr/>
            <p:nvPr/>
          </p:nvSpPr>
          <p:spPr>
            <a:xfrm>
              <a:off x="2017059" y="2146239"/>
              <a:ext cx="5109883" cy="108000"/>
            </a:xfrm>
            <a:prstGeom prst="rect">
              <a:avLst/>
            </a:prstGeom>
            <a:gradFill flip="none" rotWithShape="1">
              <a:gsLst>
                <a:gs pos="0">
                  <a:srgbClr val="26336B"/>
                </a:gs>
                <a:gs pos="61000">
                  <a:srgbClr val="9F1915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A02D2456-35A3-4324-B834-5891D3191FAC}"/>
                </a:ext>
              </a:extLst>
            </p:cNvPr>
            <p:cNvSpPr/>
            <p:nvPr/>
          </p:nvSpPr>
          <p:spPr>
            <a:xfrm>
              <a:off x="2017059" y="3547957"/>
              <a:ext cx="5109883" cy="108000"/>
            </a:xfrm>
            <a:prstGeom prst="rect">
              <a:avLst/>
            </a:prstGeom>
            <a:gradFill flip="none" rotWithShape="1">
              <a:gsLst>
                <a:gs pos="0">
                  <a:srgbClr val="26336B"/>
                </a:gs>
                <a:gs pos="61000">
                  <a:srgbClr val="9F1915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8D550E69-6FA6-4D5E-ADA3-0082768A2CF9}"/>
              </a:ext>
            </a:extLst>
          </p:cNvPr>
          <p:cNvSpPr txBox="1"/>
          <p:nvPr/>
        </p:nvSpPr>
        <p:spPr>
          <a:xfrm>
            <a:off x="2528824" y="3105835"/>
            <a:ext cx="40863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R" altLang="en-US" sz="3600" b="1" dirty="0" smtClean="0">
                <a:solidFill>
                  <a:prstClr val="black"/>
                </a:solidFill>
                <a:ea typeface="NanumGothic" panose="020D0604000000000000" pitchFamily="34" charset="-127"/>
              </a:rPr>
              <a:t>대표적 군집화 </a:t>
            </a:r>
            <a:r>
              <a:rPr kumimoji="1" lang="ko-KR" altLang="en-US" sz="3600" b="1" dirty="0" smtClean="0">
                <a:solidFill>
                  <a:prstClr val="black"/>
                </a:solidFill>
                <a:ea typeface="NanumGothic" panose="020D0604000000000000" pitchFamily="34" charset="-127"/>
              </a:rPr>
              <a:t>기법</a:t>
            </a:r>
            <a:endParaRPr kumimoji="1" lang="en-US" altLang="ko-KR" sz="3600" b="1" dirty="0" smtClean="0">
              <a:solidFill>
                <a:prstClr val="black"/>
              </a:solidFill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97025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898060" y="6540548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E00F004-BD89-484A-9E0D-939812231C51}"/>
              </a:ext>
            </a:extLst>
          </p:cNvPr>
          <p:cNvSpPr/>
          <p:nvPr/>
        </p:nvSpPr>
        <p:spPr>
          <a:xfrm>
            <a:off x="0" y="6448285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16A8DA-5D55-45BD-85EA-BE2F87A4FCF7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DA6BE5-037F-4552-8536-DD1511D2DB96}"/>
              </a:ext>
            </a:extLst>
          </p:cNvPr>
          <p:cNvSpPr txBox="1"/>
          <p:nvPr/>
        </p:nvSpPr>
        <p:spPr>
          <a:xfrm>
            <a:off x="401050" y="289035"/>
            <a:ext cx="78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b="1" dirty="0" smtClean="0">
                <a:ea typeface="NanumGothic" panose="020D0604000000000000"/>
              </a:rPr>
              <a:t>대표적 군집화 기법</a:t>
            </a:r>
            <a:r>
              <a:rPr lang="en-US" altLang="ko-KR" sz="2000" b="1" dirty="0" smtClean="0">
                <a:ea typeface="NanumGothic" panose="020D0604000000000000"/>
              </a:rPr>
              <a:t>(K-Means Clustering)</a:t>
            </a:r>
            <a:endParaRPr lang="en-US" altLang="ko-KR" sz="2000" b="1" dirty="0">
              <a:ea typeface="NanumGothic" panose="020D060400000000000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AAABA0-83DE-8C46-91C4-A610346B147D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文本框 4">
            <a:extLst>
              <a:ext uri="{FF2B5EF4-FFF2-40B4-BE49-F238E27FC236}">
                <a16:creationId xmlns:a16="http://schemas.microsoft.com/office/drawing/2014/main" id="{914EA958-2EA0-7E43-9809-FACBE5B6E295}"/>
              </a:ext>
            </a:extLst>
          </p:cNvPr>
          <p:cNvSpPr txBox="1"/>
          <p:nvPr/>
        </p:nvSpPr>
        <p:spPr>
          <a:xfrm>
            <a:off x="401050" y="1112126"/>
            <a:ext cx="821937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latinLnBrk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K-</a:t>
            </a:r>
            <a:r>
              <a:rPr lang="ko-KR" altLang="en-US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평균 군집화 알고리즘</a:t>
            </a:r>
            <a:endParaRPr lang="en-US" altLang="ko-KR" b="1" dirty="0" smtClean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algn="just" latinLnBrk="1">
              <a:spcAft>
                <a:spcPts val="600"/>
              </a:spcAft>
            </a:pPr>
            <a:r>
              <a:rPr lang="en-US" altLang="ko-KR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-&gt; </a:t>
            </a:r>
            <a:r>
              <a:rPr lang="en-US" altLang="ko-KR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Centroid</a:t>
            </a:r>
            <a:r>
              <a:rPr lang="ko-KR" altLang="en-US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를 중심으로 하는 거리 기반의 군집화 알고리즘의 한 종류</a:t>
            </a:r>
            <a:endParaRPr lang="en-US" altLang="ko-KR" dirty="0" smtClean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algn="just" latinLnBrk="1">
              <a:spcAft>
                <a:spcPts val="600"/>
              </a:spcAft>
            </a:pPr>
            <a:endParaRPr lang="en-US" altLang="ko-KR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D24E5A-6EF2-4301-BBDA-C418695D3FF3}"/>
              </a:ext>
            </a:extLst>
          </p:cNvPr>
          <p:cNvSpPr txBox="1"/>
          <p:nvPr/>
        </p:nvSpPr>
        <p:spPr>
          <a:xfrm>
            <a:off x="3560345" y="6538913"/>
            <a:ext cx="30171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2021-1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학기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비즈니스 데이터 사이언스</a:t>
            </a:r>
            <a:r>
              <a:rPr lang="en-US" altLang="ko-KR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세미나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706079" y="2862386"/>
            <a:ext cx="432995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 smtClean="0"/>
              <a:t>데이터 세트에서 </a:t>
            </a:r>
            <a:r>
              <a:rPr lang="en-US" altLang="ko-KR" dirty="0" smtClean="0"/>
              <a:t>K</a:t>
            </a:r>
            <a:r>
              <a:rPr lang="ko-KR" altLang="en-US" dirty="0" smtClean="0"/>
              <a:t>개의 </a:t>
            </a:r>
            <a:r>
              <a:rPr lang="en-US" altLang="ko-KR" dirty="0" smtClean="0"/>
              <a:t>centroids</a:t>
            </a:r>
            <a:r>
              <a:rPr lang="ko-KR" altLang="en-US" dirty="0" smtClean="0"/>
              <a:t>를 임의로 지정</a:t>
            </a:r>
            <a:endParaRPr lang="en-US" altLang="ko-KR" dirty="0" smtClean="0"/>
          </a:p>
          <a:p>
            <a:pPr marL="342900" indent="-342900">
              <a:buAutoNum type="arabicPeriod"/>
            </a:pPr>
            <a:endParaRPr lang="en-US" altLang="ko-KR" dirty="0" smtClean="0"/>
          </a:p>
          <a:p>
            <a:pPr marL="342900" indent="-342900">
              <a:buAutoNum type="arabicPeriod"/>
            </a:pPr>
            <a:r>
              <a:rPr lang="ko-KR" altLang="en-US" dirty="0" smtClean="0"/>
              <a:t>각 데이터들을 가장 가까운 </a:t>
            </a:r>
            <a:r>
              <a:rPr lang="en-US" altLang="ko-KR" dirty="0" smtClean="0"/>
              <a:t>centroids</a:t>
            </a:r>
            <a:r>
              <a:rPr lang="ko-KR" altLang="en-US" dirty="0" smtClean="0"/>
              <a:t>가 속한 그룹에 할당</a:t>
            </a:r>
            <a:endParaRPr lang="en-US" altLang="ko-KR" dirty="0" smtClean="0"/>
          </a:p>
          <a:p>
            <a:pPr marL="342900" indent="-342900">
              <a:buAutoNum type="arabicPeriod"/>
            </a:pPr>
            <a:endParaRPr lang="en-US" altLang="ko-KR" dirty="0" smtClean="0"/>
          </a:p>
          <a:p>
            <a:pPr marL="342900" indent="-342900">
              <a:buAutoNum type="arabicPeriod"/>
            </a:pPr>
            <a:r>
              <a:rPr lang="en-US" altLang="ko-KR" dirty="0" smtClean="0"/>
              <a:t>2</a:t>
            </a:r>
            <a:r>
              <a:rPr lang="ko-KR" altLang="en-US" dirty="0" smtClean="0"/>
              <a:t>번 과정에서 할당된 결과를 바탕으로 </a:t>
            </a:r>
            <a:r>
              <a:rPr lang="en-US" altLang="ko-KR" dirty="0" smtClean="0"/>
              <a:t>centroids</a:t>
            </a:r>
            <a:r>
              <a:rPr lang="ko-KR" altLang="en-US" dirty="0" smtClean="0"/>
              <a:t>를 </a:t>
            </a:r>
            <a:r>
              <a:rPr lang="ko-KR" altLang="en-US" dirty="0" smtClean="0"/>
              <a:t>수정</a:t>
            </a:r>
            <a:endParaRPr lang="en-US" altLang="ko-KR" dirty="0"/>
          </a:p>
          <a:p>
            <a:r>
              <a:rPr lang="en-US" altLang="ko-KR" dirty="0" smtClean="0"/>
              <a:t>(</a:t>
            </a:r>
            <a:r>
              <a:rPr lang="ko-KR" altLang="en-US" dirty="0" smtClean="0"/>
              <a:t>각 클러스터 데이터들의 평균 좌표 벡터</a:t>
            </a:r>
            <a:r>
              <a:rPr lang="en-US" altLang="ko-KR" dirty="0" smtClean="0"/>
              <a:t>)</a:t>
            </a:r>
          </a:p>
          <a:p>
            <a:endParaRPr lang="en-US" altLang="ko-KR" dirty="0" smtClean="0"/>
          </a:p>
          <a:p>
            <a:r>
              <a:rPr lang="en-US" altLang="ko-KR" b="1" dirty="0" smtClean="0"/>
              <a:t>4. Centroids</a:t>
            </a:r>
            <a:r>
              <a:rPr lang="ko-KR" altLang="en-US" b="1" dirty="0" smtClean="0"/>
              <a:t>가 더 이상 변하지 않을 때까지</a:t>
            </a:r>
            <a:r>
              <a:rPr lang="en-US" altLang="ko-KR" b="1" dirty="0" smtClean="0"/>
              <a:t>,   2~3</a:t>
            </a:r>
            <a:r>
              <a:rPr lang="ko-KR" altLang="en-US" b="1" dirty="0" smtClean="0"/>
              <a:t>번 과정을 반복</a:t>
            </a:r>
            <a:endParaRPr lang="ko-KR" altLang="en-US" b="1" dirty="0"/>
          </a:p>
        </p:txBody>
      </p:sp>
      <p:sp>
        <p:nvSpPr>
          <p:cNvPr id="7" name="TextBox 6"/>
          <p:cNvSpPr txBox="1"/>
          <p:nvPr/>
        </p:nvSpPr>
        <p:spPr>
          <a:xfrm>
            <a:off x="401050" y="2279672"/>
            <a:ext cx="36181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00B0F0"/>
                </a:solidFill>
              </a:rPr>
              <a:t>K : </a:t>
            </a:r>
            <a:r>
              <a:rPr lang="ko-KR" altLang="en-US" sz="1600" b="1" dirty="0" smtClean="0">
                <a:solidFill>
                  <a:srgbClr val="00B0F0"/>
                </a:solidFill>
              </a:rPr>
              <a:t>클러스터</a:t>
            </a:r>
            <a:r>
              <a:rPr lang="en-US" altLang="ko-KR" sz="1600" b="1" dirty="0" smtClean="0">
                <a:solidFill>
                  <a:srgbClr val="00B0F0"/>
                </a:solidFill>
              </a:rPr>
              <a:t>(</a:t>
            </a:r>
            <a:r>
              <a:rPr lang="ko-KR" altLang="en-US" sz="1600" b="1" dirty="0" smtClean="0">
                <a:solidFill>
                  <a:srgbClr val="00B0F0"/>
                </a:solidFill>
              </a:rPr>
              <a:t>군집</a:t>
            </a:r>
            <a:r>
              <a:rPr lang="en-US" altLang="ko-KR" sz="1600" b="1" dirty="0" smtClean="0">
                <a:solidFill>
                  <a:srgbClr val="00B0F0"/>
                </a:solidFill>
              </a:rPr>
              <a:t>)</a:t>
            </a:r>
            <a:r>
              <a:rPr lang="ko-KR" altLang="en-US" sz="1600" b="1" dirty="0" smtClean="0">
                <a:solidFill>
                  <a:srgbClr val="00B0F0"/>
                </a:solidFill>
              </a:rPr>
              <a:t>의 </a:t>
            </a:r>
            <a:r>
              <a:rPr lang="ko-KR" altLang="en-US" sz="1600" b="1" dirty="0" smtClean="0">
                <a:solidFill>
                  <a:srgbClr val="00B0F0"/>
                </a:solidFill>
              </a:rPr>
              <a:t>개수</a:t>
            </a:r>
            <a:endParaRPr lang="en-US" altLang="ko-KR" sz="1600" b="1" dirty="0" smtClean="0">
              <a:solidFill>
                <a:srgbClr val="00B0F0"/>
              </a:solidFill>
            </a:endParaRPr>
          </a:p>
          <a:p>
            <a:r>
              <a:rPr lang="en-US" altLang="ko-KR" sz="1600" b="1" dirty="0" smtClean="0">
                <a:solidFill>
                  <a:srgbClr val="00B0F0"/>
                </a:solidFill>
              </a:rPr>
              <a:t>Centroids : </a:t>
            </a:r>
            <a:r>
              <a:rPr lang="ko-KR" altLang="en-US" sz="1600" b="1" dirty="0" smtClean="0">
                <a:solidFill>
                  <a:srgbClr val="00B0F0"/>
                </a:solidFill>
              </a:rPr>
              <a:t>각 클러스터의 중심점</a:t>
            </a:r>
            <a:endParaRPr lang="ko-KR" altLang="en-US" sz="1600" b="1" dirty="0">
              <a:solidFill>
                <a:srgbClr val="00B0F0"/>
              </a:solidFill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317264" y="2829744"/>
            <a:ext cx="4009585" cy="3618541"/>
            <a:chOff x="317264" y="2809481"/>
            <a:chExt cx="4009585" cy="3618541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7264" y="2809481"/>
              <a:ext cx="4009585" cy="3618541"/>
            </a:xfrm>
            <a:prstGeom prst="rect">
              <a:avLst/>
            </a:prstGeom>
          </p:spPr>
        </p:pic>
        <p:sp>
          <p:nvSpPr>
            <p:cNvPr id="15" name="타원 14"/>
            <p:cNvSpPr/>
            <p:nvPr/>
          </p:nvSpPr>
          <p:spPr>
            <a:xfrm>
              <a:off x="2560801" y="3802348"/>
              <a:ext cx="161366" cy="16870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타원 15"/>
            <p:cNvSpPr/>
            <p:nvPr/>
          </p:nvSpPr>
          <p:spPr>
            <a:xfrm>
              <a:off x="1924307" y="3321391"/>
              <a:ext cx="161366" cy="16870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타원 16"/>
            <p:cNvSpPr/>
            <p:nvPr/>
          </p:nvSpPr>
          <p:spPr>
            <a:xfrm>
              <a:off x="3315193" y="3335691"/>
              <a:ext cx="161366" cy="16870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타원 17"/>
            <p:cNvSpPr/>
            <p:nvPr/>
          </p:nvSpPr>
          <p:spPr>
            <a:xfrm>
              <a:off x="3914472" y="3813658"/>
              <a:ext cx="161366" cy="16870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타원 20"/>
            <p:cNvSpPr/>
            <p:nvPr/>
          </p:nvSpPr>
          <p:spPr>
            <a:xfrm>
              <a:off x="1072660" y="5120964"/>
              <a:ext cx="161366" cy="16870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타원 21"/>
            <p:cNvSpPr/>
            <p:nvPr/>
          </p:nvSpPr>
          <p:spPr>
            <a:xfrm>
              <a:off x="749930" y="5371172"/>
              <a:ext cx="161366" cy="16870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2408015" y="5122432"/>
              <a:ext cx="161366" cy="16870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2112182" y="5371172"/>
              <a:ext cx="161366" cy="16870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타원 25"/>
            <p:cNvSpPr/>
            <p:nvPr/>
          </p:nvSpPr>
          <p:spPr>
            <a:xfrm>
              <a:off x="3824823" y="5038379"/>
              <a:ext cx="161366" cy="16870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타원 26"/>
            <p:cNvSpPr/>
            <p:nvPr/>
          </p:nvSpPr>
          <p:spPr>
            <a:xfrm>
              <a:off x="3395876" y="5604253"/>
              <a:ext cx="161366" cy="16870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05614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898060" y="6540548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E00F004-BD89-484A-9E0D-939812231C51}"/>
              </a:ext>
            </a:extLst>
          </p:cNvPr>
          <p:cNvSpPr/>
          <p:nvPr/>
        </p:nvSpPr>
        <p:spPr>
          <a:xfrm>
            <a:off x="0" y="6448285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16A8DA-5D55-45BD-85EA-BE2F87A4FCF7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DA6BE5-037F-4552-8536-DD1511D2DB96}"/>
              </a:ext>
            </a:extLst>
          </p:cNvPr>
          <p:cNvSpPr txBox="1"/>
          <p:nvPr/>
        </p:nvSpPr>
        <p:spPr>
          <a:xfrm>
            <a:off x="401050" y="289035"/>
            <a:ext cx="78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b="1" dirty="0" smtClean="0">
                <a:ea typeface="NanumGothic" panose="020D0604000000000000"/>
              </a:rPr>
              <a:t>대표적 군집화 기법</a:t>
            </a:r>
            <a:r>
              <a:rPr lang="en-US" altLang="ko-KR" sz="2000" b="1" dirty="0" smtClean="0">
                <a:ea typeface="NanumGothic" panose="020D0604000000000000"/>
              </a:rPr>
              <a:t>(K-Means Clustering)</a:t>
            </a:r>
            <a:endParaRPr lang="en-US" altLang="ko-KR" sz="2000" b="1" dirty="0">
              <a:ea typeface="NanumGothic" panose="020D060400000000000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AAABA0-83DE-8C46-91C4-A610346B147D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D24E5A-6EF2-4301-BBDA-C418695D3FF3}"/>
              </a:ext>
            </a:extLst>
          </p:cNvPr>
          <p:cNvSpPr txBox="1"/>
          <p:nvPr/>
        </p:nvSpPr>
        <p:spPr>
          <a:xfrm>
            <a:off x="3560345" y="6538913"/>
            <a:ext cx="30171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2021-1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학기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비즈니스 데이터 사이언스</a:t>
            </a:r>
            <a:r>
              <a:rPr lang="en-US" altLang="ko-KR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세미나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1309" y="1127634"/>
            <a:ext cx="5691079" cy="4594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354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898060" y="6540548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E00F004-BD89-484A-9E0D-939812231C51}"/>
              </a:ext>
            </a:extLst>
          </p:cNvPr>
          <p:cNvSpPr/>
          <p:nvPr/>
        </p:nvSpPr>
        <p:spPr>
          <a:xfrm>
            <a:off x="0" y="6448285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16A8DA-5D55-45BD-85EA-BE2F87A4FCF7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DA6BE5-037F-4552-8536-DD1511D2DB96}"/>
              </a:ext>
            </a:extLst>
          </p:cNvPr>
          <p:cNvSpPr txBox="1"/>
          <p:nvPr/>
        </p:nvSpPr>
        <p:spPr>
          <a:xfrm>
            <a:off x="401050" y="289035"/>
            <a:ext cx="78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b="1" dirty="0" smtClean="0">
                <a:ea typeface="NanumGothic" panose="020D0604000000000000"/>
              </a:rPr>
              <a:t>대표적 군집화 기법</a:t>
            </a:r>
            <a:r>
              <a:rPr lang="en-US" altLang="ko-KR" sz="2000" b="1" dirty="0" smtClean="0">
                <a:ea typeface="NanumGothic" panose="020D0604000000000000"/>
              </a:rPr>
              <a:t>(K-Means Clustering)</a:t>
            </a:r>
            <a:endParaRPr lang="en-US" altLang="ko-KR" sz="2000" b="1" dirty="0">
              <a:ea typeface="NanumGothic" panose="020D060400000000000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AAABA0-83DE-8C46-91C4-A610346B147D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文本框 4">
            <a:extLst>
              <a:ext uri="{FF2B5EF4-FFF2-40B4-BE49-F238E27FC236}">
                <a16:creationId xmlns:a16="http://schemas.microsoft.com/office/drawing/2014/main" id="{914EA958-2EA0-7E43-9809-FACBE5B6E295}"/>
              </a:ext>
            </a:extLst>
          </p:cNvPr>
          <p:cNvSpPr txBox="1"/>
          <p:nvPr/>
        </p:nvSpPr>
        <p:spPr>
          <a:xfrm>
            <a:off x="401050" y="1112126"/>
            <a:ext cx="8219379" cy="44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latinLnBrk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K-</a:t>
            </a:r>
            <a:r>
              <a:rPr lang="ko-KR" altLang="en-US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평균 군집화 알고리즘의 장점과 단점</a:t>
            </a:r>
            <a:endParaRPr lang="en-US" altLang="ko-KR" b="1" dirty="0" smtClean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algn="just" latinLnBrk="1">
              <a:spcAft>
                <a:spcPts val="600"/>
              </a:spcAft>
            </a:pPr>
            <a:endParaRPr lang="en-US" altLang="ko-KR" b="1" dirty="0" smtClean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342900" indent="-342900" algn="just" latinLnBrk="1">
              <a:spcAft>
                <a:spcPts val="600"/>
              </a:spcAft>
              <a:buAutoNum type="arabicPeriod"/>
            </a:pPr>
            <a:r>
              <a:rPr lang="ko-KR" altLang="en-US" b="1" dirty="0" smtClean="0">
                <a:solidFill>
                  <a:srgbClr val="00B0F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장점</a:t>
            </a:r>
            <a:endParaRPr lang="en-US" altLang="ko-KR" b="1" dirty="0" smtClean="0">
              <a:solidFill>
                <a:srgbClr val="00B0F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 algn="just" latinLnBrk="1">
              <a:spcAft>
                <a:spcPts val="600"/>
              </a:spcAft>
              <a:buFontTx/>
              <a:buChar char="-"/>
            </a:pPr>
            <a:r>
              <a:rPr lang="ko-KR" altLang="en-US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거리 기반의 알고리즘으로서</a:t>
            </a:r>
            <a:r>
              <a:rPr lang="en-US" altLang="ko-KR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내용 및 구현이</a:t>
            </a:r>
            <a:r>
              <a:rPr lang="ko-KR" altLang="en-US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간단한 </a:t>
            </a:r>
            <a:r>
              <a:rPr lang="ko-KR" altLang="en-US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편임</a:t>
            </a:r>
            <a:endParaRPr lang="en-US" altLang="ko-KR" dirty="0" smtClean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 algn="just" latinLnBrk="1">
              <a:spcAft>
                <a:spcPts val="600"/>
              </a:spcAft>
              <a:buFontTx/>
              <a:buChar char="-"/>
            </a:pPr>
            <a:r>
              <a:rPr lang="ko-KR" altLang="en-US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거리를 구할 때</a:t>
            </a:r>
            <a:r>
              <a:rPr lang="en-US" altLang="ko-KR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각 클러스터의 중심점과 각 데이터 포인트 간의 거리만 구하면 되므로</a:t>
            </a:r>
            <a:r>
              <a:rPr lang="en-US" altLang="ko-KR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시간 복잡도가 </a:t>
            </a:r>
            <a:r>
              <a:rPr lang="en-US" altLang="ko-KR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O(KN) </a:t>
            </a:r>
            <a:r>
              <a:rPr lang="ko-KR" altLang="en-US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형태로 선형 연산이 가능</a:t>
            </a:r>
            <a:r>
              <a:rPr lang="en-US" altLang="ko-KR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  <a:p>
            <a:pPr algn="just" latinLnBrk="1">
              <a:spcAft>
                <a:spcPts val="600"/>
              </a:spcAft>
            </a:pPr>
            <a:endParaRPr lang="en-US" altLang="ko-KR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342900" indent="-342900" algn="just" latinLnBrk="1">
              <a:spcAft>
                <a:spcPts val="600"/>
              </a:spcAft>
              <a:buAutoNum type="arabicPeriod"/>
            </a:pPr>
            <a:endParaRPr lang="en-US" altLang="ko-KR" b="1" dirty="0">
              <a:solidFill>
                <a:srgbClr val="FF0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algn="just" latinLnBrk="1">
              <a:spcAft>
                <a:spcPts val="600"/>
              </a:spcAft>
            </a:pPr>
            <a:r>
              <a:rPr lang="en-US" altLang="ko-KR" b="1" dirty="0" smtClean="0">
                <a:solidFill>
                  <a:srgbClr val="FF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2. </a:t>
            </a:r>
            <a:r>
              <a:rPr lang="ko-KR" altLang="en-US" b="1" dirty="0" smtClean="0">
                <a:solidFill>
                  <a:srgbClr val="FF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단점</a:t>
            </a:r>
            <a:endParaRPr lang="en-US" altLang="ko-KR" b="1" dirty="0" smtClean="0">
              <a:solidFill>
                <a:srgbClr val="FF0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 algn="just" latinLnBrk="1">
              <a:spcAft>
                <a:spcPts val="600"/>
              </a:spcAft>
              <a:buFontTx/>
              <a:buChar char="-"/>
            </a:pPr>
            <a:r>
              <a:rPr lang="en-US" altLang="ko-KR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K</a:t>
            </a:r>
            <a:r>
              <a:rPr lang="ko-KR" altLang="en-US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의 값을 직접 지정해야 함</a:t>
            </a:r>
            <a:endParaRPr lang="en-US" altLang="ko-KR" dirty="0" smtClean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 algn="just" latinLnBrk="1">
              <a:spcAft>
                <a:spcPts val="600"/>
              </a:spcAft>
              <a:buFontTx/>
              <a:buChar char="-"/>
            </a:pPr>
            <a:r>
              <a:rPr lang="ko-KR" altLang="en-US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거리 계산 결과를 통해 군집을 할당하므로</a:t>
            </a:r>
            <a:r>
              <a:rPr lang="en-US" altLang="ko-KR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,</a:t>
            </a:r>
            <a:r>
              <a:rPr lang="ko-KR" altLang="en-US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 이상치</a:t>
            </a:r>
            <a:r>
              <a:rPr lang="en-US" altLang="ko-KR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(Outlier)</a:t>
            </a:r>
            <a:r>
              <a:rPr lang="ko-KR" altLang="en-US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에 취약함</a:t>
            </a:r>
            <a:endParaRPr lang="en-US" altLang="ko-KR" dirty="0" smtClean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 algn="just" latinLnBrk="1">
              <a:spcAft>
                <a:spcPts val="600"/>
              </a:spcAft>
              <a:buFontTx/>
              <a:buChar char="-"/>
            </a:pPr>
            <a:r>
              <a:rPr lang="ko-KR" altLang="en-US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초기에 임의로 </a:t>
            </a:r>
            <a:r>
              <a:rPr lang="en-US" altLang="ko-KR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centroids</a:t>
            </a:r>
            <a:r>
              <a:rPr lang="ko-KR" altLang="en-US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를 지정하기 때문에</a:t>
            </a:r>
            <a:r>
              <a:rPr lang="en-US" altLang="ko-KR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반복 수행 시 군집 </a:t>
            </a:r>
            <a:r>
              <a:rPr lang="ko-KR" altLang="en-US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결과가 일정하지 않을 수 있음</a:t>
            </a:r>
            <a:r>
              <a:rPr lang="en-US" altLang="ko-KR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. (</a:t>
            </a:r>
            <a:r>
              <a:rPr lang="en-US" altLang="ko-KR" dirty="0" err="1" smtClean="0">
                <a:latin typeface="NanumGothic" panose="020D0604000000000000" pitchFamily="34" charset="-127"/>
                <a:ea typeface="NanumGothic" panose="020D0604000000000000" pitchFamily="34" charset="-127"/>
              </a:rPr>
              <a:t>Forgy</a:t>
            </a:r>
            <a:r>
              <a:rPr lang="en-US" altLang="ko-KR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R</a:t>
            </a:r>
            <a:r>
              <a:rPr lang="en-US" altLang="ko-KR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andom partition, K-means++)</a:t>
            </a:r>
            <a:endParaRPr lang="en-US" altLang="ko-KR" dirty="0" smtClean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D24E5A-6EF2-4301-BBDA-C418695D3FF3}"/>
              </a:ext>
            </a:extLst>
          </p:cNvPr>
          <p:cNvSpPr txBox="1"/>
          <p:nvPr/>
        </p:nvSpPr>
        <p:spPr>
          <a:xfrm>
            <a:off x="3560345" y="6538913"/>
            <a:ext cx="30171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2021-1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학기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비즈니스 데이터 사이언스</a:t>
            </a:r>
            <a:r>
              <a:rPr lang="en-US" altLang="ko-KR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세미나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65045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898060" y="6540548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E00F004-BD89-484A-9E0D-939812231C51}"/>
              </a:ext>
            </a:extLst>
          </p:cNvPr>
          <p:cNvSpPr/>
          <p:nvPr/>
        </p:nvSpPr>
        <p:spPr>
          <a:xfrm>
            <a:off x="0" y="6448285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16A8DA-5D55-45BD-85EA-BE2F87A4FCF7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DA6BE5-037F-4552-8536-DD1511D2DB96}"/>
              </a:ext>
            </a:extLst>
          </p:cNvPr>
          <p:cNvSpPr txBox="1"/>
          <p:nvPr/>
        </p:nvSpPr>
        <p:spPr>
          <a:xfrm>
            <a:off x="401050" y="289035"/>
            <a:ext cx="78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b="1" dirty="0" smtClean="0">
                <a:ea typeface="NanumGothic" panose="020D0604000000000000"/>
              </a:rPr>
              <a:t>대표적 군집화 기법</a:t>
            </a:r>
            <a:r>
              <a:rPr lang="en-US" altLang="ko-KR" sz="2000" b="1" dirty="0" smtClean="0">
                <a:ea typeface="NanumGothic" panose="020D0604000000000000"/>
              </a:rPr>
              <a:t>(K-Means Clustering)</a:t>
            </a:r>
            <a:endParaRPr lang="en-US" altLang="ko-KR" sz="2000" b="1" dirty="0">
              <a:ea typeface="NanumGothic" panose="020D060400000000000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AAABA0-83DE-8C46-91C4-A610346B147D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D24E5A-6EF2-4301-BBDA-C418695D3FF3}"/>
              </a:ext>
            </a:extLst>
          </p:cNvPr>
          <p:cNvSpPr txBox="1"/>
          <p:nvPr/>
        </p:nvSpPr>
        <p:spPr>
          <a:xfrm>
            <a:off x="3560345" y="6538913"/>
            <a:ext cx="30171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2021-1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학기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비즈니스 데이터 사이언스</a:t>
            </a:r>
            <a:r>
              <a:rPr lang="en-US" altLang="ko-KR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세미나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" name="오른쪽 화살표 3"/>
          <p:cNvSpPr/>
          <p:nvPr/>
        </p:nvSpPr>
        <p:spPr>
          <a:xfrm>
            <a:off x="4771112" y="3176711"/>
            <a:ext cx="1290065" cy="62146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6142614" y="3025780"/>
            <a:ext cx="28128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아웃라이어에 따라</a:t>
            </a:r>
            <a:r>
              <a:rPr lang="en-US" altLang="ko-KR" dirty="0" smtClean="0"/>
              <a:t>, </a:t>
            </a:r>
            <a:r>
              <a:rPr lang="ko-KR" altLang="en-US" dirty="0" smtClean="0"/>
              <a:t>클러스터 및</a:t>
            </a:r>
            <a:r>
              <a:rPr lang="en-US" altLang="ko-KR" dirty="0" smtClean="0"/>
              <a:t> </a:t>
            </a:r>
            <a:r>
              <a:rPr lang="ko-KR" altLang="en-US" dirty="0" smtClean="0"/>
              <a:t>그 중심점에 영향을 끼칠 수 있음</a:t>
            </a:r>
            <a:r>
              <a:rPr lang="en-US" altLang="ko-KR" dirty="0" smtClean="0"/>
              <a:t>!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102" y="2071511"/>
            <a:ext cx="3905178" cy="2910659"/>
          </a:xfrm>
          <a:prstGeom prst="rect">
            <a:avLst/>
          </a:prstGeom>
        </p:spPr>
      </p:pic>
      <p:sp>
        <p:nvSpPr>
          <p:cNvPr id="2" name="타원 1"/>
          <p:cNvSpPr/>
          <p:nvPr/>
        </p:nvSpPr>
        <p:spPr>
          <a:xfrm>
            <a:off x="3478306" y="3389910"/>
            <a:ext cx="268941" cy="26890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곱셈 기호 6"/>
          <p:cNvSpPr/>
          <p:nvPr/>
        </p:nvSpPr>
        <p:spPr>
          <a:xfrm>
            <a:off x="4326849" y="3389910"/>
            <a:ext cx="146539" cy="268907"/>
          </a:xfrm>
          <a:prstGeom prst="mathMultiply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5291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898060" y="6540548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E00F004-BD89-484A-9E0D-939812231C51}"/>
              </a:ext>
            </a:extLst>
          </p:cNvPr>
          <p:cNvSpPr/>
          <p:nvPr/>
        </p:nvSpPr>
        <p:spPr>
          <a:xfrm>
            <a:off x="0" y="6448285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16A8DA-5D55-45BD-85EA-BE2F87A4FCF7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DA6BE5-037F-4552-8536-DD1511D2DB96}"/>
              </a:ext>
            </a:extLst>
          </p:cNvPr>
          <p:cNvSpPr txBox="1"/>
          <p:nvPr/>
        </p:nvSpPr>
        <p:spPr>
          <a:xfrm>
            <a:off x="401050" y="289035"/>
            <a:ext cx="78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b="1" dirty="0" smtClean="0">
                <a:ea typeface="NanumGothic" panose="020D0604000000000000"/>
              </a:rPr>
              <a:t>대표적 군집화 기법</a:t>
            </a:r>
            <a:r>
              <a:rPr lang="en-US" altLang="ko-KR" sz="2000" b="1" dirty="0" smtClean="0">
                <a:ea typeface="NanumGothic" panose="020D0604000000000000"/>
              </a:rPr>
              <a:t>(Mean Shift Clustering)</a:t>
            </a:r>
            <a:endParaRPr lang="en-US" altLang="ko-KR" sz="2000" b="1" dirty="0">
              <a:ea typeface="NanumGothic" panose="020D060400000000000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AAABA0-83DE-8C46-91C4-A610346B147D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文本框 4">
            <a:extLst>
              <a:ext uri="{FF2B5EF4-FFF2-40B4-BE49-F238E27FC236}">
                <a16:creationId xmlns:a16="http://schemas.microsoft.com/office/drawing/2014/main" id="{914EA958-2EA0-7E43-9809-FACBE5B6E295}"/>
              </a:ext>
            </a:extLst>
          </p:cNvPr>
          <p:cNvSpPr txBox="1"/>
          <p:nvPr/>
        </p:nvSpPr>
        <p:spPr>
          <a:xfrm>
            <a:off x="401050" y="1112126"/>
            <a:ext cx="82193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latinLnBrk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데이터 분포에 따른 </a:t>
            </a:r>
            <a:r>
              <a:rPr lang="en-US" altLang="ko-KR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K-</a:t>
            </a:r>
            <a:r>
              <a:rPr lang="ko-KR" altLang="en-US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평균 군집화 결과</a:t>
            </a:r>
            <a:endParaRPr lang="en-US" altLang="ko-KR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D24E5A-6EF2-4301-BBDA-C418695D3FF3}"/>
              </a:ext>
            </a:extLst>
          </p:cNvPr>
          <p:cNvSpPr txBox="1"/>
          <p:nvPr/>
        </p:nvSpPr>
        <p:spPr>
          <a:xfrm>
            <a:off x="3560345" y="6538913"/>
            <a:ext cx="30171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2021-1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학기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비즈니스 데이터 사이언스</a:t>
            </a:r>
            <a:r>
              <a:rPr lang="en-US" altLang="ko-KR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세미나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259" y="1981933"/>
            <a:ext cx="3505200" cy="238125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6024" y="1990165"/>
            <a:ext cx="3476625" cy="241241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9259" y="4863658"/>
            <a:ext cx="80511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 smtClean="0"/>
              <a:t>K-</a:t>
            </a:r>
            <a:r>
              <a:rPr lang="ko-KR" altLang="en-US" dirty="0" smtClean="0"/>
              <a:t>평균 </a:t>
            </a:r>
            <a:r>
              <a:rPr lang="ko-KR" altLang="en-US" dirty="0" err="1" smtClean="0"/>
              <a:t>군집화는</a:t>
            </a:r>
            <a:r>
              <a:rPr lang="ko-KR" altLang="en-US" dirty="0" smtClean="0"/>
              <a:t> 클러스터의 중심점</a:t>
            </a:r>
            <a:r>
              <a:rPr lang="en-US" altLang="ko-KR" dirty="0" smtClean="0"/>
              <a:t>(centroids)</a:t>
            </a:r>
            <a:r>
              <a:rPr lang="ko-KR" altLang="en-US" dirty="0" smtClean="0"/>
              <a:t>를 바탕으로 한 거리 기반의 알고리즘</a:t>
            </a:r>
            <a:endParaRPr lang="en-US" altLang="ko-KR" dirty="0" smtClean="0"/>
          </a:p>
          <a:p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 smtClean="0"/>
              <a:t>그러므로</a:t>
            </a:r>
            <a:r>
              <a:rPr lang="en-US" altLang="ko-KR" dirty="0" smtClean="0"/>
              <a:t>, </a:t>
            </a:r>
            <a:r>
              <a:rPr lang="ko-KR" altLang="en-US" dirty="0" smtClean="0"/>
              <a:t>데이터의 형태가 구형이 아닌 다른 형태일 경우 취약함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13770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898060" y="6540548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E00F004-BD89-484A-9E0D-939812231C51}"/>
              </a:ext>
            </a:extLst>
          </p:cNvPr>
          <p:cNvSpPr/>
          <p:nvPr/>
        </p:nvSpPr>
        <p:spPr>
          <a:xfrm>
            <a:off x="0" y="6448285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16A8DA-5D55-45BD-85EA-BE2F87A4FCF7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DA6BE5-037F-4552-8536-DD1511D2DB96}"/>
              </a:ext>
            </a:extLst>
          </p:cNvPr>
          <p:cNvSpPr txBox="1"/>
          <p:nvPr/>
        </p:nvSpPr>
        <p:spPr>
          <a:xfrm>
            <a:off x="401050" y="289035"/>
            <a:ext cx="78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b="1" dirty="0" smtClean="0">
                <a:ea typeface="NanumGothic" panose="020D0604000000000000"/>
              </a:rPr>
              <a:t>대표적 군집화 기법</a:t>
            </a:r>
            <a:r>
              <a:rPr lang="en-US" altLang="ko-KR" sz="2000" b="1" dirty="0" smtClean="0">
                <a:ea typeface="NanumGothic" panose="020D0604000000000000"/>
              </a:rPr>
              <a:t>(Mean Shift Clustering)</a:t>
            </a:r>
            <a:endParaRPr lang="en-US" altLang="ko-KR" sz="2000" b="1" dirty="0">
              <a:ea typeface="NanumGothic" panose="020D060400000000000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AAABA0-83DE-8C46-91C4-A610346B147D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文本框 4">
            <a:extLst>
              <a:ext uri="{FF2B5EF4-FFF2-40B4-BE49-F238E27FC236}">
                <a16:creationId xmlns:a16="http://schemas.microsoft.com/office/drawing/2014/main" id="{914EA958-2EA0-7E43-9809-FACBE5B6E295}"/>
              </a:ext>
            </a:extLst>
          </p:cNvPr>
          <p:cNvSpPr txBox="1"/>
          <p:nvPr/>
        </p:nvSpPr>
        <p:spPr>
          <a:xfrm>
            <a:off x="401050" y="1112126"/>
            <a:ext cx="82193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latinLnBrk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평균 이동 군집화</a:t>
            </a:r>
            <a:r>
              <a:rPr lang="en-US" altLang="ko-KR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(Mean Shift Clustering)</a:t>
            </a:r>
            <a:endParaRPr lang="en-US" altLang="ko-KR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D24E5A-6EF2-4301-BBDA-C418695D3FF3}"/>
              </a:ext>
            </a:extLst>
          </p:cNvPr>
          <p:cNvSpPr txBox="1"/>
          <p:nvPr/>
        </p:nvSpPr>
        <p:spPr>
          <a:xfrm>
            <a:off x="3560345" y="6538913"/>
            <a:ext cx="30171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2021-1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학기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비즈니스 데이터 사이언스</a:t>
            </a:r>
            <a:r>
              <a:rPr lang="en-US" altLang="ko-KR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세미나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19953" y="1828800"/>
            <a:ext cx="84355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solidFill>
                  <a:srgbClr val="00B0F0"/>
                </a:solidFill>
              </a:rPr>
              <a:t>커널 함수</a:t>
            </a:r>
            <a:r>
              <a:rPr lang="ko-KR" altLang="en-US" dirty="0" smtClean="0"/>
              <a:t>에 기반한 </a:t>
            </a:r>
            <a:r>
              <a:rPr lang="ko-KR" altLang="en-US" b="1" dirty="0" err="1" smtClean="0">
                <a:solidFill>
                  <a:srgbClr val="00B0F0"/>
                </a:solidFill>
              </a:rPr>
              <a:t>비모수적</a:t>
            </a:r>
            <a:r>
              <a:rPr lang="ko-KR" altLang="en-US" dirty="0" smtClean="0"/>
              <a:t> </a:t>
            </a:r>
            <a:r>
              <a:rPr lang="ko-KR" altLang="en-US" b="1" dirty="0" smtClean="0">
                <a:solidFill>
                  <a:srgbClr val="00B0F0"/>
                </a:solidFill>
              </a:rPr>
              <a:t>밀도 추정</a:t>
            </a:r>
            <a:r>
              <a:rPr lang="ko-KR" altLang="en-US" dirty="0" smtClean="0"/>
              <a:t> 방법</a:t>
            </a:r>
            <a:r>
              <a:rPr lang="en-US" altLang="ko-KR" dirty="0" smtClean="0"/>
              <a:t>(KDE)</a:t>
            </a:r>
            <a:r>
              <a:rPr lang="ko-KR" altLang="en-US" dirty="0" smtClean="0"/>
              <a:t>에 의하여</a:t>
            </a:r>
            <a:r>
              <a:rPr lang="en-US" altLang="ko-KR" dirty="0" smtClean="0"/>
              <a:t>, </a:t>
            </a:r>
          </a:p>
          <a:p>
            <a:r>
              <a:rPr lang="ko-KR" altLang="en-US" dirty="0" smtClean="0"/>
              <a:t>각 데이터 포인트에 대해</a:t>
            </a:r>
            <a:r>
              <a:rPr lang="en-US" altLang="ko-KR" dirty="0" smtClean="0"/>
              <a:t>, </a:t>
            </a:r>
            <a:r>
              <a:rPr lang="ko-KR" altLang="en-US" dirty="0" smtClean="0"/>
              <a:t>데이터의 밀도가 가장 높은 중심 포인트</a:t>
            </a:r>
            <a:r>
              <a:rPr lang="en-US" altLang="ko-KR" dirty="0" smtClean="0"/>
              <a:t>(Centroid)</a:t>
            </a:r>
            <a:r>
              <a:rPr lang="ko-KR" altLang="en-US" dirty="0" smtClean="0"/>
              <a:t>에 대응시키는 </a:t>
            </a:r>
            <a:r>
              <a:rPr lang="en-US" altLang="ko-KR" dirty="0" smtClean="0"/>
              <a:t>“</a:t>
            </a:r>
            <a:r>
              <a:rPr lang="ko-KR" altLang="en-US" b="1" dirty="0" smtClean="0">
                <a:solidFill>
                  <a:srgbClr val="00B0F0"/>
                </a:solidFill>
              </a:rPr>
              <a:t>밀도 기반</a:t>
            </a:r>
            <a:r>
              <a:rPr lang="en-US" altLang="ko-KR" dirty="0" smtClean="0"/>
              <a:t>“  </a:t>
            </a:r>
            <a:r>
              <a:rPr lang="ko-KR" altLang="en-US" dirty="0" err="1" smtClean="0"/>
              <a:t>클러스터링</a:t>
            </a:r>
            <a:r>
              <a:rPr lang="ko-KR" altLang="en-US" dirty="0" smtClean="0"/>
              <a:t> 알고리즘</a:t>
            </a:r>
            <a:endParaRPr lang="ko-KR" altLang="en-US" dirty="0"/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9011" y="3168306"/>
            <a:ext cx="3729060" cy="2942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717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898060" y="6540548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E00F004-BD89-484A-9E0D-939812231C51}"/>
              </a:ext>
            </a:extLst>
          </p:cNvPr>
          <p:cNvSpPr/>
          <p:nvPr/>
        </p:nvSpPr>
        <p:spPr>
          <a:xfrm>
            <a:off x="0" y="6448285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16A8DA-5D55-45BD-85EA-BE2F87A4FCF7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DA6BE5-037F-4552-8536-DD1511D2DB96}"/>
              </a:ext>
            </a:extLst>
          </p:cNvPr>
          <p:cNvSpPr txBox="1"/>
          <p:nvPr/>
        </p:nvSpPr>
        <p:spPr>
          <a:xfrm>
            <a:off x="401050" y="289035"/>
            <a:ext cx="78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b="1" dirty="0" smtClean="0">
                <a:ea typeface="NanumGothic" panose="020D0604000000000000"/>
              </a:rPr>
              <a:t>대표적 군집화 기법</a:t>
            </a:r>
            <a:r>
              <a:rPr lang="en-US" altLang="ko-KR" sz="2000" b="1" dirty="0" smtClean="0">
                <a:ea typeface="NanumGothic" panose="020D0604000000000000"/>
              </a:rPr>
              <a:t>(Mean Shift Clustering)</a:t>
            </a:r>
            <a:endParaRPr lang="en-US" altLang="ko-KR" sz="2000" b="1" dirty="0">
              <a:ea typeface="NanumGothic" panose="020D060400000000000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AAABA0-83DE-8C46-91C4-A610346B147D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文本框 4">
            <a:extLst>
              <a:ext uri="{FF2B5EF4-FFF2-40B4-BE49-F238E27FC236}">
                <a16:creationId xmlns:a16="http://schemas.microsoft.com/office/drawing/2014/main" id="{914EA958-2EA0-7E43-9809-FACBE5B6E295}"/>
              </a:ext>
            </a:extLst>
          </p:cNvPr>
          <p:cNvSpPr txBox="1"/>
          <p:nvPr/>
        </p:nvSpPr>
        <p:spPr>
          <a:xfrm>
            <a:off x="401050" y="1112126"/>
            <a:ext cx="842918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latinLnBrk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밀도와 밀도 </a:t>
            </a:r>
            <a:r>
              <a:rPr lang="ko-KR" altLang="en-US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추정</a:t>
            </a:r>
            <a:endParaRPr lang="en-US" altLang="ko-KR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algn="just" latinLnBrk="1">
              <a:spcAft>
                <a:spcPts val="600"/>
              </a:spcAft>
            </a:pPr>
            <a:r>
              <a:rPr lang="ko-KR" altLang="en-US" b="1" dirty="0" smtClean="0">
                <a:solidFill>
                  <a:srgbClr val="00B0F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예시</a:t>
            </a:r>
            <a:r>
              <a:rPr lang="en-US" altLang="ko-KR" b="1" dirty="0">
                <a:solidFill>
                  <a:srgbClr val="00B0F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</a:t>
            </a:r>
            <a:r>
              <a:rPr lang="en-US" altLang="ko-KR" b="1" dirty="0" smtClean="0">
                <a:solidFill>
                  <a:srgbClr val="00B0F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b="1" dirty="0" smtClean="0">
                <a:solidFill>
                  <a:srgbClr val="00B0F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특정 육교에 대한 차량의 일일 통행량 </a:t>
            </a:r>
            <a:r>
              <a:rPr lang="ko-KR" altLang="en-US" b="1" dirty="0" smtClean="0">
                <a:solidFill>
                  <a:srgbClr val="00B0F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파악</a:t>
            </a:r>
            <a:endParaRPr lang="en-US" altLang="ko-KR" b="1" dirty="0" smtClean="0">
              <a:solidFill>
                <a:srgbClr val="00B0F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algn="just" latinLnBrk="1">
              <a:spcAft>
                <a:spcPts val="600"/>
              </a:spcAft>
            </a:pPr>
            <a:endParaRPr lang="en-US" altLang="ko-KR" b="1" dirty="0" smtClean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 algn="just" latinLnBrk="1">
              <a:spcAft>
                <a:spcPts val="600"/>
              </a:spcAft>
              <a:buFontTx/>
              <a:buChar char="-"/>
            </a:pPr>
            <a:r>
              <a:rPr lang="ko-KR" altLang="en-US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확률변수 </a:t>
            </a:r>
            <a:r>
              <a:rPr lang="en-US" altLang="ko-KR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X: </a:t>
            </a:r>
            <a:r>
              <a:rPr lang="ko-KR" altLang="en-US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일일 교통량</a:t>
            </a:r>
            <a:endParaRPr lang="en-US" altLang="ko-KR" dirty="0" smtClean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 algn="just" latinLnBrk="1">
              <a:spcAft>
                <a:spcPts val="600"/>
              </a:spcAft>
              <a:buFontTx/>
              <a:buChar char="-"/>
            </a:pPr>
            <a:r>
              <a:rPr lang="ko-KR" altLang="en-US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이 </a:t>
            </a:r>
            <a:r>
              <a:rPr lang="ko-KR" altLang="en-US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관측 값을 장기간에 걸쳐 저장하게 된다면</a:t>
            </a:r>
            <a:r>
              <a:rPr lang="en-US" altLang="ko-KR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일일 교통량이라는 변수의 값에 대한 분포를 수월하게 파악할 수 있을 것임</a:t>
            </a:r>
            <a:r>
              <a:rPr lang="en-US" altLang="ko-KR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  <a:p>
            <a:pPr marL="285750" indent="-285750" algn="just" latinLnBrk="1">
              <a:spcAft>
                <a:spcPts val="600"/>
              </a:spcAft>
              <a:buFontTx/>
              <a:buChar char="-"/>
            </a:pPr>
            <a:r>
              <a:rPr lang="ko-KR" altLang="en-US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이 때</a:t>
            </a:r>
            <a:r>
              <a:rPr lang="en-US" altLang="ko-KR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변수 </a:t>
            </a:r>
            <a:r>
              <a:rPr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X</a:t>
            </a:r>
            <a:r>
              <a:rPr lang="ko-KR" altLang="en-US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가 </a:t>
            </a:r>
            <a:r>
              <a:rPr lang="ko-KR" altLang="en-US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특정 값을 가질 확률을 추정</a:t>
            </a:r>
            <a:r>
              <a:rPr lang="ko-KR" altLang="en-US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하는 것을 </a:t>
            </a:r>
            <a:r>
              <a:rPr lang="ko-KR" altLang="en-US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밀도 추정</a:t>
            </a:r>
            <a:r>
              <a:rPr lang="ko-KR" altLang="en-US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이라고 함</a:t>
            </a:r>
            <a:r>
              <a:rPr lang="en-US" altLang="ko-KR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.    </a:t>
            </a:r>
            <a:r>
              <a:rPr lang="ko-KR" altLang="en-US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이는</a:t>
            </a:r>
            <a:r>
              <a:rPr lang="en-US" altLang="ko-KR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변수 </a:t>
            </a:r>
            <a:r>
              <a:rPr lang="en-US" altLang="ko-KR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X</a:t>
            </a:r>
            <a:r>
              <a:rPr lang="ko-KR" altLang="en-US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에 대한 확률 밀도 함수를 추정하는 것과 동일한 의미</a:t>
            </a:r>
            <a:endParaRPr lang="en-US" altLang="ko-KR" dirty="0" smtClean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algn="just" latinLnBrk="1">
              <a:spcAft>
                <a:spcPts val="600"/>
              </a:spcAft>
            </a:pPr>
            <a:endParaRPr lang="en-US" altLang="ko-KR" b="1" dirty="0" smtClean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D24E5A-6EF2-4301-BBDA-C418695D3FF3}"/>
              </a:ext>
            </a:extLst>
          </p:cNvPr>
          <p:cNvSpPr txBox="1"/>
          <p:nvPr/>
        </p:nvSpPr>
        <p:spPr>
          <a:xfrm>
            <a:off x="3560345" y="6538913"/>
            <a:ext cx="30171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2021-1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학기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비즈니스 데이터 사이언스</a:t>
            </a:r>
            <a:r>
              <a:rPr lang="en-US" altLang="ko-KR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세미나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2465" y="4377856"/>
            <a:ext cx="4839824" cy="1907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191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898060" y="6540548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E00F004-BD89-484A-9E0D-939812231C51}"/>
              </a:ext>
            </a:extLst>
          </p:cNvPr>
          <p:cNvSpPr/>
          <p:nvPr/>
        </p:nvSpPr>
        <p:spPr>
          <a:xfrm>
            <a:off x="0" y="6448285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16A8DA-5D55-45BD-85EA-BE2F87A4FCF7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DA6BE5-037F-4552-8536-DD1511D2DB96}"/>
              </a:ext>
            </a:extLst>
          </p:cNvPr>
          <p:cNvSpPr txBox="1"/>
          <p:nvPr/>
        </p:nvSpPr>
        <p:spPr>
          <a:xfrm>
            <a:off x="401050" y="289035"/>
            <a:ext cx="78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b="1" dirty="0" smtClean="0">
                <a:ea typeface="NanumGothic" panose="020D0604000000000000"/>
              </a:rPr>
              <a:t>대표적 군집화 기법</a:t>
            </a:r>
            <a:r>
              <a:rPr lang="en-US" altLang="ko-KR" sz="2000" b="1" dirty="0" smtClean="0">
                <a:ea typeface="NanumGothic" panose="020D0604000000000000"/>
              </a:rPr>
              <a:t>(Mean Shift Clustering)</a:t>
            </a:r>
            <a:endParaRPr lang="en-US" altLang="ko-KR" sz="2000" b="1" dirty="0">
              <a:ea typeface="NanumGothic" panose="020D060400000000000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AAABA0-83DE-8C46-91C4-A610346B147D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文本框 4">
            <a:extLst>
              <a:ext uri="{FF2B5EF4-FFF2-40B4-BE49-F238E27FC236}">
                <a16:creationId xmlns:a16="http://schemas.microsoft.com/office/drawing/2014/main" id="{914EA958-2EA0-7E43-9809-FACBE5B6E295}"/>
              </a:ext>
            </a:extLst>
          </p:cNvPr>
          <p:cNvSpPr txBox="1"/>
          <p:nvPr/>
        </p:nvSpPr>
        <p:spPr>
          <a:xfrm>
            <a:off x="401050" y="1112126"/>
            <a:ext cx="8429185" cy="41088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latinLnBrk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밀도 추정의 두 가지 관점</a:t>
            </a:r>
            <a:endParaRPr lang="en-US" altLang="ko-KR" b="1" dirty="0" smtClean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 algn="just" latinLnBrk="1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ko-KR" b="1" dirty="0" smtClean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342900" indent="-342900" algn="just" latinLnBrk="1">
              <a:spcAft>
                <a:spcPts val="600"/>
              </a:spcAft>
              <a:buAutoNum type="arabicPeriod"/>
            </a:pPr>
            <a:r>
              <a:rPr lang="ko-KR" altLang="en-US" b="1" dirty="0" err="1" smtClean="0">
                <a:latin typeface="NanumGothic" panose="020D0604000000000000" pitchFamily="34" charset="-127"/>
                <a:ea typeface="NanumGothic" panose="020D0604000000000000" pitchFamily="34" charset="-127"/>
              </a:rPr>
              <a:t>모수적</a:t>
            </a:r>
            <a:r>
              <a:rPr lang="ko-KR" altLang="en-US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 방법 </a:t>
            </a:r>
            <a:endParaRPr lang="en-US" altLang="ko-KR" b="1" dirty="0" smtClean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 algn="just" latinLnBrk="1">
              <a:spcAft>
                <a:spcPts val="600"/>
              </a:spcAft>
              <a:buFontTx/>
              <a:buChar char="-"/>
            </a:pPr>
            <a:r>
              <a:rPr lang="ko-KR" altLang="en-US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확률변수의 분포가 사전에 알려진 분포</a:t>
            </a:r>
            <a:r>
              <a:rPr lang="en-US" altLang="ko-KR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(ex: </a:t>
            </a:r>
            <a:r>
              <a:rPr lang="ko-KR" altLang="en-US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정규분포</a:t>
            </a:r>
            <a:r>
              <a:rPr lang="en-US" altLang="ko-KR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)</a:t>
            </a:r>
            <a:r>
              <a:rPr lang="ko-KR" altLang="en-US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를 따른다고 가정</a:t>
            </a:r>
            <a:endParaRPr lang="en-US" altLang="ko-KR" dirty="0" smtClean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 algn="just" latinLnBrk="1">
              <a:spcAft>
                <a:spcPts val="600"/>
              </a:spcAft>
              <a:buFontTx/>
              <a:buChar char="-"/>
            </a:pPr>
            <a:r>
              <a:rPr lang="ko-KR" altLang="en-US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즉</a:t>
            </a:r>
            <a:r>
              <a:rPr lang="en-US" altLang="ko-KR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관측된 데이터로부터</a:t>
            </a:r>
            <a:r>
              <a:rPr lang="en-US" altLang="ko-KR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확률 분포 모델의 </a:t>
            </a:r>
            <a:r>
              <a:rPr lang="ko-KR" altLang="en-US" dirty="0" err="1" smtClean="0">
                <a:latin typeface="NanumGothic" panose="020D0604000000000000" pitchFamily="34" charset="-127"/>
                <a:ea typeface="NanumGothic" panose="020D0604000000000000" pitchFamily="34" charset="-127"/>
              </a:rPr>
              <a:t>파라미터를</a:t>
            </a:r>
            <a:r>
              <a:rPr lang="ko-KR" altLang="en-US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 추정하는 방법</a:t>
            </a:r>
            <a:endParaRPr lang="en-US" altLang="ko-KR" dirty="0" smtClean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 algn="just" latinLnBrk="1">
              <a:spcAft>
                <a:spcPts val="600"/>
              </a:spcAft>
              <a:buFontTx/>
              <a:buChar char="-"/>
            </a:pPr>
            <a:r>
              <a:rPr lang="ko-KR" altLang="en-US" b="1" dirty="0" smtClean="0">
                <a:solidFill>
                  <a:srgbClr val="FF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현실 </a:t>
            </a:r>
            <a:r>
              <a:rPr lang="ko-KR" altLang="en-US" b="1" dirty="0" smtClean="0">
                <a:solidFill>
                  <a:srgbClr val="FF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세계의 </a:t>
            </a:r>
            <a:r>
              <a:rPr lang="ko-KR" altLang="en-US" b="1" dirty="0" smtClean="0">
                <a:solidFill>
                  <a:srgbClr val="FF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문제를 모델링 하는 과정에서 </a:t>
            </a:r>
            <a:r>
              <a:rPr lang="ko-KR" altLang="en-US" b="1" dirty="0" err="1" smtClean="0">
                <a:solidFill>
                  <a:srgbClr val="FF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모수적</a:t>
            </a:r>
            <a:r>
              <a:rPr lang="ko-KR" altLang="en-US" b="1" dirty="0" smtClean="0">
                <a:solidFill>
                  <a:srgbClr val="FF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밀도 추정 방식이 통하는 경우가 얼마나 될 것인가</a:t>
            </a:r>
            <a:r>
              <a:rPr lang="en-US" altLang="ko-KR" b="1" dirty="0" smtClean="0">
                <a:solidFill>
                  <a:srgbClr val="FF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?</a:t>
            </a:r>
          </a:p>
          <a:p>
            <a:pPr marL="285750" indent="-285750" algn="just" latinLnBrk="1">
              <a:spcAft>
                <a:spcPts val="600"/>
              </a:spcAft>
              <a:buFontTx/>
              <a:buChar char="-"/>
            </a:pPr>
            <a:endParaRPr lang="en-US" altLang="ko-KR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algn="just" latinLnBrk="1">
              <a:spcAft>
                <a:spcPts val="600"/>
              </a:spcAft>
            </a:pPr>
            <a:r>
              <a:rPr lang="en-US" altLang="ko-KR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2. </a:t>
            </a:r>
            <a:r>
              <a:rPr lang="ko-KR" altLang="en-US" b="1" dirty="0" err="1" smtClean="0">
                <a:latin typeface="NanumGothic" panose="020D0604000000000000" pitchFamily="34" charset="-127"/>
                <a:ea typeface="NanumGothic" panose="020D0604000000000000" pitchFamily="34" charset="-127"/>
              </a:rPr>
              <a:t>비모수적</a:t>
            </a:r>
            <a:r>
              <a:rPr lang="ko-KR" altLang="en-US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 방법</a:t>
            </a:r>
            <a:endParaRPr lang="en-US" altLang="ko-KR" b="1" dirty="0" smtClean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 algn="just" latinLnBrk="1">
              <a:spcAft>
                <a:spcPts val="600"/>
              </a:spcAft>
              <a:buFontTx/>
              <a:buChar char="-"/>
            </a:pPr>
            <a:r>
              <a:rPr lang="ko-KR" altLang="en-US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사전에 주어진 정보 없이</a:t>
            </a:r>
            <a:r>
              <a:rPr lang="en-US" altLang="ko-KR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순수하게 관측된 데이터로부터 확률 분포를 추정하는 방법</a:t>
            </a:r>
            <a:endParaRPr lang="en-US" altLang="ko-KR" dirty="0" smtClean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 algn="just" latinLnBrk="1">
              <a:spcAft>
                <a:spcPts val="600"/>
              </a:spcAft>
              <a:buFontTx/>
              <a:buChar char="-"/>
            </a:pPr>
            <a:r>
              <a:rPr lang="ko-KR" altLang="en-US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대표적인 </a:t>
            </a:r>
            <a:r>
              <a:rPr lang="ko-KR" altLang="en-US" dirty="0" err="1" smtClean="0">
                <a:latin typeface="NanumGothic" panose="020D0604000000000000" pitchFamily="34" charset="-127"/>
                <a:ea typeface="NanumGothic" panose="020D0604000000000000" pitchFamily="34" charset="-127"/>
              </a:rPr>
              <a:t>비모수적</a:t>
            </a:r>
            <a:r>
              <a:rPr lang="ko-KR" altLang="en-US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 방법으로 히스토그램이 존재</a:t>
            </a:r>
            <a:endParaRPr lang="en-US" altLang="ko-KR" dirty="0" smtClean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D24E5A-6EF2-4301-BBDA-C418695D3FF3}"/>
              </a:ext>
            </a:extLst>
          </p:cNvPr>
          <p:cNvSpPr txBox="1"/>
          <p:nvPr/>
        </p:nvSpPr>
        <p:spPr>
          <a:xfrm>
            <a:off x="3560345" y="6538913"/>
            <a:ext cx="30171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2021-1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학기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비즈니스 데이터 사이언스</a:t>
            </a:r>
            <a:r>
              <a:rPr lang="en-US" altLang="ko-KR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세미나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35171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898060" y="6540548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E00F004-BD89-484A-9E0D-939812231C51}"/>
              </a:ext>
            </a:extLst>
          </p:cNvPr>
          <p:cNvSpPr/>
          <p:nvPr/>
        </p:nvSpPr>
        <p:spPr>
          <a:xfrm>
            <a:off x="0" y="6448285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16A8DA-5D55-45BD-85EA-BE2F87A4FCF7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DA6BE5-037F-4552-8536-DD1511D2DB96}"/>
              </a:ext>
            </a:extLst>
          </p:cNvPr>
          <p:cNvSpPr txBox="1"/>
          <p:nvPr/>
        </p:nvSpPr>
        <p:spPr>
          <a:xfrm>
            <a:off x="401050" y="289035"/>
            <a:ext cx="78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b="1" dirty="0" smtClean="0">
                <a:ea typeface="NanumGothic" panose="020D0604000000000000"/>
              </a:rPr>
              <a:t>대표적 군집화 기법</a:t>
            </a:r>
            <a:r>
              <a:rPr lang="en-US" altLang="ko-KR" sz="2000" b="1" dirty="0" smtClean="0">
                <a:ea typeface="NanumGothic" panose="020D0604000000000000"/>
              </a:rPr>
              <a:t>(Mean Shift Clustering)</a:t>
            </a:r>
            <a:endParaRPr lang="en-US" altLang="ko-KR" sz="2000" b="1" dirty="0">
              <a:ea typeface="NanumGothic" panose="020D060400000000000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AAABA0-83DE-8C46-91C4-A610346B147D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文本框 4">
            <a:extLst>
              <a:ext uri="{FF2B5EF4-FFF2-40B4-BE49-F238E27FC236}">
                <a16:creationId xmlns:a16="http://schemas.microsoft.com/office/drawing/2014/main" id="{914EA958-2EA0-7E43-9809-FACBE5B6E295}"/>
              </a:ext>
            </a:extLst>
          </p:cNvPr>
          <p:cNvSpPr txBox="1"/>
          <p:nvPr/>
        </p:nvSpPr>
        <p:spPr>
          <a:xfrm>
            <a:off x="401050" y="1125935"/>
            <a:ext cx="8429185" cy="2846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latinLnBrk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b="1" dirty="0" err="1" smtClean="0">
                <a:latin typeface="NanumGothic" panose="020D0604000000000000" pitchFamily="34" charset="-127"/>
                <a:ea typeface="NanumGothic" panose="020D0604000000000000" pitchFamily="34" charset="-127"/>
              </a:rPr>
              <a:t>비모수적</a:t>
            </a:r>
            <a:r>
              <a:rPr lang="ko-KR" altLang="en-US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 방법의 대표적 예시 </a:t>
            </a:r>
            <a:r>
              <a:rPr lang="en-US" altLang="ko-KR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– </a:t>
            </a:r>
            <a:r>
              <a:rPr lang="ko-KR" altLang="en-US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히스토그램</a:t>
            </a:r>
            <a:endParaRPr lang="en-US" altLang="ko-KR" b="1" dirty="0" smtClean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 algn="just" latinLnBrk="1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ko-KR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algn="just" latinLnBrk="1">
              <a:spcAft>
                <a:spcPts val="600"/>
              </a:spcAft>
            </a:pPr>
            <a:r>
              <a:rPr lang="ko-KR" altLang="en-US" b="1" dirty="0" smtClean="0">
                <a:solidFill>
                  <a:srgbClr val="00B0F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예시</a:t>
            </a:r>
            <a:r>
              <a:rPr lang="en-US" altLang="ko-KR" b="1" dirty="0" smtClean="0">
                <a:solidFill>
                  <a:srgbClr val="00B0F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10</a:t>
            </a:r>
            <a:r>
              <a:rPr lang="ko-KR" altLang="en-US" b="1" dirty="0" smtClean="0">
                <a:solidFill>
                  <a:srgbClr val="00B0F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명의 학생에 대한 키</a:t>
            </a:r>
            <a:endParaRPr lang="en-US" altLang="ko-KR" b="1" dirty="0" smtClean="0">
              <a:solidFill>
                <a:srgbClr val="00B0F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algn="just" latinLnBrk="1">
              <a:spcAft>
                <a:spcPts val="600"/>
              </a:spcAft>
            </a:pPr>
            <a:endParaRPr lang="en-US" altLang="ko-KR" b="1" dirty="0" smtClean="0">
              <a:solidFill>
                <a:srgbClr val="00B0F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algn="just" latinLnBrk="1">
              <a:spcAft>
                <a:spcPts val="600"/>
              </a:spcAft>
            </a:pPr>
            <a:r>
              <a:rPr lang="en-US" altLang="ko-KR" dirty="0" smtClean="0"/>
              <a:t>165.6</a:t>
            </a:r>
            <a:r>
              <a:rPr lang="en-US" altLang="ko-KR" dirty="0"/>
              <a:t>, 169.9, </a:t>
            </a:r>
            <a:r>
              <a:rPr lang="en-US" altLang="ko-KR" dirty="0" smtClean="0"/>
              <a:t>171.3, 151.6, 150.5, </a:t>
            </a:r>
            <a:r>
              <a:rPr lang="en-US" altLang="ko-KR" dirty="0"/>
              <a:t>158.2, 149.5, </a:t>
            </a:r>
            <a:r>
              <a:rPr lang="en-US" altLang="ko-KR" dirty="0" smtClean="0"/>
              <a:t>152.2, 170.1, 164.5 (</a:t>
            </a:r>
            <a:r>
              <a:rPr lang="ko-KR" altLang="en-US" sz="1600" dirty="0" smtClean="0"/>
              <a:t>실제 키</a:t>
            </a:r>
            <a:r>
              <a:rPr lang="en-US" altLang="ko-KR" dirty="0" smtClean="0"/>
              <a:t>)</a:t>
            </a:r>
          </a:p>
          <a:p>
            <a:pPr algn="just" latinLnBrk="1">
              <a:spcAft>
                <a:spcPts val="600"/>
              </a:spcAft>
            </a:pPr>
            <a:endParaRPr lang="en-US" altLang="ko-KR" dirty="0" smtClean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algn="just" latinLnBrk="1">
              <a:spcAft>
                <a:spcPts val="600"/>
              </a:spcAft>
            </a:pPr>
            <a:endParaRPr lang="en-US" altLang="ko-KR" dirty="0" smtClean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algn="just" latinLnBrk="1">
              <a:spcAft>
                <a:spcPts val="600"/>
              </a:spcAft>
            </a:pPr>
            <a:r>
              <a:rPr lang="en-US" altLang="ko-KR" dirty="0" smtClean="0">
                <a:ea typeface="NanumGothic" panose="020D0604000000000000" pitchFamily="34" charset="-127"/>
              </a:rPr>
              <a:t>170, 170, 170, 150, 150, 160, 150, 150, 170, 160 (</a:t>
            </a:r>
            <a:r>
              <a:rPr lang="ko-KR" altLang="en-US" sz="1600" dirty="0" smtClean="0">
                <a:ea typeface="NanumGothic" panose="020D0604000000000000" pitchFamily="34" charset="-127"/>
              </a:rPr>
              <a:t>소수점 절삭</a:t>
            </a:r>
            <a:r>
              <a:rPr lang="en-US" altLang="ko-KR" sz="1600" dirty="0" smtClean="0">
                <a:ea typeface="NanumGothic" panose="020D0604000000000000" pitchFamily="34" charset="-127"/>
              </a:rPr>
              <a:t>, </a:t>
            </a:r>
            <a:r>
              <a:rPr lang="ko-KR" altLang="en-US" sz="1600" dirty="0" smtClean="0">
                <a:ea typeface="NanumGothic" panose="020D0604000000000000" pitchFamily="34" charset="-127"/>
              </a:rPr>
              <a:t>일의 자리에서 반올림</a:t>
            </a:r>
            <a:r>
              <a:rPr lang="en-US" altLang="ko-KR" dirty="0" smtClean="0">
                <a:ea typeface="NanumGothic" panose="020D0604000000000000" pitchFamily="34" charset="-127"/>
              </a:rPr>
              <a:t>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D24E5A-6EF2-4301-BBDA-C418695D3FF3}"/>
              </a:ext>
            </a:extLst>
          </p:cNvPr>
          <p:cNvSpPr txBox="1"/>
          <p:nvPr/>
        </p:nvSpPr>
        <p:spPr>
          <a:xfrm>
            <a:off x="3560345" y="6538913"/>
            <a:ext cx="30171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2021-1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학기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비즈니스 데이터 사이언스</a:t>
            </a:r>
            <a:r>
              <a:rPr lang="en-US" altLang="ko-KR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세미나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4" name="직선 화살표 연결선 3"/>
          <p:cNvCxnSpPr/>
          <p:nvPr/>
        </p:nvCxnSpPr>
        <p:spPr>
          <a:xfrm>
            <a:off x="2895600" y="3020661"/>
            <a:ext cx="0" cy="41401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/>
          <p:nvPr/>
        </p:nvCxnSpPr>
        <p:spPr>
          <a:xfrm>
            <a:off x="2415989" y="4058135"/>
            <a:ext cx="959223" cy="88141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0345" y="4018197"/>
            <a:ext cx="3752850" cy="24098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62811" y="4447113"/>
            <a:ext cx="1721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solidFill>
                  <a:srgbClr val="C00000"/>
                </a:solidFill>
              </a:rPr>
              <a:t>Problem!!</a:t>
            </a:r>
            <a:endParaRPr lang="ko-KR" altLang="en-US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6579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898060" y="6540548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E00F004-BD89-484A-9E0D-939812231C51}"/>
              </a:ext>
            </a:extLst>
          </p:cNvPr>
          <p:cNvSpPr/>
          <p:nvPr/>
        </p:nvSpPr>
        <p:spPr>
          <a:xfrm>
            <a:off x="0" y="6448285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16A8DA-5D55-45BD-85EA-BE2F87A4FCF7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DA6BE5-037F-4552-8536-DD1511D2DB96}"/>
              </a:ext>
            </a:extLst>
          </p:cNvPr>
          <p:cNvSpPr txBox="1"/>
          <p:nvPr/>
        </p:nvSpPr>
        <p:spPr>
          <a:xfrm>
            <a:off x="401050" y="289035"/>
            <a:ext cx="78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b="1" dirty="0" smtClean="0">
                <a:ea typeface="NanumGothic" panose="020D0604000000000000"/>
              </a:rPr>
              <a:t>대표적 군집화 기법</a:t>
            </a:r>
            <a:r>
              <a:rPr lang="en-US" altLang="ko-KR" sz="2000" b="1" dirty="0" smtClean="0">
                <a:ea typeface="NanumGothic" panose="020D0604000000000000"/>
              </a:rPr>
              <a:t>(Mean Shift Clustering)</a:t>
            </a:r>
            <a:endParaRPr lang="en-US" altLang="ko-KR" sz="2000" b="1" dirty="0">
              <a:ea typeface="NanumGothic" panose="020D060400000000000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AAABA0-83DE-8C46-91C4-A610346B147D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文本框 4">
            <a:extLst>
              <a:ext uri="{FF2B5EF4-FFF2-40B4-BE49-F238E27FC236}">
                <a16:creationId xmlns:a16="http://schemas.microsoft.com/office/drawing/2014/main" id="{914EA958-2EA0-7E43-9809-FACBE5B6E295}"/>
              </a:ext>
            </a:extLst>
          </p:cNvPr>
          <p:cNvSpPr txBox="1"/>
          <p:nvPr/>
        </p:nvSpPr>
        <p:spPr>
          <a:xfrm>
            <a:off x="401050" y="1125935"/>
            <a:ext cx="8429185" cy="2139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latinLnBrk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b="1" dirty="0" err="1" smtClean="0">
                <a:latin typeface="NanumGothic" panose="020D0604000000000000" pitchFamily="34" charset="-127"/>
                <a:ea typeface="NanumGothic" panose="020D0604000000000000" pitchFamily="34" charset="-127"/>
              </a:rPr>
              <a:t>비모수적</a:t>
            </a:r>
            <a:r>
              <a:rPr lang="ko-KR" altLang="en-US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 방법의 대표적 예시 </a:t>
            </a:r>
            <a:r>
              <a:rPr lang="en-US" altLang="ko-KR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– </a:t>
            </a:r>
            <a:r>
              <a:rPr lang="ko-KR" altLang="en-US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히스토그램</a:t>
            </a:r>
            <a:endParaRPr lang="en-US" altLang="ko-KR" b="1" dirty="0" smtClean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 algn="just" latinLnBrk="1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ko-KR" b="1" dirty="0" smtClean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algn="just" latinLnBrk="1">
              <a:spcAft>
                <a:spcPts val="600"/>
              </a:spcAft>
            </a:pPr>
            <a:r>
              <a:rPr lang="en-US" altLang="ko-KR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Problem 1. </a:t>
            </a:r>
            <a:r>
              <a:rPr lang="ko-KR" altLang="en-US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데이터 경계의 불연속성 </a:t>
            </a:r>
            <a:r>
              <a:rPr lang="en-US" altLang="ko-KR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(ex: </a:t>
            </a:r>
            <a:r>
              <a:rPr lang="ko-KR" altLang="en-US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키가 </a:t>
            </a:r>
            <a:r>
              <a:rPr lang="en-US" altLang="ko-KR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171cm</a:t>
            </a:r>
            <a:r>
              <a:rPr lang="ko-KR" altLang="en-US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인 학생은 몇 명</a:t>
            </a:r>
            <a:r>
              <a:rPr lang="en-US" altLang="ko-KR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?)</a:t>
            </a:r>
          </a:p>
          <a:p>
            <a:pPr marL="285750" indent="-285750" algn="just" latinLnBrk="1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ko-KR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algn="just" latinLnBrk="1">
              <a:spcAft>
                <a:spcPts val="600"/>
              </a:spcAft>
            </a:pPr>
            <a:r>
              <a:rPr lang="en-US" altLang="ko-KR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Problem 2. </a:t>
            </a:r>
            <a:r>
              <a:rPr lang="ko-KR" altLang="en-US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히스토그램 폭에 따른 분포의 변동성</a:t>
            </a:r>
            <a:endParaRPr lang="en-US" altLang="ko-KR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algn="just" latinLnBrk="1">
              <a:spcAft>
                <a:spcPts val="600"/>
              </a:spcAft>
            </a:pPr>
            <a:endParaRPr lang="en-US" altLang="ko-KR" dirty="0" smtClean="0">
              <a:solidFill>
                <a:srgbClr val="00B0F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D24E5A-6EF2-4301-BBDA-C418695D3FF3}"/>
              </a:ext>
            </a:extLst>
          </p:cNvPr>
          <p:cNvSpPr txBox="1"/>
          <p:nvPr/>
        </p:nvSpPr>
        <p:spPr>
          <a:xfrm>
            <a:off x="3560345" y="6538913"/>
            <a:ext cx="30171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2021-1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학기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비즈니스 데이터 사이언스</a:t>
            </a:r>
            <a:r>
              <a:rPr lang="en-US" altLang="ko-KR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세미나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531" y="3379694"/>
            <a:ext cx="4161300" cy="2810634"/>
          </a:xfrm>
          <a:prstGeom prst="rect">
            <a:avLst/>
          </a:prstGeom>
        </p:spPr>
      </p:pic>
      <p:cxnSp>
        <p:nvCxnSpPr>
          <p:cNvPr id="5" name="직선 화살표 연결선 4"/>
          <p:cNvCxnSpPr/>
          <p:nvPr/>
        </p:nvCxnSpPr>
        <p:spPr>
          <a:xfrm>
            <a:off x="5773271" y="3074894"/>
            <a:ext cx="932329" cy="8964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/>
          <p:nvPr/>
        </p:nvCxnSpPr>
        <p:spPr>
          <a:xfrm flipH="1">
            <a:off x="6898060" y="2356631"/>
            <a:ext cx="634535" cy="16147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844988" y="4043082"/>
            <a:ext cx="22680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solidFill>
                  <a:srgbClr val="00B050"/>
                </a:solidFill>
              </a:rPr>
              <a:t>How to solve </a:t>
            </a:r>
          </a:p>
          <a:p>
            <a:r>
              <a:rPr lang="en-US" altLang="ko-KR" sz="2400" b="1" dirty="0">
                <a:solidFill>
                  <a:srgbClr val="00B050"/>
                </a:solidFill>
              </a:rPr>
              <a:t>t</a:t>
            </a:r>
            <a:r>
              <a:rPr lang="en-US" altLang="ko-KR" sz="2400" b="1" dirty="0" smtClean="0">
                <a:solidFill>
                  <a:srgbClr val="00B050"/>
                </a:solidFill>
              </a:rPr>
              <a:t>hese problems? </a:t>
            </a:r>
            <a:endParaRPr lang="ko-KR" altLang="en-US" sz="24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2616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898060" y="6540548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E00F004-BD89-484A-9E0D-939812231C51}"/>
              </a:ext>
            </a:extLst>
          </p:cNvPr>
          <p:cNvSpPr/>
          <p:nvPr/>
        </p:nvSpPr>
        <p:spPr>
          <a:xfrm>
            <a:off x="0" y="6448285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16A8DA-5D55-45BD-85EA-BE2F87A4FCF7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DA6BE5-037F-4552-8536-DD1511D2DB96}"/>
              </a:ext>
            </a:extLst>
          </p:cNvPr>
          <p:cNvSpPr txBox="1"/>
          <p:nvPr/>
        </p:nvSpPr>
        <p:spPr>
          <a:xfrm>
            <a:off x="401050" y="289035"/>
            <a:ext cx="78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b="1" dirty="0" smtClean="0">
                <a:ea typeface="NanumGothic" panose="020D0604000000000000"/>
              </a:rPr>
              <a:t>대표적 군집화 기법</a:t>
            </a:r>
            <a:r>
              <a:rPr lang="en-US" altLang="ko-KR" sz="2000" b="1" dirty="0" smtClean="0">
                <a:ea typeface="NanumGothic" panose="020D0604000000000000"/>
              </a:rPr>
              <a:t>(Mean Shift Clustering)</a:t>
            </a:r>
            <a:endParaRPr lang="en-US" altLang="ko-KR" sz="2000" b="1" dirty="0">
              <a:ea typeface="NanumGothic" panose="020D060400000000000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AAABA0-83DE-8C46-91C4-A610346B147D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文本框 4">
            <a:extLst>
              <a:ext uri="{FF2B5EF4-FFF2-40B4-BE49-F238E27FC236}">
                <a16:creationId xmlns:a16="http://schemas.microsoft.com/office/drawing/2014/main" id="{914EA958-2EA0-7E43-9809-FACBE5B6E295}"/>
              </a:ext>
            </a:extLst>
          </p:cNvPr>
          <p:cNvSpPr txBox="1"/>
          <p:nvPr/>
        </p:nvSpPr>
        <p:spPr>
          <a:xfrm>
            <a:off x="401050" y="1125935"/>
            <a:ext cx="7765797" cy="2139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latinLnBrk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커널 함수의 등장</a:t>
            </a:r>
            <a:endParaRPr lang="en-US" altLang="ko-KR" b="1" dirty="0" smtClean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 algn="just" latinLnBrk="1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ko-KR" dirty="0" smtClean="0">
              <a:solidFill>
                <a:srgbClr val="00B0F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algn="just" latinLnBrk="1">
              <a:spcAft>
                <a:spcPts val="600"/>
              </a:spcAft>
            </a:pPr>
            <a:r>
              <a:rPr lang="ko-KR" altLang="en-US" b="1" dirty="0" smtClean="0">
                <a:solidFill>
                  <a:srgbClr val="00B0F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예시</a:t>
            </a:r>
            <a:r>
              <a:rPr lang="en-US" altLang="ko-KR" b="1" dirty="0" smtClean="0">
                <a:solidFill>
                  <a:srgbClr val="00B0F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r>
              <a:rPr lang="en-US" altLang="ko-KR" b="1" dirty="0">
                <a:solidFill>
                  <a:srgbClr val="00B0F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10</a:t>
            </a:r>
            <a:r>
              <a:rPr lang="ko-KR" altLang="en-US" b="1" dirty="0">
                <a:solidFill>
                  <a:srgbClr val="00B0F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명의 학생에 대한 </a:t>
            </a:r>
            <a:r>
              <a:rPr lang="ko-KR" altLang="en-US" b="1" dirty="0" smtClean="0">
                <a:solidFill>
                  <a:srgbClr val="00B0F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키</a:t>
            </a:r>
            <a:endParaRPr lang="en-US" altLang="ko-KR" b="1" dirty="0">
              <a:solidFill>
                <a:srgbClr val="00B0F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algn="just" latinLnBrk="1">
              <a:spcAft>
                <a:spcPts val="600"/>
              </a:spcAft>
            </a:pPr>
            <a:r>
              <a:rPr lang="en-US" altLang="ko-KR" dirty="0"/>
              <a:t>165.6, 169.9, 171.3, 151.6, 150.5, 158.2, 149.5, 152.2, 170.1, 164.5 (</a:t>
            </a:r>
            <a:r>
              <a:rPr lang="ko-KR" altLang="en-US" sz="1600" dirty="0"/>
              <a:t>실제 키</a:t>
            </a:r>
            <a:r>
              <a:rPr lang="en-US" altLang="ko-KR" dirty="0"/>
              <a:t>)</a:t>
            </a:r>
          </a:p>
          <a:p>
            <a:pPr algn="just" latinLnBrk="1">
              <a:spcAft>
                <a:spcPts val="600"/>
              </a:spcAft>
            </a:pPr>
            <a:endParaRPr lang="en-US" altLang="ko-KR" dirty="0" smtClean="0">
              <a:solidFill>
                <a:srgbClr val="00B0F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algn="just" latinLnBrk="1">
              <a:spcAft>
                <a:spcPts val="600"/>
              </a:spcAft>
            </a:pPr>
            <a:endParaRPr lang="en-US" altLang="ko-KR" dirty="0" smtClean="0">
              <a:solidFill>
                <a:srgbClr val="00B0F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D24E5A-6EF2-4301-BBDA-C418695D3FF3}"/>
              </a:ext>
            </a:extLst>
          </p:cNvPr>
          <p:cNvSpPr txBox="1"/>
          <p:nvPr/>
        </p:nvSpPr>
        <p:spPr>
          <a:xfrm>
            <a:off x="3560345" y="6538913"/>
            <a:ext cx="30171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2021-1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학기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비즈니스 데이터 사이언스</a:t>
            </a:r>
            <a:r>
              <a:rPr lang="en-US" altLang="ko-KR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세미나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타원 5"/>
          <p:cNvSpPr/>
          <p:nvPr/>
        </p:nvSpPr>
        <p:spPr>
          <a:xfrm>
            <a:off x="1102659" y="2178424"/>
            <a:ext cx="555812" cy="358588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직선 화살표 연결선 15"/>
          <p:cNvCxnSpPr>
            <a:stCxn id="6" idx="4"/>
          </p:cNvCxnSpPr>
          <p:nvPr/>
        </p:nvCxnSpPr>
        <p:spPr>
          <a:xfrm>
            <a:off x="1380565" y="2537012"/>
            <a:ext cx="358588" cy="7279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99249" y="3285439"/>
            <a:ext cx="304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키가 </a:t>
            </a:r>
            <a:r>
              <a:rPr lang="en-US" altLang="ko-KR" dirty="0" smtClean="0"/>
              <a:t>169.9cm</a:t>
            </a:r>
            <a:r>
              <a:rPr lang="ko-KR" altLang="en-US" dirty="0" smtClean="0"/>
              <a:t>인 학생은 </a:t>
            </a:r>
            <a:r>
              <a:rPr lang="en-US" altLang="ko-KR" dirty="0" smtClean="0"/>
              <a:t>1</a:t>
            </a:r>
            <a:r>
              <a:rPr lang="ko-KR" altLang="en-US" dirty="0" smtClean="0"/>
              <a:t>명</a:t>
            </a:r>
            <a:r>
              <a:rPr lang="en-US" altLang="ko-KR" dirty="0" smtClean="0"/>
              <a:t>, 170.0cm</a:t>
            </a:r>
            <a:r>
              <a:rPr lang="ko-KR" altLang="en-US" dirty="0" smtClean="0"/>
              <a:t>인 학생은 없다</a:t>
            </a:r>
            <a:r>
              <a:rPr lang="en-US" altLang="ko-KR" dirty="0" smtClean="0"/>
              <a:t>. </a:t>
            </a:r>
            <a:endParaRPr lang="ko-KR" alt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4769225" y="3287967"/>
            <a:ext cx="3621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키가 </a:t>
            </a:r>
            <a:r>
              <a:rPr lang="en-US" altLang="ko-KR" b="1" dirty="0" smtClean="0">
                <a:solidFill>
                  <a:srgbClr val="00B050"/>
                </a:solidFill>
              </a:rPr>
              <a:t>170.0cm</a:t>
            </a:r>
            <a:r>
              <a:rPr lang="ko-KR" altLang="en-US" dirty="0" smtClean="0"/>
              <a:t>인 학생은 </a:t>
            </a:r>
            <a:r>
              <a:rPr lang="en-US" altLang="ko-KR" b="1" dirty="0" smtClean="0">
                <a:solidFill>
                  <a:srgbClr val="00B050"/>
                </a:solidFill>
              </a:rPr>
              <a:t>0.2</a:t>
            </a:r>
            <a:r>
              <a:rPr lang="ko-KR" altLang="en-US" b="1" dirty="0" smtClean="0">
                <a:solidFill>
                  <a:srgbClr val="00B050"/>
                </a:solidFill>
              </a:rPr>
              <a:t>명</a:t>
            </a:r>
            <a:r>
              <a:rPr lang="ko-KR" altLang="en-US" dirty="0" smtClean="0"/>
              <a:t> 있고</a:t>
            </a:r>
            <a:r>
              <a:rPr lang="en-US" altLang="ko-KR" dirty="0" smtClean="0"/>
              <a:t>, </a:t>
            </a:r>
            <a:r>
              <a:rPr lang="en-US" altLang="ko-KR" b="1" dirty="0" smtClean="0">
                <a:solidFill>
                  <a:srgbClr val="00B050"/>
                </a:solidFill>
              </a:rPr>
              <a:t>170.1cm</a:t>
            </a:r>
            <a:r>
              <a:rPr lang="ko-KR" altLang="en-US" dirty="0" smtClean="0"/>
              <a:t>인 학생도 </a:t>
            </a:r>
            <a:r>
              <a:rPr lang="en-US" altLang="ko-KR" b="1" dirty="0" smtClean="0">
                <a:solidFill>
                  <a:srgbClr val="00B050"/>
                </a:solidFill>
              </a:rPr>
              <a:t>0.1</a:t>
            </a:r>
            <a:r>
              <a:rPr lang="ko-KR" altLang="en-US" b="1" dirty="0" smtClean="0">
                <a:solidFill>
                  <a:srgbClr val="00B050"/>
                </a:solidFill>
              </a:rPr>
              <a:t>명</a:t>
            </a:r>
            <a:r>
              <a:rPr lang="ko-KR" altLang="en-US" dirty="0" smtClean="0"/>
              <a:t> 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3810004" y="3365671"/>
            <a:ext cx="770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 smtClean="0">
                <a:solidFill>
                  <a:srgbClr val="9F1915"/>
                </a:solidFill>
              </a:rPr>
              <a:t>VS</a:t>
            </a:r>
            <a:endParaRPr lang="ko-KR" altLang="en-US" b="1" dirty="0">
              <a:solidFill>
                <a:srgbClr val="9F1915"/>
              </a:solidFill>
            </a:endParaRPr>
          </a:p>
        </p:txBody>
      </p:sp>
      <p:cxnSp>
        <p:nvCxnSpPr>
          <p:cNvPr id="24" name="직선 화살표 연결선 23"/>
          <p:cNvCxnSpPr>
            <a:stCxn id="18" idx="2"/>
          </p:cNvCxnSpPr>
          <p:nvPr/>
        </p:nvCxnSpPr>
        <p:spPr>
          <a:xfrm flipH="1">
            <a:off x="4195485" y="3735003"/>
            <a:ext cx="1" cy="10611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223249" y="4980784"/>
            <a:ext cx="4105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solidFill>
                  <a:srgbClr val="00B050"/>
                </a:solidFill>
              </a:rPr>
              <a:t>데이터의 명확한 경계를 허물어버리자</a:t>
            </a:r>
            <a:r>
              <a:rPr lang="en-US" altLang="ko-KR" b="1" dirty="0" smtClean="0">
                <a:solidFill>
                  <a:srgbClr val="00B050"/>
                </a:solidFill>
              </a:rPr>
              <a:t>!</a:t>
            </a:r>
            <a:endParaRPr lang="ko-KR" altLang="en-US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56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898060" y="6540548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E00F004-BD89-484A-9E0D-939812231C51}"/>
              </a:ext>
            </a:extLst>
          </p:cNvPr>
          <p:cNvSpPr/>
          <p:nvPr/>
        </p:nvSpPr>
        <p:spPr>
          <a:xfrm>
            <a:off x="0" y="6448285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16A8DA-5D55-45BD-85EA-BE2F87A4FCF7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DA6BE5-037F-4552-8536-DD1511D2DB96}"/>
              </a:ext>
            </a:extLst>
          </p:cNvPr>
          <p:cNvSpPr txBox="1"/>
          <p:nvPr/>
        </p:nvSpPr>
        <p:spPr>
          <a:xfrm>
            <a:off x="401050" y="289035"/>
            <a:ext cx="78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b="1" dirty="0" smtClean="0">
                <a:ea typeface="NanumGothic" panose="020D0604000000000000"/>
              </a:rPr>
              <a:t>대표적 군집화 기법</a:t>
            </a:r>
            <a:r>
              <a:rPr lang="en-US" altLang="ko-KR" sz="2000" b="1" dirty="0" smtClean="0">
                <a:ea typeface="NanumGothic" panose="020D0604000000000000"/>
              </a:rPr>
              <a:t>(Mean Shift Clustering)</a:t>
            </a:r>
            <a:endParaRPr lang="en-US" altLang="ko-KR" sz="2000" b="1" dirty="0">
              <a:ea typeface="NanumGothic" panose="020D060400000000000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AAABA0-83DE-8C46-91C4-A610346B147D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4">
                <a:extLst>
                  <a:ext uri="{FF2B5EF4-FFF2-40B4-BE49-F238E27FC236}">
                    <a16:creationId xmlns:a16="http://schemas.microsoft.com/office/drawing/2014/main" id="{914EA958-2EA0-7E43-9809-FACBE5B6E295}"/>
                  </a:ext>
                </a:extLst>
              </p:cNvPr>
              <p:cNvSpPr txBox="1"/>
              <p:nvPr/>
            </p:nvSpPr>
            <p:spPr>
              <a:xfrm>
                <a:off x="401050" y="1125935"/>
                <a:ext cx="7765797" cy="25816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algn="just" latinLnBrk="1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b="1" dirty="0" smtClean="0"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커널 함수</a:t>
                </a:r>
                <a:endParaRPr lang="en-US" altLang="ko-KR" dirty="0" smtClean="0">
                  <a:solidFill>
                    <a:srgbClr val="00B0F0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  <a:p>
                <a:pPr algn="just" latinLnBrk="1">
                  <a:spcAft>
                    <a:spcPts val="600"/>
                  </a:spcAft>
                </a:pPr>
                <a:endParaRPr lang="en-US" altLang="ko-KR" dirty="0" smtClean="0">
                  <a:solidFill>
                    <a:srgbClr val="00B0F0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  <a:p>
                <a:pPr marL="285750" indent="-285750" algn="just" latinLnBrk="1">
                  <a:spcAft>
                    <a:spcPts val="600"/>
                  </a:spcAft>
                  <a:buFontTx/>
                  <a:buChar char="-"/>
                </a:pPr>
                <a:r>
                  <a:rPr lang="ko-KR" altLang="en-US" dirty="0" smtClean="0">
                    <a:latin typeface="+mn-ea"/>
                  </a:rPr>
                  <a:t>원점 대칭이며</a:t>
                </a:r>
                <a:r>
                  <a:rPr lang="en-US" altLang="ko-KR" dirty="0" smtClean="0">
                    <a:latin typeface="+mn-ea"/>
                  </a:rPr>
                  <a:t>, </a:t>
                </a:r>
                <a:r>
                  <a:rPr lang="ko-KR" altLang="en-US" dirty="0" smtClean="0">
                    <a:latin typeface="+mn-ea"/>
                  </a:rPr>
                  <a:t>전체 </a:t>
                </a:r>
                <a:r>
                  <a:rPr lang="ko-KR" altLang="en-US" dirty="0" err="1" smtClean="0">
                    <a:latin typeface="+mn-ea"/>
                  </a:rPr>
                  <a:t>정의역</a:t>
                </a:r>
                <a:r>
                  <a:rPr lang="ko-KR" altLang="en-US" dirty="0" smtClean="0">
                    <a:latin typeface="+mn-ea"/>
                  </a:rPr>
                  <a:t> 구간에서 적분한 결과가 </a:t>
                </a:r>
                <a:r>
                  <a:rPr lang="en-US" altLang="ko-KR" dirty="0" smtClean="0">
                    <a:latin typeface="+mn-ea"/>
                  </a:rPr>
                  <a:t>1</a:t>
                </a:r>
                <a:r>
                  <a:rPr lang="ko-KR" altLang="en-US" dirty="0" smtClean="0">
                    <a:latin typeface="+mn-ea"/>
                  </a:rPr>
                  <a:t>인 함수</a:t>
                </a:r>
                <a:endParaRPr lang="en-US" altLang="ko-KR" dirty="0" smtClean="0">
                  <a:latin typeface="+mn-ea"/>
                </a:endParaRPr>
              </a:p>
              <a:p>
                <a:pPr algn="ctr" latinLnBrk="1">
                  <a:spcAft>
                    <a:spcPts val="600"/>
                  </a:spcAft>
                </a:pPr>
                <a14:m>
                  <m:oMath xmlns:m="http://schemas.openxmlformats.org/officeDocument/2006/math">
                    <m:nary>
                      <m:naryPr>
                        <m:ctrlPr>
                          <a:rPr lang="en-US" altLang="ko-KR" b="1" i="1" smtClean="0">
                            <a:latin typeface="Cambria Math" panose="02040503050406030204" pitchFamily="18" charset="0"/>
                            <a:ea typeface="NanumGothic" panose="020D0604000000000000" pitchFamily="34" charset="-127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b="1" i="1" smtClean="0">
                            <a:latin typeface="Cambria Math" panose="02040503050406030204" pitchFamily="18" charset="0"/>
                            <a:ea typeface="NanumGothic" panose="020D0604000000000000" pitchFamily="34" charset="-127"/>
                          </a:rPr>
                          <m:t>−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ko-KR" b="1" i="1" smtClean="0">
                            <a:latin typeface="Cambria Math" panose="02040503050406030204" pitchFamily="18" charset="0"/>
                            <a:ea typeface="NanumGothic" panose="020D0604000000000000" pitchFamily="34" charset="-127"/>
                          </a:rPr>
                          <m:t>+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  <a:ea typeface="NanumGothic" panose="020D0604000000000000" pitchFamily="34" charset="-127"/>
                          </a:rPr>
                          <m:t>𝑲</m:t>
                        </m:r>
                        <m:d>
                          <m:dPr>
                            <m:ctrlPr>
                              <a:rPr lang="en-US" altLang="ko-KR" b="1" i="1" smtClean="0">
                                <a:latin typeface="Cambria Math" panose="02040503050406030204" pitchFamily="18" charset="0"/>
                                <a:ea typeface="NanumGothic" panose="020D0604000000000000" pitchFamily="34" charset="-127"/>
                              </a:rPr>
                            </m:ctrlPr>
                          </m:dPr>
                          <m:e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  <a:ea typeface="NanumGothic" panose="020D0604000000000000" pitchFamily="34" charset="-127"/>
                              </a:rPr>
                              <m:t>𝒙</m:t>
                            </m:r>
                          </m:e>
                        </m:d>
                        <m:r>
                          <a:rPr lang="en-US" altLang="ko-KR" b="1" i="1" smtClean="0">
                            <a:latin typeface="Cambria Math" panose="02040503050406030204" pitchFamily="18" charset="0"/>
                            <a:ea typeface="NanumGothic" panose="020D0604000000000000" pitchFamily="34" charset="-127"/>
                          </a:rPr>
                          <m:t>𝒅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  <a:ea typeface="NanumGothic" panose="020D0604000000000000" pitchFamily="34" charset="-127"/>
                          </a:rPr>
                          <m:t>𝒙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  <a:ea typeface="NanumGothic" panose="020D0604000000000000" pitchFamily="34" charset="-127"/>
                          </a:rPr>
                          <m:t>=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  <a:ea typeface="NanumGothic" panose="020D0604000000000000" pitchFamily="34" charset="-127"/>
                          </a:rPr>
                          <m:t>𝟏</m:t>
                        </m:r>
                      </m:e>
                    </m:nary>
                  </m:oMath>
                </a14:m>
                <a:r>
                  <a:rPr lang="en-US" altLang="ko-KR" b="1" dirty="0" smtClean="0"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 ,</a:t>
                </a:r>
              </a:p>
              <a:p>
                <a:pPr algn="just" latinLnBrk="1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1" i="1" smtClean="0">
                          <a:latin typeface="Cambria Math" panose="02040503050406030204" pitchFamily="18" charset="0"/>
                          <a:ea typeface="NanumGothic" panose="020D0604000000000000" pitchFamily="34" charset="-127"/>
                        </a:rPr>
                        <m:t>𝑲</m:t>
                      </m:r>
                      <m:d>
                        <m:dPr>
                          <m:ctrlPr>
                            <a:rPr lang="en-US" altLang="ko-KR" b="1" i="1" smtClean="0">
                              <a:latin typeface="Cambria Math" panose="02040503050406030204" pitchFamily="18" charset="0"/>
                              <a:ea typeface="NanumGothic" panose="020D0604000000000000" pitchFamily="34" charset="-127"/>
                            </a:rPr>
                          </m:ctrlPr>
                        </m:dPr>
                        <m:e>
                          <m:r>
                            <a:rPr lang="en-US" altLang="ko-KR" b="1" i="1" smtClean="0">
                              <a:latin typeface="Cambria Math" panose="02040503050406030204" pitchFamily="18" charset="0"/>
                              <a:ea typeface="NanumGothic" panose="020D0604000000000000" pitchFamily="34" charset="-127"/>
                            </a:rPr>
                            <m:t>−</m:t>
                          </m:r>
                          <m:r>
                            <a:rPr lang="en-US" altLang="ko-KR" b="1" i="1" smtClean="0">
                              <a:latin typeface="Cambria Math" panose="02040503050406030204" pitchFamily="18" charset="0"/>
                              <a:ea typeface="NanumGothic" panose="020D0604000000000000" pitchFamily="34" charset="-127"/>
                            </a:rPr>
                            <m:t>𝒙</m:t>
                          </m:r>
                        </m:e>
                      </m:d>
                      <m:r>
                        <a:rPr lang="en-US" altLang="ko-KR" b="1" i="1" smtClean="0">
                          <a:latin typeface="Cambria Math" panose="02040503050406030204" pitchFamily="18" charset="0"/>
                          <a:ea typeface="NanumGothic" panose="020D0604000000000000" pitchFamily="34" charset="-127"/>
                        </a:rPr>
                        <m:t>=</m:t>
                      </m:r>
                      <m:r>
                        <a:rPr lang="en-US" altLang="ko-KR" b="1" i="1" smtClean="0">
                          <a:latin typeface="Cambria Math" panose="02040503050406030204" pitchFamily="18" charset="0"/>
                          <a:ea typeface="NanumGothic" panose="020D0604000000000000" pitchFamily="34" charset="-127"/>
                        </a:rPr>
                        <m:t>𝑲</m:t>
                      </m:r>
                      <m:d>
                        <m:dPr>
                          <m:ctrlPr>
                            <a:rPr lang="en-US" altLang="ko-KR" b="1" i="1" smtClean="0">
                              <a:latin typeface="Cambria Math" panose="02040503050406030204" pitchFamily="18" charset="0"/>
                              <a:ea typeface="NanumGothic" panose="020D0604000000000000" pitchFamily="34" charset="-127"/>
                            </a:rPr>
                          </m:ctrlPr>
                        </m:dPr>
                        <m:e>
                          <m:r>
                            <a:rPr lang="en-US" altLang="ko-KR" b="1" i="1" smtClean="0">
                              <a:latin typeface="Cambria Math" panose="02040503050406030204" pitchFamily="18" charset="0"/>
                              <a:ea typeface="NanumGothic" panose="020D0604000000000000" pitchFamily="34" charset="-127"/>
                            </a:rPr>
                            <m:t>𝒙</m:t>
                          </m:r>
                        </m:e>
                      </m:d>
                      <m:r>
                        <a:rPr lang="en-US" altLang="ko-KR" b="1" i="1" smtClean="0">
                          <a:latin typeface="Cambria Math" panose="02040503050406030204" pitchFamily="18" charset="0"/>
                          <a:ea typeface="NanumGothic" panose="020D0604000000000000" pitchFamily="34" charset="-127"/>
                        </a:rPr>
                        <m:t>, </m:t>
                      </m:r>
                      <m:r>
                        <a:rPr lang="en-US" altLang="ko-KR" b="1" i="1" smtClean="0">
                          <a:latin typeface="Cambria Math" panose="02040503050406030204" pitchFamily="18" charset="0"/>
                          <a:ea typeface="NanumGothic" panose="020D0604000000000000" pitchFamily="34" charset="-127"/>
                        </a:rPr>
                        <m:t>𝑲</m:t>
                      </m:r>
                      <m:d>
                        <m:dPr>
                          <m:ctrlPr>
                            <a:rPr lang="en-US" altLang="ko-KR" b="1" i="1" smtClean="0">
                              <a:latin typeface="Cambria Math" panose="02040503050406030204" pitchFamily="18" charset="0"/>
                              <a:ea typeface="NanumGothic" panose="020D0604000000000000" pitchFamily="34" charset="-127"/>
                            </a:rPr>
                          </m:ctrlPr>
                        </m:dPr>
                        <m:e>
                          <m:r>
                            <a:rPr lang="en-US" altLang="ko-KR" b="1" i="1" smtClean="0">
                              <a:latin typeface="Cambria Math" panose="02040503050406030204" pitchFamily="18" charset="0"/>
                              <a:ea typeface="NanumGothic" panose="020D0604000000000000" pitchFamily="34" charset="-127"/>
                            </a:rPr>
                            <m:t>𝒙</m:t>
                          </m:r>
                        </m:e>
                      </m:d>
                      <m:r>
                        <a:rPr lang="en-US" altLang="ko-KR" b="1" i="1" smtClean="0">
                          <a:latin typeface="Cambria Math" panose="02040503050406030204" pitchFamily="18" charset="0"/>
                          <a:ea typeface="NanumGothic" panose="020D0604000000000000" pitchFamily="34" charset="-127"/>
                        </a:rPr>
                        <m:t>&gt;</m:t>
                      </m:r>
                      <m:r>
                        <a:rPr lang="en-US" altLang="ko-KR" b="1" i="1" smtClean="0">
                          <a:latin typeface="Cambria Math" panose="02040503050406030204" pitchFamily="18" charset="0"/>
                          <a:ea typeface="NanumGothic" panose="020D0604000000000000" pitchFamily="34" charset="-127"/>
                        </a:rPr>
                        <m:t>𝟎</m:t>
                      </m:r>
                      <m:r>
                        <a:rPr lang="en-US" altLang="ko-KR" b="1" i="1" smtClean="0">
                          <a:latin typeface="Cambria Math" panose="02040503050406030204" pitchFamily="18" charset="0"/>
                          <a:ea typeface="NanumGothic" panose="020D0604000000000000" pitchFamily="34" charset="-127"/>
                        </a:rPr>
                        <m:t>, ∀</m:t>
                      </m:r>
                      <m:r>
                        <a:rPr lang="en-US" altLang="ko-KR" b="1" i="1" smtClean="0">
                          <a:latin typeface="Cambria Math" panose="02040503050406030204" pitchFamily="18" charset="0"/>
                          <a:ea typeface="NanumGothic" panose="020D0604000000000000" pitchFamily="34" charset="-127"/>
                        </a:rPr>
                        <m:t>𝒙</m:t>
                      </m:r>
                    </m:oMath>
                  </m:oMathPara>
                </a14:m>
                <a:endParaRPr lang="en-US" altLang="ko-KR" b="1" dirty="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  <a:p>
                <a:pPr algn="just" latinLnBrk="1">
                  <a:spcAft>
                    <a:spcPts val="600"/>
                  </a:spcAft>
                </a:pPr>
                <a:endParaRPr lang="en-US" altLang="ko-KR" b="1" dirty="0" smtClean="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  <a:p>
                <a:pPr marL="285750" indent="-285750" algn="just" latinLnBrk="1">
                  <a:spcAft>
                    <a:spcPts val="600"/>
                  </a:spcAft>
                  <a:buFontTx/>
                  <a:buChar char="-"/>
                </a:pPr>
                <a:r>
                  <a:rPr lang="en-US" altLang="ko-KR" dirty="0" smtClean="0">
                    <a:latin typeface="+mn-ea"/>
                  </a:rPr>
                  <a:t>Gaussian, Uniform, </a:t>
                </a:r>
                <a:r>
                  <a:rPr lang="en-US" altLang="ko-KR" dirty="0" err="1" smtClean="0">
                    <a:latin typeface="+mn-ea"/>
                  </a:rPr>
                  <a:t>Epanechnikov</a:t>
                </a:r>
                <a:r>
                  <a:rPr lang="en-US" altLang="ko-KR" dirty="0" smtClean="0">
                    <a:latin typeface="+mn-ea"/>
                  </a:rPr>
                  <a:t> </a:t>
                </a:r>
                <a:r>
                  <a:rPr lang="ko-KR" altLang="en-US" dirty="0" smtClean="0">
                    <a:latin typeface="+mn-ea"/>
                  </a:rPr>
                  <a:t>함수 등이 대표적 커널 함수</a:t>
                </a:r>
                <a:endParaRPr lang="en-US" altLang="ko-KR" dirty="0" smtClean="0">
                  <a:latin typeface="+mn-ea"/>
                </a:endParaRPr>
              </a:p>
            </p:txBody>
          </p:sp>
        </mc:Choice>
        <mc:Fallback>
          <p:sp>
            <p:nvSpPr>
              <p:cNvPr id="14" name="文本框 4">
                <a:extLst>
                  <a:ext uri="{FF2B5EF4-FFF2-40B4-BE49-F238E27FC236}">
                    <a16:creationId xmlns:a16="http://schemas.microsoft.com/office/drawing/2014/main" id="{914EA958-2EA0-7E43-9809-FACBE5B6E2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050" y="1125935"/>
                <a:ext cx="7765797" cy="2581604"/>
              </a:xfrm>
              <a:prstGeom prst="rect">
                <a:avLst/>
              </a:prstGeom>
              <a:blipFill>
                <a:blip r:embed="rId4"/>
                <a:stretch>
                  <a:fillRect l="-863" t="-1418" b="-35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6CD24E5A-6EF2-4301-BBDA-C418695D3FF3}"/>
              </a:ext>
            </a:extLst>
          </p:cNvPr>
          <p:cNvSpPr txBox="1"/>
          <p:nvPr/>
        </p:nvSpPr>
        <p:spPr>
          <a:xfrm>
            <a:off x="3560345" y="6538913"/>
            <a:ext cx="30171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2021-1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학기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비즈니스 데이터 사이언스</a:t>
            </a:r>
            <a:r>
              <a:rPr lang="en-US" altLang="ko-KR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세미나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2919" y="3675110"/>
            <a:ext cx="4845142" cy="2770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119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898060" y="6540548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E00F004-BD89-484A-9E0D-939812231C51}"/>
              </a:ext>
            </a:extLst>
          </p:cNvPr>
          <p:cNvSpPr/>
          <p:nvPr/>
        </p:nvSpPr>
        <p:spPr>
          <a:xfrm>
            <a:off x="0" y="6448285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16A8DA-5D55-45BD-85EA-BE2F87A4FCF7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DA6BE5-037F-4552-8536-DD1511D2DB96}"/>
              </a:ext>
            </a:extLst>
          </p:cNvPr>
          <p:cNvSpPr txBox="1"/>
          <p:nvPr/>
        </p:nvSpPr>
        <p:spPr>
          <a:xfrm>
            <a:off x="401050" y="289035"/>
            <a:ext cx="78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b="1" dirty="0" smtClean="0">
                <a:ea typeface="NanumGothic" panose="020D0604000000000000"/>
              </a:rPr>
              <a:t>대표적 군집화 기법</a:t>
            </a:r>
            <a:r>
              <a:rPr lang="en-US" altLang="ko-KR" sz="2000" b="1" dirty="0" smtClean="0">
                <a:ea typeface="NanumGothic" panose="020D0604000000000000"/>
              </a:rPr>
              <a:t>(Mean Shift Clustering)</a:t>
            </a:r>
            <a:endParaRPr lang="en-US" altLang="ko-KR" sz="2000" b="1" dirty="0">
              <a:ea typeface="NanumGothic" panose="020D060400000000000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AAABA0-83DE-8C46-91C4-A610346B147D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4">
                <a:extLst>
                  <a:ext uri="{FF2B5EF4-FFF2-40B4-BE49-F238E27FC236}">
                    <a16:creationId xmlns:a16="http://schemas.microsoft.com/office/drawing/2014/main" id="{914EA958-2EA0-7E43-9809-FACBE5B6E295}"/>
                  </a:ext>
                </a:extLst>
              </p:cNvPr>
              <p:cNvSpPr txBox="1"/>
              <p:nvPr/>
            </p:nvSpPr>
            <p:spPr>
              <a:xfrm>
                <a:off x="401050" y="1125935"/>
                <a:ext cx="7765797" cy="17990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algn="just" latinLnBrk="1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b="1" dirty="0" smtClean="0"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커널 밀도 추정</a:t>
                </a:r>
                <a:r>
                  <a:rPr lang="en-US" altLang="ko-KR" b="1" dirty="0" smtClean="0"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(Kernel Density Estimation)</a:t>
                </a:r>
                <a:endParaRPr lang="en-US" altLang="ko-KR" dirty="0" smtClean="0">
                  <a:solidFill>
                    <a:srgbClr val="00B0F0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  <a:p>
                <a:pPr algn="just" latinLnBrk="1">
                  <a:spcAft>
                    <a:spcPts val="600"/>
                  </a:spcAft>
                </a:pPr>
                <a:endParaRPr lang="en-US" altLang="ko-KR" dirty="0" smtClean="0">
                  <a:solidFill>
                    <a:srgbClr val="00B0F0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  <a:p>
                <a:pPr marL="285750" indent="-285750" algn="just" latinLnBrk="1">
                  <a:spcAft>
                    <a:spcPts val="600"/>
                  </a:spcAft>
                  <a:buFontTx/>
                  <a:buChar char="-"/>
                </a:pPr>
                <a:r>
                  <a:rPr lang="ko-KR" altLang="en-US" dirty="0" smtClean="0">
                    <a:latin typeface="+mn-ea"/>
                  </a:rPr>
                  <a:t>편의상</a:t>
                </a:r>
                <a:r>
                  <a:rPr lang="en-US" altLang="ko-KR" dirty="0" smtClean="0">
                    <a:latin typeface="+mn-ea"/>
                  </a:rPr>
                  <a:t> </a:t>
                </a:r>
                <a:r>
                  <a:rPr lang="ko-KR" altLang="en-US" dirty="0" smtClean="0">
                    <a:latin typeface="+mn-ea"/>
                  </a:rPr>
                  <a:t>커널 함수를</a:t>
                </a:r>
                <a:r>
                  <a:rPr lang="ko-KR" altLang="en-US" b="1" dirty="0" smtClean="0">
                    <a:latin typeface="+mn-ea"/>
                  </a:rPr>
                  <a:t> </a:t>
                </a:r>
                <a:r>
                  <a:rPr lang="ko-KR" altLang="en-US" b="1" dirty="0" smtClean="0">
                    <a:solidFill>
                      <a:srgbClr val="00B0F0"/>
                    </a:solidFill>
                    <a:latin typeface="+mn-ea"/>
                  </a:rPr>
                  <a:t>단일 </a:t>
                </a:r>
                <a:r>
                  <a:rPr lang="ko-KR" altLang="en-US" b="1" dirty="0" err="1" smtClean="0">
                    <a:solidFill>
                      <a:srgbClr val="00B0F0"/>
                    </a:solidFill>
                    <a:latin typeface="+mn-ea"/>
                  </a:rPr>
                  <a:t>가우시안</a:t>
                </a:r>
                <a:r>
                  <a:rPr lang="ko-KR" altLang="en-US" b="1" dirty="0" smtClean="0">
                    <a:solidFill>
                      <a:srgbClr val="00B0F0"/>
                    </a:solidFill>
                    <a:latin typeface="+mn-ea"/>
                  </a:rPr>
                  <a:t> 함수</a:t>
                </a:r>
                <a:r>
                  <a:rPr lang="ko-KR" altLang="en-US" dirty="0" smtClean="0">
                    <a:latin typeface="+mn-ea"/>
                  </a:rPr>
                  <a:t>로 지정</a:t>
                </a:r>
                <a:endParaRPr lang="en-US" altLang="ko-KR" dirty="0" smtClean="0">
                  <a:latin typeface="+mn-ea"/>
                </a:endParaRPr>
              </a:p>
              <a:p>
                <a:pPr marL="342900" indent="-342900" algn="just" latinLnBrk="1">
                  <a:spcAft>
                    <a:spcPts val="600"/>
                  </a:spcAft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NanumGothic" panose="020D0604000000000000" pitchFamily="34" charset="-127"/>
                      </a:rPr>
                      <m:t>𝐾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NanumGothic" panose="020D0604000000000000" pitchFamily="34" charset="-127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NanumGothic" panose="020D0604000000000000" pitchFamily="34" charset="-127"/>
                          </a:rPr>
                          <m:t>𝑥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NanumGothic" panose="020D0604000000000000" pitchFamily="34" charset="-127"/>
                          </a:rPr>
                          <m:t> ;</m:t>
                        </m:r>
                        <m:r>
                          <a:rPr lang="ko-KR" altLang="en-US" sz="2000" b="0" i="1" smtClean="0">
                            <a:latin typeface="Cambria Math" panose="02040503050406030204" pitchFamily="18" charset="0"/>
                            <a:ea typeface="NanumGothic" panose="020D0604000000000000" pitchFamily="34" charset="-127"/>
                          </a:rPr>
                          <m:t>𝜎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NanumGothic" panose="020D0604000000000000" pitchFamily="34" charset="-127"/>
                          </a:rPr>
                          <m:t>,</m:t>
                        </m:r>
                        <m:r>
                          <a:rPr lang="ko-KR" altLang="en-US" sz="2000" i="1">
                            <a:latin typeface="Cambria Math" panose="02040503050406030204" pitchFamily="18" charset="0"/>
                            <a:ea typeface="NanumGothic" panose="020D0604000000000000" pitchFamily="34" charset="-127"/>
                          </a:rPr>
                          <m:t>𝜇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NanumGothic" panose="020D0604000000000000" pitchFamily="34" charset="-127"/>
                      </a:rPr>
                      <m:t>= </m:t>
                    </m:r>
                    <m:f>
                      <m:f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NanumGothic" panose="020D0604000000000000" pitchFamily="34" charset="-127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NanumGothic" panose="020D0604000000000000" pitchFamily="34" charset="-127"/>
                          </a:rPr>
                          <m:t>1</m:t>
                        </m:r>
                      </m:num>
                      <m:den>
                        <m:r>
                          <a:rPr lang="ko-KR" altLang="en-US" sz="2000" i="1">
                            <a:latin typeface="Cambria Math" panose="02040503050406030204" pitchFamily="18" charset="0"/>
                            <a:ea typeface="NanumGothic" panose="020D0604000000000000" pitchFamily="34" charset="-127"/>
                          </a:rPr>
                          <m:t>𝜎</m:t>
                        </m:r>
                        <m:rad>
                          <m:radPr>
                            <m:degHide m:val="on"/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  <a:ea typeface="NanumGothic" panose="020D0604000000000000" pitchFamily="34" charset="-127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NanumGothic" panose="020D0604000000000000" pitchFamily="34" charset="-127"/>
                              </a:rPr>
                              <m:t>2</m:t>
                            </m:r>
                            <m:r>
                              <a:rPr lang="ko-KR" altLang="en-US" sz="2000" b="0" i="1" smtClean="0">
                                <a:latin typeface="Cambria Math" panose="02040503050406030204" pitchFamily="18" charset="0"/>
                                <a:ea typeface="NanumGothic" panose="020D0604000000000000" pitchFamily="34" charset="-127"/>
                              </a:rPr>
                              <m:t>𝜋</m:t>
                            </m:r>
                          </m:e>
                        </m:rad>
                      </m:den>
                    </m:f>
                    <m:sSup>
                      <m:sSup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NanumGothic" panose="020D0604000000000000" pitchFamily="34" charset="-127"/>
                          </a:rPr>
                        </m:ctrlPr>
                      </m:sSup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NanumGothic" panose="020D0604000000000000" pitchFamily="34" charset="-127"/>
                          </a:rPr>
                          <m:t>𝑒</m:t>
                        </m:r>
                      </m:e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NanumGothic" panose="020D0604000000000000" pitchFamily="34" charset="-127"/>
                          </a:rPr>
                          <m:t>−</m:t>
                        </m:r>
                        <m:f>
                          <m:f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  <a:ea typeface="NanumGothic" panose="020D0604000000000000" pitchFamily="34" charset="-127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NanumGothic" panose="020D0604000000000000" pitchFamily="34" charset="-127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NanumGothic" panose="020D0604000000000000" pitchFamily="34" charset="-127"/>
                                  </a:rPr>
                                  <m:t>(</m:t>
                                </m:r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NanumGothic" panose="020D0604000000000000" pitchFamily="34" charset="-127"/>
                                  </a:rPr>
                                  <m:t>𝑥</m:t>
                                </m:r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NanumGothic" panose="020D0604000000000000" pitchFamily="34" charset="-127"/>
                                  </a:rPr>
                                  <m:t> − </m:t>
                                </m:r>
                                <m:r>
                                  <a:rPr lang="ko-KR" altLang="en-US" sz="2000" b="0" i="1" smtClean="0">
                                    <a:latin typeface="Cambria Math" panose="02040503050406030204" pitchFamily="18" charset="0"/>
                                    <a:ea typeface="NanumGothic" panose="020D0604000000000000" pitchFamily="34" charset="-127"/>
                                  </a:rPr>
                                  <m:t>𝜇</m:t>
                                </m:r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NanumGothic" panose="020D0604000000000000" pitchFamily="34" charset="-127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NanumGothic" panose="020D0604000000000000" pitchFamily="34" charset="-127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NanumGothic" panose="020D0604000000000000" pitchFamily="34" charset="-127"/>
                              </a:rPr>
                              <m:t> </m:t>
                            </m:r>
                          </m:num>
                          <m:den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NanumGothic" panose="020D0604000000000000" pitchFamily="34" charset="-127"/>
                              </a:rPr>
                              <m:t>2</m:t>
                            </m:r>
                            <m:sSup>
                              <m:sSupPr>
                                <m:ctrlP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NanumGothic" panose="020D0604000000000000" pitchFamily="34" charset="-127"/>
                                  </a:rPr>
                                </m:ctrlPr>
                              </m:sSupPr>
                              <m:e>
                                <m:r>
                                  <a:rPr lang="ko-KR" altLang="en-US" sz="2000" b="0" i="1" smtClean="0">
                                    <a:latin typeface="Cambria Math" panose="02040503050406030204" pitchFamily="18" charset="0"/>
                                    <a:ea typeface="NanumGothic" panose="020D0604000000000000" pitchFamily="34" charset="-127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NanumGothic" panose="020D0604000000000000" pitchFamily="34" charset="-127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sup>
                    </m:sSup>
                  </m:oMath>
                </a14:m>
                <a:r>
                  <a:rPr lang="en-US" altLang="ko-KR" dirty="0" smtClean="0"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  (</a:t>
                </a:r>
                <a:r>
                  <a:rPr lang="ko-KR" altLang="en-US" dirty="0" smtClean="0">
                    <a:latin typeface="+mn-ea"/>
                  </a:rPr>
                  <a:t>역시</a:t>
                </a:r>
                <a:r>
                  <a:rPr lang="en-US" altLang="ko-KR" dirty="0" smtClean="0">
                    <a:latin typeface="+mn-ea"/>
                  </a:rPr>
                  <a:t>, </a:t>
                </a:r>
                <a:r>
                  <a:rPr lang="ko-KR" altLang="en-US" dirty="0" smtClean="0">
                    <a:latin typeface="+mn-ea"/>
                  </a:rPr>
                  <a:t>편의상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=1,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으</m:t>
                    </m:r>
                  </m:oMath>
                </a14:m>
                <a:r>
                  <a:rPr lang="ko-KR" altLang="en-US" dirty="0" smtClean="0">
                    <a:latin typeface="+mn-ea"/>
                  </a:rPr>
                  <a:t>로 지정</a:t>
                </a:r>
                <a:r>
                  <a:rPr lang="en-US" altLang="ko-KR" dirty="0" smtClean="0"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)</a:t>
                </a:r>
              </a:p>
            </p:txBody>
          </p:sp>
        </mc:Choice>
        <mc:Fallback>
          <p:sp>
            <p:nvSpPr>
              <p:cNvPr id="14" name="文本框 4">
                <a:extLst>
                  <a:ext uri="{FF2B5EF4-FFF2-40B4-BE49-F238E27FC236}">
                    <a16:creationId xmlns:a16="http://schemas.microsoft.com/office/drawing/2014/main" id="{914EA958-2EA0-7E43-9809-FACBE5B6E2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050" y="1125935"/>
                <a:ext cx="7765797" cy="1799019"/>
              </a:xfrm>
              <a:prstGeom prst="rect">
                <a:avLst/>
              </a:prstGeom>
              <a:blipFill>
                <a:blip r:embed="rId4"/>
                <a:stretch>
                  <a:fillRect l="-863" t="-203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6CD24E5A-6EF2-4301-BBDA-C418695D3FF3}"/>
              </a:ext>
            </a:extLst>
          </p:cNvPr>
          <p:cNvSpPr txBox="1"/>
          <p:nvPr/>
        </p:nvSpPr>
        <p:spPr>
          <a:xfrm>
            <a:off x="3560345" y="6538913"/>
            <a:ext cx="30171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2021-1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학기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비즈니스 데이터 사이언스</a:t>
            </a:r>
            <a:r>
              <a:rPr lang="en-US" altLang="ko-KR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세미나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6343" y="3749356"/>
            <a:ext cx="3381375" cy="21812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01050" y="3095986"/>
            <a:ext cx="56859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-     </a:t>
            </a:r>
            <a:r>
              <a:rPr lang="ko-KR" altLang="en-US" dirty="0" smtClean="0">
                <a:latin typeface="+mn-ea"/>
              </a:rPr>
              <a:t>확률 변수 </a:t>
            </a:r>
            <a:r>
              <a:rPr lang="en-US" altLang="ko-KR" dirty="0" smtClean="0">
                <a:latin typeface="+mn-ea"/>
              </a:rPr>
              <a:t>x</a:t>
            </a:r>
            <a:r>
              <a:rPr lang="ko-KR" altLang="en-US" dirty="0" smtClean="0">
                <a:latin typeface="+mn-ea"/>
              </a:rPr>
              <a:t>는 원 데이터로부터의 거리를 의미</a:t>
            </a:r>
            <a:endParaRPr lang="ko-KR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43019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898060" y="6540548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E00F004-BD89-484A-9E0D-939812231C51}"/>
              </a:ext>
            </a:extLst>
          </p:cNvPr>
          <p:cNvSpPr/>
          <p:nvPr/>
        </p:nvSpPr>
        <p:spPr>
          <a:xfrm>
            <a:off x="0" y="6448285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16A8DA-5D55-45BD-85EA-BE2F87A4FCF7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DA6BE5-037F-4552-8536-DD1511D2DB96}"/>
              </a:ext>
            </a:extLst>
          </p:cNvPr>
          <p:cNvSpPr txBox="1"/>
          <p:nvPr/>
        </p:nvSpPr>
        <p:spPr>
          <a:xfrm>
            <a:off x="401050" y="289035"/>
            <a:ext cx="78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b="1" dirty="0" smtClean="0">
                <a:ea typeface="NanumGothic" panose="020D0604000000000000"/>
              </a:rPr>
              <a:t>대표적 군집화 기법</a:t>
            </a:r>
            <a:r>
              <a:rPr lang="en-US" altLang="ko-KR" sz="2000" b="1" dirty="0" smtClean="0">
                <a:ea typeface="NanumGothic" panose="020D0604000000000000"/>
              </a:rPr>
              <a:t>(Mean Shift Clustering)</a:t>
            </a:r>
            <a:endParaRPr lang="en-US" altLang="ko-KR" sz="2000" b="1" dirty="0">
              <a:ea typeface="NanumGothic" panose="020D060400000000000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AAABA0-83DE-8C46-91C4-A610346B147D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4">
                <a:extLst>
                  <a:ext uri="{FF2B5EF4-FFF2-40B4-BE49-F238E27FC236}">
                    <a16:creationId xmlns:a16="http://schemas.microsoft.com/office/drawing/2014/main" id="{914EA958-2EA0-7E43-9809-FACBE5B6E295}"/>
                  </a:ext>
                </a:extLst>
              </p:cNvPr>
              <p:cNvSpPr txBox="1"/>
              <p:nvPr/>
            </p:nvSpPr>
            <p:spPr>
              <a:xfrm>
                <a:off x="401050" y="1125935"/>
                <a:ext cx="8079562" cy="28108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algn="just" latinLnBrk="1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b="1" dirty="0" smtClean="0"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커널 밀도 추정</a:t>
                </a:r>
                <a:r>
                  <a:rPr lang="en-US" altLang="ko-KR" b="1" dirty="0" smtClean="0"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(</a:t>
                </a:r>
                <a:r>
                  <a:rPr lang="en-US" altLang="ko-KR" b="1" dirty="0" smtClean="0">
                    <a:solidFill>
                      <a:srgbClr val="00B0F0"/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Kernel Density Estimation</a:t>
                </a:r>
                <a:r>
                  <a:rPr lang="en-US" altLang="ko-KR" b="1" dirty="0" smtClean="0"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 with Gaussian Function)</a:t>
                </a:r>
              </a:p>
              <a:p>
                <a:pPr marL="285750" indent="-285750" algn="just" latinLnBrk="1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en-US" altLang="ko-KR" dirty="0" smtClean="0">
                  <a:solidFill>
                    <a:srgbClr val="00B0F0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  <a:p>
                <a:pPr algn="just" latinLnBrk="1">
                  <a:spcAft>
                    <a:spcPts val="600"/>
                  </a:spcAft>
                </a:pPr>
                <a:r>
                  <a:rPr lang="en-US" altLang="ko-KR" dirty="0" smtClean="0"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-</a:t>
                </a:r>
                <a:r>
                  <a:rPr lang="en-US" altLang="ko-KR" dirty="0" smtClean="0">
                    <a:solidFill>
                      <a:srgbClr val="00B0F0"/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NanumGothic" panose="020D0604000000000000" pitchFamily="34" charset="-127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NanumGothic" panose="020D0604000000000000" pitchFamily="34" charset="-127"/>
                          </a:rPr>
                          <m:t>𝑓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NanumGothic" panose="020D0604000000000000" pitchFamily="34" charset="-127"/>
                          </a:rPr>
                          <m:t>h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NanumGothic" panose="020D0604000000000000" pitchFamily="34" charset="-127"/>
                      </a:rPr>
                      <m:t>(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NanumGothic" panose="020D0604000000000000" pitchFamily="34" charset="-127"/>
                      </a:rPr>
                      <m:t>𝑥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NanumGothic" panose="020D0604000000000000" pitchFamily="34" charset="-127"/>
                      </a:rPr>
                      <m:t>)= </m:t>
                    </m:r>
                    <m:f>
                      <m:f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NanumGothic" panose="020D0604000000000000" pitchFamily="34" charset="-127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NanumGothic" panose="020D0604000000000000" pitchFamily="34" charset="-127"/>
                          </a:rPr>
                          <m:t>1</m:t>
                        </m:r>
                      </m:num>
                      <m:den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NanumGothic" panose="020D0604000000000000" pitchFamily="34" charset="-127"/>
                          </a:rPr>
                          <m:t>𝑛h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NanumGothic" panose="020D0604000000000000" pitchFamily="34" charset="-127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2000" b="0" i="1" smtClean="0">
                            <a:latin typeface="Cambria Math" panose="02040503050406030204" pitchFamily="18" charset="0"/>
                            <a:ea typeface="NanumGothic" panose="020D0604000000000000" pitchFamily="34" charset="-127"/>
                          </a:rPr>
                          <m:t>𝑖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NanumGothic" panose="020D0604000000000000" pitchFamily="34" charset="-127"/>
                          </a:rPr>
                          <m:t>=1</m:t>
                        </m:r>
                      </m:sub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NanumGothic" panose="020D0604000000000000" pitchFamily="34" charset="-127"/>
                          </a:rPr>
                          <m:t>𝑛</m:t>
                        </m:r>
                      </m:sup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NanumGothic" panose="020D0604000000000000" pitchFamily="34" charset="-127"/>
                          </a:rPr>
                          <m:t>𝐾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NanumGothic" panose="020D0604000000000000" pitchFamily="34" charset="-127"/>
                          </a:rPr>
                          <m:t>(</m:t>
                        </m:r>
                        <m:f>
                          <m:f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  <a:ea typeface="NanumGothic" panose="020D0604000000000000" pitchFamily="34" charset="-127"/>
                              </a:rPr>
                            </m:ctrlPr>
                          </m:fPr>
                          <m:num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NanumGothic" panose="020D0604000000000000" pitchFamily="34" charset="-127"/>
                              </a:rPr>
                              <m:t>𝑥</m:t>
                            </m:r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NanumGothic" panose="020D0604000000000000" pitchFamily="34" charset="-127"/>
                              </a:rPr>
                              <m:t> − </m:t>
                            </m:r>
                            <m:sSub>
                              <m:sSubPr>
                                <m:ctrlP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NanumGothic" panose="020D0604000000000000" pitchFamily="34" charset="-127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NanumGothic" panose="020D0604000000000000" pitchFamily="34" charset="-127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NanumGothic" panose="020D0604000000000000" pitchFamily="34" charset="-127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NanumGothic" panose="020D0604000000000000" pitchFamily="34" charset="-127"/>
                              </a:rPr>
                              <m:t>h</m:t>
                            </m:r>
                          </m:den>
                        </m:f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NanumGothic" panose="020D0604000000000000" pitchFamily="34" charset="-127"/>
                          </a:rPr>
                          <m:t>)</m:t>
                        </m:r>
                      </m:e>
                    </m:nary>
                  </m:oMath>
                </a14:m>
                <a:endParaRPr lang="en-US" altLang="ko-KR" dirty="0" smtClean="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  <a:p>
                <a:pPr marL="342900" indent="-342900" algn="just" latinLnBrk="1">
                  <a:spcAft>
                    <a:spcPts val="600"/>
                  </a:spcAft>
                  <a:buFontTx/>
                  <a:buChar char="-"/>
                </a:pPr>
                <a:endParaRPr lang="en-US" altLang="ko-KR" dirty="0" smtClean="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  <a:p>
                <a:pPr marL="342900" indent="-342900" algn="just" latinLnBrk="1">
                  <a:spcAft>
                    <a:spcPts val="600"/>
                  </a:spcAft>
                  <a:buFontTx/>
                  <a:buChar char="-"/>
                </a:pPr>
                <a:r>
                  <a:rPr lang="en-US" altLang="ko-KR" sz="1600" dirty="0"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n</a:t>
                </a:r>
                <a:r>
                  <a:rPr lang="ko-KR" altLang="en-US" sz="1600" dirty="0" smtClean="0"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은 </a:t>
                </a:r>
                <a:r>
                  <a:rPr lang="ko-KR" altLang="en-US" sz="1600" dirty="0" smtClean="0"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총 데이터의 관측치 개수를 의미</a:t>
                </a:r>
                <a:endParaRPr lang="en-US" altLang="ko-KR" sz="1600" dirty="0" smtClean="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  <a:p>
                <a:pPr marL="342900" indent="-342900" algn="just" latinLnBrk="1">
                  <a:spcAft>
                    <a:spcPts val="600"/>
                  </a:spcAft>
                  <a:buFontTx/>
                  <a:buChar char="-"/>
                </a:pPr>
                <a:r>
                  <a:rPr lang="en-US" altLang="ko-KR" sz="1600" dirty="0" smtClean="0">
                    <a:latin typeface="+mn-ea"/>
                  </a:rPr>
                  <a:t>h</a:t>
                </a:r>
                <a:r>
                  <a:rPr lang="ko-KR" altLang="en-US" sz="1600" dirty="0" smtClean="0">
                    <a:latin typeface="+mn-ea"/>
                  </a:rPr>
                  <a:t>는 커널 함수의 </a:t>
                </a:r>
                <a:r>
                  <a:rPr lang="en-US" altLang="ko-KR" sz="1600" dirty="0" smtClean="0">
                    <a:latin typeface="+mn-ea"/>
                  </a:rPr>
                  <a:t>bandwidth </a:t>
                </a:r>
                <a:r>
                  <a:rPr lang="en-US" altLang="ko-KR" sz="1600" dirty="0" smtClean="0">
                    <a:latin typeface="+mn-ea"/>
                  </a:rPr>
                  <a:t>parameter</a:t>
                </a:r>
                <a:r>
                  <a:rPr lang="ko-KR" altLang="en-US" sz="1600" dirty="0" smtClean="0">
                    <a:latin typeface="+mn-ea"/>
                  </a:rPr>
                  <a:t>를 </a:t>
                </a:r>
                <a:r>
                  <a:rPr lang="ko-KR" altLang="en-US" sz="1600" dirty="0" smtClean="0">
                    <a:latin typeface="+mn-ea"/>
                  </a:rPr>
                  <a:t>의미</a:t>
                </a:r>
                <a:r>
                  <a:rPr lang="en-US" altLang="ko-KR" sz="1600" dirty="0" smtClean="0">
                    <a:latin typeface="+mn-ea"/>
                  </a:rPr>
                  <a:t>. </a:t>
                </a:r>
                <a:r>
                  <a:rPr lang="ko-KR" altLang="en-US" sz="1600" dirty="0" smtClean="0">
                    <a:latin typeface="+mn-ea"/>
                  </a:rPr>
                  <a:t>히스토그램의 폭을 </a:t>
                </a:r>
                <a:r>
                  <a:rPr lang="ko-KR" altLang="en-US" sz="1600" dirty="0" smtClean="0">
                    <a:latin typeface="+mn-ea"/>
                  </a:rPr>
                  <a:t>조절하는 것과 유사한 역할을 수행</a:t>
                </a:r>
                <a:r>
                  <a:rPr lang="en-US" altLang="ko-KR" sz="1600" dirty="0" smtClean="0">
                    <a:latin typeface="+mn-ea"/>
                  </a:rPr>
                  <a:t>.</a:t>
                </a:r>
              </a:p>
              <a:p>
                <a:pPr marL="342900" indent="-342900" algn="just" latinLnBrk="1">
                  <a:spcAft>
                    <a:spcPts val="600"/>
                  </a:spcAft>
                  <a:buFontTx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ko-KR" altLang="en-US" sz="1600" i="1">
                        <a:latin typeface="Cambria Math" panose="02040503050406030204" pitchFamily="18" charset="0"/>
                      </a:rPr>
                      <m:t>는</m:t>
                    </m:r>
                    <m:r>
                      <a:rPr lang="en-US" altLang="ko-KR" sz="16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sz="1600" i="1">
                        <a:latin typeface="Cambria Math" panose="02040503050406030204" pitchFamily="18" charset="0"/>
                      </a:rPr>
                      <m:t>각</m:t>
                    </m:r>
                  </m:oMath>
                </a14:m>
                <a:r>
                  <a:rPr lang="ko-KR" altLang="en-US" sz="1600" dirty="0" smtClean="0">
                    <a:latin typeface="+mn-ea"/>
                  </a:rPr>
                  <a:t>각의 데이터 관측치를 의미</a:t>
                </a:r>
                <a:r>
                  <a:rPr lang="en-US" altLang="ko-KR" sz="1600" dirty="0" smtClean="0">
                    <a:latin typeface="+mn-ea"/>
                  </a:rPr>
                  <a:t>.</a:t>
                </a:r>
              </a:p>
            </p:txBody>
          </p:sp>
        </mc:Choice>
        <mc:Fallback>
          <p:sp>
            <p:nvSpPr>
              <p:cNvPr id="14" name="文本框 4">
                <a:extLst>
                  <a:ext uri="{FF2B5EF4-FFF2-40B4-BE49-F238E27FC236}">
                    <a16:creationId xmlns:a16="http://schemas.microsoft.com/office/drawing/2014/main" id="{914EA958-2EA0-7E43-9809-FACBE5B6E2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050" y="1125935"/>
                <a:ext cx="8079562" cy="2810834"/>
              </a:xfrm>
              <a:prstGeom prst="rect">
                <a:avLst/>
              </a:prstGeom>
              <a:blipFill>
                <a:blip r:embed="rId4"/>
                <a:stretch>
                  <a:fillRect l="-679" t="-1302" r="-377" b="-173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6CD24E5A-6EF2-4301-BBDA-C418695D3FF3}"/>
              </a:ext>
            </a:extLst>
          </p:cNvPr>
          <p:cNvSpPr txBox="1"/>
          <p:nvPr/>
        </p:nvSpPr>
        <p:spPr>
          <a:xfrm>
            <a:off x="3560345" y="6538913"/>
            <a:ext cx="30171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2021-1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학기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비즈니스 데이터 사이언스</a:t>
            </a:r>
            <a:r>
              <a:rPr lang="en-US" altLang="ko-KR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세미나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10015" y="4258235"/>
            <a:ext cx="811542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 smtClean="0">
                <a:latin typeface="+mn-ea"/>
              </a:rPr>
              <a:t>각 관측치</a:t>
            </a:r>
            <a:r>
              <a:rPr lang="en-US" altLang="ko-KR" dirty="0" smtClean="0">
                <a:latin typeface="+mn-ea"/>
              </a:rPr>
              <a:t>(data point)</a:t>
            </a:r>
            <a:r>
              <a:rPr lang="ko-KR" altLang="en-US" dirty="0" smtClean="0">
                <a:latin typeface="+mn-ea"/>
              </a:rPr>
              <a:t>별로</a:t>
            </a:r>
            <a:r>
              <a:rPr lang="en-US" altLang="ko-KR" dirty="0" smtClean="0">
                <a:latin typeface="+mn-ea"/>
              </a:rPr>
              <a:t> </a:t>
            </a:r>
            <a:r>
              <a:rPr lang="ko-KR" altLang="en-US" dirty="0" smtClean="0">
                <a:latin typeface="+mn-ea"/>
              </a:rPr>
              <a:t>해당 데이터를 중심으로 하는 커널 함수를 생성</a:t>
            </a:r>
            <a:r>
              <a:rPr lang="en-US" altLang="ko-KR" dirty="0" smtClean="0">
                <a:latin typeface="+mn-ea"/>
              </a:rPr>
              <a:t>      </a:t>
            </a:r>
            <a:r>
              <a:rPr lang="en-US" altLang="ko-KR" sz="1600" dirty="0" smtClean="0">
                <a:latin typeface="+mn-ea"/>
              </a:rPr>
              <a:t>-&gt; </a:t>
            </a:r>
            <a:r>
              <a:rPr lang="ko-KR" altLang="en-US" sz="1600" b="1" dirty="0" smtClean="0">
                <a:solidFill>
                  <a:srgbClr val="00B050"/>
                </a:solidFill>
                <a:latin typeface="+mn-ea"/>
              </a:rPr>
              <a:t>총 </a:t>
            </a:r>
            <a:r>
              <a:rPr lang="en-US" altLang="ko-KR" sz="1600" b="1" dirty="0" smtClean="0">
                <a:solidFill>
                  <a:srgbClr val="00B050"/>
                </a:solidFill>
                <a:latin typeface="+mn-ea"/>
              </a:rPr>
              <a:t>n</a:t>
            </a:r>
            <a:r>
              <a:rPr lang="ko-KR" altLang="en-US" sz="1600" b="1" dirty="0" smtClean="0">
                <a:solidFill>
                  <a:srgbClr val="00B050"/>
                </a:solidFill>
                <a:latin typeface="+mn-ea"/>
              </a:rPr>
              <a:t>개의 커널 함수</a:t>
            </a:r>
            <a:r>
              <a:rPr lang="ko-KR" altLang="en-US" sz="1600" dirty="0" smtClean="0">
                <a:latin typeface="+mn-ea"/>
              </a:rPr>
              <a:t>가 형성됨</a:t>
            </a:r>
            <a:endParaRPr lang="en-US" altLang="ko-KR" sz="1600" dirty="0" smtClean="0">
              <a:latin typeface="+mn-ea"/>
            </a:endParaRPr>
          </a:p>
          <a:p>
            <a:pPr marL="342900" indent="-342900">
              <a:buAutoNum type="arabicPeriod"/>
            </a:pPr>
            <a:endParaRPr lang="en-US" altLang="ko-KR" dirty="0" smtClean="0">
              <a:latin typeface="+mn-ea"/>
            </a:endParaRPr>
          </a:p>
          <a:p>
            <a:pPr marL="342900" indent="-342900">
              <a:buAutoNum type="arabicPeriod"/>
            </a:pPr>
            <a:r>
              <a:rPr lang="ko-KR" altLang="en-US" dirty="0" smtClean="0">
                <a:latin typeface="+mn-ea"/>
              </a:rPr>
              <a:t>위에서 생성된 커널 함수를 모두 더한 후</a:t>
            </a:r>
            <a:r>
              <a:rPr lang="en-US" altLang="ko-KR" dirty="0" smtClean="0">
                <a:latin typeface="+mn-ea"/>
              </a:rPr>
              <a:t>, </a:t>
            </a:r>
            <a:r>
              <a:rPr lang="ko-KR" altLang="en-US" dirty="0" smtClean="0">
                <a:latin typeface="+mn-ea"/>
              </a:rPr>
              <a:t>전체 관측치 개수로 나눔</a:t>
            </a:r>
            <a:r>
              <a:rPr lang="en-US" altLang="ko-KR" dirty="0">
                <a:latin typeface="+mn-ea"/>
              </a:rPr>
              <a:t> </a:t>
            </a:r>
            <a:r>
              <a:rPr lang="en-US" altLang="ko-KR" dirty="0" smtClean="0">
                <a:latin typeface="+mn-ea"/>
              </a:rPr>
              <a:t> </a:t>
            </a:r>
          </a:p>
          <a:p>
            <a:r>
              <a:rPr lang="en-US" altLang="ko-KR" dirty="0">
                <a:latin typeface="+mn-ea"/>
              </a:rPr>
              <a:t> </a:t>
            </a:r>
            <a:r>
              <a:rPr lang="en-US" altLang="ko-KR" dirty="0" smtClean="0">
                <a:latin typeface="+mn-ea"/>
              </a:rPr>
              <a:t>     </a:t>
            </a:r>
            <a:r>
              <a:rPr lang="en-US" altLang="ko-KR" sz="1600" dirty="0" smtClean="0">
                <a:latin typeface="+mn-ea"/>
              </a:rPr>
              <a:t>-&gt; </a:t>
            </a:r>
            <a:r>
              <a:rPr lang="ko-KR" altLang="en-US" sz="1600" b="1" dirty="0" smtClean="0">
                <a:solidFill>
                  <a:srgbClr val="00B050"/>
                </a:solidFill>
                <a:latin typeface="+mn-ea"/>
              </a:rPr>
              <a:t>커널 함수의 평균 분포</a:t>
            </a:r>
            <a:r>
              <a:rPr lang="ko-KR" altLang="en-US" sz="1600" dirty="0" smtClean="0">
                <a:latin typeface="+mn-ea"/>
              </a:rPr>
              <a:t>를 확인할 수 있음</a:t>
            </a:r>
            <a:endParaRPr lang="ko-KR" altLang="en-US" sz="16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65193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898060" y="6540548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E00F004-BD89-484A-9E0D-939812231C51}"/>
              </a:ext>
            </a:extLst>
          </p:cNvPr>
          <p:cNvSpPr/>
          <p:nvPr/>
        </p:nvSpPr>
        <p:spPr>
          <a:xfrm>
            <a:off x="0" y="6448285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16A8DA-5D55-45BD-85EA-BE2F87A4FCF7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DA6BE5-037F-4552-8536-DD1511D2DB96}"/>
              </a:ext>
            </a:extLst>
          </p:cNvPr>
          <p:cNvSpPr txBox="1"/>
          <p:nvPr/>
        </p:nvSpPr>
        <p:spPr>
          <a:xfrm>
            <a:off x="401050" y="289035"/>
            <a:ext cx="78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b="1" dirty="0" smtClean="0">
                <a:ea typeface="NanumGothic" panose="020D0604000000000000"/>
              </a:rPr>
              <a:t>대표적 군집화 기법</a:t>
            </a:r>
            <a:r>
              <a:rPr lang="en-US" altLang="ko-KR" sz="2000" b="1" dirty="0" smtClean="0">
                <a:ea typeface="NanumGothic" panose="020D0604000000000000"/>
              </a:rPr>
              <a:t>(Mean Shift Clustering)</a:t>
            </a:r>
            <a:endParaRPr lang="en-US" altLang="ko-KR" sz="2000" b="1" dirty="0">
              <a:ea typeface="NanumGothic" panose="020D060400000000000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AAABA0-83DE-8C46-91C4-A610346B147D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文本框 4">
            <a:extLst>
              <a:ext uri="{FF2B5EF4-FFF2-40B4-BE49-F238E27FC236}">
                <a16:creationId xmlns:a16="http://schemas.microsoft.com/office/drawing/2014/main" id="{914EA958-2EA0-7E43-9809-FACBE5B6E295}"/>
              </a:ext>
            </a:extLst>
          </p:cNvPr>
          <p:cNvSpPr txBox="1"/>
          <p:nvPr/>
        </p:nvSpPr>
        <p:spPr>
          <a:xfrm>
            <a:off x="401050" y="1125935"/>
            <a:ext cx="807956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latinLnBrk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커널 밀도 추정</a:t>
            </a:r>
            <a:r>
              <a:rPr lang="en-US" altLang="ko-KR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(Kernel Density Estimation with Gaussian Function)</a:t>
            </a:r>
          </a:p>
          <a:p>
            <a:pPr marL="285750" indent="-285750" algn="just" latinLnBrk="1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ko-KR" dirty="0">
              <a:latin typeface="NanumGothic" panose="020D0604000000000000" pitchFamily="34" charset="-127"/>
              <a:ea typeface="NanumGothic" panose="020D0604000000000000"/>
            </a:endParaRPr>
          </a:p>
          <a:p>
            <a:pPr algn="just" latinLnBrk="1">
              <a:spcAft>
                <a:spcPts val="600"/>
              </a:spcAft>
            </a:pPr>
            <a:r>
              <a:rPr lang="en-US" altLang="ko-KR" dirty="0">
                <a:solidFill>
                  <a:srgbClr val="00B0F0"/>
                </a:solidFill>
                <a:latin typeface="NanumGothic" panose="020D0604000000000000" pitchFamily="34" charset="-127"/>
                <a:ea typeface="NanumGothic" panose="020D0604000000000000"/>
              </a:rPr>
              <a:t> </a:t>
            </a:r>
            <a:r>
              <a:rPr lang="en-US" altLang="ko-KR" dirty="0" smtClean="0">
                <a:solidFill>
                  <a:srgbClr val="00B0F0"/>
                </a:solidFill>
                <a:latin typeface="NanumGothic" panose="020D0604000000000000" pitchFamily="34" charset="-127"/>
                <a:ea typeface="NanumGothic" panose="020D0604000000000000"/>
              </a:rPr>
              <a:t>    </a:t>
            </a:r>
            <a:r>
              <a:rPr lang="en-US" altLang="ko-KR" b="1" dirty="0" smtClean="0">
                <a:latin typeface="NanumGothic" panose="020D0604000000000000" pitchFamily="34" charset="-127"/>
                <a:ea typeface="NanumGothic" panose="020D0604000000000000"/>
              </a:rPr>
              <a:t>h(bandwidth)</a:t>
            </a:r>
            <a:r>
              <a:rPr lang="ko-KR" altLang="en-US" b="1" dirty="0" smtClean="0">
                <a:latin typeface="NanumGothic" panose="020D0604000000000000" pitchFamily="34" charset="-127"/>
                <a:ea typeface="NanumGothic" panose="020D0604000000000000"/>
              </a:rPr>
              <a:t>가 </a:t>
            </a:r>
            <a:r>
              <a:rPr lang="en-US" altLang="ko-KR" b="1" dirty="0" smtClean="0">
                <a:latin typeface="NanumGothic" panose="020D0604000000000000" pitchFamily="34" charset="-127"/>
                <a:ea typeface="NanumGothic" panose="020D0604000000000000"/>
              </a:rPr>
              <a:t>1</a:t>
            </a:r>
            <a:r>
              <a:rPr lang="ko-KR" altLang="en-US" b="1" dirty="0" smtClean="0">
                <a:latin typeface="NanumGothic" panose="020D0604000000000000" pitchFamily="34" charset="-127"/>
                <a:ea typeface="NanumGothic" panose="020D0604000000000000"/>
              </a:rPr>
              <a:t>인 경우          </a:t>
            </a:r>
            <a:r>
              <a:rPr lang="en-US" altLang="ko-KR" b="1" dirty="0" smtClean="0">
                <a:latin typeface="NanumGothic" panose="020D0604000000000000" pitchFamily="34" charset="-127"/>
                <a:ea typeface="NanumGothic" panose="020D0604000000000000"/>
              </a:rPr>
              <a:t>vs              h</a:t>
            </a:r>
            <a:r>
              <a:rPr lang="ko-KR" altLang="en-US" b="1" dirty="0" smtClean="0">
                <a:latin typeface="NanumGothic" panose="020D0604000000000000" pitchFamily="34" charset="-127"/>
                <a:ea typeface="NanumGothic" panose="020D0604000000000000"/>
              </a:rPr>
              <a:t>가 </a:t>
            </a:r>
            <a:r>
              <a:rPr lang="en-US" altLang="ko-KR" b="1" dirty="0" smtClean="0">
                <a:latin typeface="NanumGothic" panose="020D0604000000000000" pitchFamily="34" charset="-127"/>
                <a:ea typeface="NanumGothic" panose="020D0604000000000000"/>
              </a:rPr>
              <a:t>2.3</a:t>
            </a:r>
            <a:r>
              <a:rPr lang="ko-KR" altLang="en-US" b="1" dirty="0" smtClean="0">
                <a:latin typeface="NanumGothic" panose="020D0604000000000000" pitchFamily="34" charset="-127"/>
                <a:ea typeface="NanumGothic" panose="020D0604000000000000"/>
              </a:rPr>
              <a:t>인 경우</a:t>
            </a:r>
            <a:endParaRPr lang="en-US" altLang="ko-KR" b="1" dirty="0" smtClean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D24E5A-6EF2-4301-BBDA-C418695D3FF3}"/>
              </a:ext>
            </a:extLst>
          </p:cNvPr>
          <p:cNvSpPr txBox="1"/>
          <p:nvPr/>
        </p:nvSpPr>
        <p:spPr>
          <a:xfrm>
            <a:off x="3560345" y="6538913"/>
            <a:ext cx="30171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2021-1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학기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비즈니스 데이터 사이언스</a:t>
            </a:r>
            <a:r>
              <a:rPr lang="en-US" altLang="ko-KR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세미나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916" y="2529998"/>
            <a:ext cx="3617077" cy="2449599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0361" y="2618996"/>
            <a:ext cx="3660933" cy="2354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808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898060" y="6540548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E00F004-BD89-484A-9E0D-939812231C51}"/>
              </a:ext>
            </a:extLst>
          </p:cNvPr>
          <p:cNvSpPr/>
          <p:nvPr/>
        </p:nvSpPr>
        <p:spPr>
          <a:xfrm>
            <a:off x="0" y="6448285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16A8DA-5D55-45BD-85EA-BE2F87A4FCF7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DA6BE5-037F-4552-8536-DD1511D2DB96}"/>
              </a:ext>
            </a:extLst>
          </p:cNvPr>
          <p:cNvSpPr txBox="1"/>
          <p:nvPr/>
        </p:nvSpPr>
        <p:spPr>
          <a:xfrm>
            <a:off x="401050" y="289035"/>
            <a:ext cx="78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NanumGothic" panose="020D0604000000000000"/>
                <a:cs typeface="+mn-cs"/>
              </a:rPr>
              <a:t>대표적 군집화 기법</a:t>
            </a:r>
            <a:r>
              <a:rPr kumimoji="0" lang="en-US" altLang="ko-KR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NanumGothic" panose="020D0604000000000000"/>
                <a:cs typeface="+mn-cs"/>
              </a:rPr>
              <a:t>(Mean Shift Clustering)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NanumGothic" panose="020D0604000000000000"/>
              <a:cs typeface="+mn-cs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AAABA0-83DE-8C46-91C4-A610346B147D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文本框 4">
            <a:extLst>
              <a:ext uri="{FF2B5EF4-FFF2-40B4-BE49-F238E27FC236}">
                <a16:creationId xmlns:a16="http://schemas.microsoft.com/office/drawing/2014/main" id="{914EA958-2EA0-7E43-9809-FACBE5B6E295}"/>
              </a:ext>
            </a:extLst>
          </p:cNvPr>
          <p:cNvSpPr txBox="1"/>
          <p:nvPr/>
        </p:nvSpPr>
        <p:spPr>
          <a:xfrm>
            <a:off x="401050" y="1112126"/>
            <a:ext cx="82193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just" defTabSz="4572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Mean Shift Clustering </a:t>
            </a:r>
            <a:r>
              <a:rPr kumimoji="0" lang="ko-KR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알고리즘</a:t>
            </a: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D24E5A-6EF2-4301-BBDA-C418695D3FF3}"/>
              </a:ext>
            </a:extLst>
          </p:cNvPr>
          <p:cNvSpPr txBox="1"/>
          <p:nvPr/>
        </p:nvSpPr>
        <p:spPr>
          <a:xfrm>
            <a:off x="3560345" y="6538913"/>
            <a:ext cx="30171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2021-1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학기 </a:t>
            </a:r>
            <a:r>
              <a:rPr kumimoji="0" lang="ko-KR" altLang="en-US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비즈니스 데이터 사이언스</a:t>
            </a:r>
            <a:r>
              <a:rPr kumimoji="0" lang="en-US" altLang="ko-KR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ko-KR" altLang="en-US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세미나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19953" y="1741900"/>
            <a:ext cx="84355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Calibri" panose="020F0502020204030204"/>
                <a:ea typeface="NanumGothic" panose="020D0604000000000000"/>
              </a:rPr>
              <a:t>커널 함수</a:t>
            </a:r>
            <a:r>
              <a:rPr kumimoji="0" lang="ko-KR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NanumGothic" panose="020D0604000000000000"/>
              </a:rPr>
              <a:t>에 기반한 </a:t>
            </a:r>
            <a:r>
              <a:rPr kumimoji="0" lang="ko-KR" altLang="en-US" sz="1800" i="0" u="none" strike="noStrike" kern="1200" cap="none" spc="0" normalizeH="0" baseline="0" noProof="0" dirty="0" err="1" smtClean="0">
                <a:ln>
                  <a:noFill/>
                </a:ln>
                <a:effectLst/>
                <a:uLnTx/>
                <a:uFillTx/>
                <a:latin typeface="Calibri" panose="020F0502020204030204"/>
                <a:ea typeface="NanumGothic" panose="020D0604000000000000"/>
              </a:rPr>
              <a:t>비모수적</a:t>
            </a:r>
            <a:r>
              <a:rPr kumimoji="0" lang="ko-KR" altLang="en-US" sz="180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Calibri" panose="020F0502020204030204"/>
                <a:ea typeface="NanumGothic" panose="020D0604000000000000"/>
              </a:rPr>
              <a:t> 밀도 추정 </a:t>
            </a:r>
            <a:r>
              <a:rPr kumimoji="0" lang="ko-KR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NanumGothic" panose="020D0604000000000000"/>
              </a:rPr>
              <a:t>방법</a:t>
            </a:r>
            <a:r>
              <a:rPr kumimoji="0" lang="en-US" altLang="ko-KR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NanumGothic" panose="020D0604000000000000"/>
              </a:rPr>
              <a:t>(</a:t>
            </a:r>
            <a:r>
              <a:rPr kumimoji="0" lang="en-US" altLang="ko-KR" sz="18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Calibri" panose="020F0502020204030204"/>
                <a:ea typeface="NanumGothic" panose="020D0604000000000000"/>
              </a:rPr>
              <a:t>KDE</a:t>
            </a:r>
            <a:r>
              <a:rPr kumimoji="0" lang="en-US" altLang="ko-KR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NanumGothic" panose="020D0604000000000000"/>
              </a:rPr>
              <a:t>)</a:t>
            </a:r>
            <a:r>
              <a:rPr kumimoji="0" lang="ko-KR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NanumGothic" panose="020D0604000000000000"/>
              </a:rPr>
              <a:t>에 의하여</a:t>
            </a:r>
            <a:r>
              <a:rPr kumimoji="0" lang="en-US" altLang="ko-KR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NanumGothic" panose="020D0604000000000000"/>
              </a:rPr>
              <a:t>,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NanumGothic" panose="020D0604000000000000"/>
              </a:rPr>
              <a:t>각 데이터 포인트</a:t>
            </a:r>
            <a:r>
              <a:rPr kumimoji="0" lang="ko-KR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NanumGothic" panose="020D0604000000000000"/>
              </a:rPr>
              <a:t>에 대해</a:t>
            </a:r>
            <a:r>
              <a:rPr kumimoji="0" lang="en-US" altLang="ko-KR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NanumGothic" panose="020D0604000000000000"/>
              </a:rPr>
              <a:t>, </a:t>
            </a:r>
            <a:r>
              <a:rPr kumimoji="0" lang="ko-KR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NanumGothic" panose="020D0604000000000000"/>
              </a:rPr>
              <a:t>데이터의 밀도가 가장 높은 </a:t>
            </a:r>
            <a:r>
              <a:rPr kumimoji="0" lang="ko-KR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NanumGothic" panose="020D0604000000000000"/>
              </a:rPr>
              <a:t>중심 포인트</a:t>
            </a:r>
            <a:r>
              <a:rPr kumimoji="0" lang="en-US" altLang="ko-KR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NanumGothic" panose="020D0604000000000000"/>
              </a:rPr>
              <a:t>(Centroid)</a:t>
            </a:r>
            <a:r>
              <a:rPr kumimoji="0" lang="ko-KR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NanumGothic" panose="020D0604000000000000"/>
              </a:rPr>
              <a:t>에 대응</a:t>
            </a:r>
            <a:r>
              <a:rPr kumimoji="0" lang="ko-KR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NanumGothic" panose="020D0604000000000000"/>
              </a:rPr>
              <a:t>시키는 </a:t>
            </a:r>
            <a:r>
              <a:rPr kumimoji="0" lang="en-US" altLang="ko-KR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NanumGothic" panose="020D0604000000000000"/>
              </a:rPr>
              <a:t>“</a:t>
            </a:r>
            <a:r>
              <a:rPr kumimoji="0" lang="ko-KR" altLang="en-US" sz="180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Calibri" panose="020F0502020204030204"/>
                <a:ea typeface="NanumGothic" panose="020D0604000000000000"/>
              </a:rPr>
              <a:t>밀도 기반</a:t>
            </a:r>
            <a:r>
              <a:rPr kumimoji="0" lang="en-US" altLang="ko-KR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NanumGothic" panose="020D0604000000000000"/>
              </a:rPr>
              <a:t>“  </a:t>
            </a:r>
            <a:r>
              <a:rPr kumimoji="0" lang="ko-KR" alt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NanumGothic" panose="020D0604000000000000"/>
              </a:rPr>
              <a:t>클러스터링</a:t>
            </a:r>
            <a:r>
              <a:rPr kumimoji="0" lang="ko-KR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NanumGothic" panose="020D0604000000000000"/>
              </a:rPr>
              <a:t> 알고리즘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NanumGothic" panose="020D0604000000000000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399" y="2833900"/>
            <a:ext cx="4152900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789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898060" y="6540548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E00F004-BD89-484A-9E0D-939812231C51}"/>
              </a:ext>
            </a:extLst>
          </p:cNvPr>
          <p:cNvSpPr/>
          <p:nvPr/>
        </p:nvSpPr>
        <p:spPr>
          <a:xfrm>
            <a:off x="0" y="6448285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16A8DA-5D55-45BD-85EA-BE2F87A4FCF7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DA6BE5-037F-4552-8536-DD1511D2DB96}"/>
              </a:ext>
            </a:extLst>
          </p:cNvPr>
          <p:cNvSpPr txBox="1"/>
          <p:nvPr/>
        </p:nvSpPr>
        <p:spPr>
          <a:xfrm>
            <a:off x="401050" y="289035"/>
            <a:ext cx="78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NanumGothic" panose="020D0604000000000000"/>
                <a:cs typeface="+mn-cs"/>
              </a:rPr>
              <a:t>대표적 군집화 기법</a:t>
            </a:r>
            <a:r>
              <a:rPr kumimoji="0" lang="en-US" altLang="ko-KR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NanumGothic" panose="020D0604000000000000"/>
                <a:cs typeface="+mn-cs"/>
              </a:rPr>
              <a:t>(Mean Shift Clustering)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NanumGothic" panose="020D0604000000000000"/>
              <a:cs typeface="+mn-cs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AAABA0-83DE-8C46-91C4-A610346B147D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文本框 4">
            <a:extLst>
              <a:ext uri="{FF2B5EF4-FFF2-40B4-BE49-F238E27FC236}">
                <a16:creationId xmlns:a16="http://schemas.microsoft.com/office/drawing/2014/main" id="{914EA958-2EA0-7E43-9809-FACBE5B6E295}"/>
              </a:ext>
            </a:extLst>
          </p:cNvPr>
          <p:cNvSpPr txBox="1"/>
          <p:nvPr/>
        </p:nvSpPr>
        <p:spPr>
          <a:xfrm>
            <a:off x="401050" y="1112126"/>
            <a:ext cx="82193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just" defTabSz="4572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Mean Shift Clustering </a:t>
            </a:r>
            <a:r>
              <a:rPr kumimoji="0" lang="ko-KR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알고리즘</a:t>
            </a: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D24E5A-6EF2-4301-BBDA-C418695D3FF3}"/>
              </a:ext>
            </a:extLst>
          </p:cNvPr>
          <p:cNvSpPr txBox="1"/>
          <p:nvPr/>
        </p:nvSpPr>
        <p:spPr>
          <a:xfrm>
            <a:off x="3560345" y="6538913"/>
            <a:ext cx="30171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2021-1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학기 </a:t>
            </a:r>
            <a:r>
              <a:rPr kumimoji="0" lang="ko-KR" altLang="en-US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비즈니스 데이터 사이언스</a:t>
            </a:r>
            <a:r>
              <a:rPr kumimoji="0" lang="en-US" altLang="ko-KR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ko-KR" altLang="en-US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세미나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797859" y="2017059"/>
                <a:ext cx="7454790" cy="32217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b="1" dirty="0" smtClean="0">
                    <a:solidFill>
                      <a:srgbClr val="00B0F0"/>
                    </a:solidFill>
                  </a:rPr>
                  <a:t>모든 관측치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ko-KR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ko-KR" altLang="en-US" b="1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에</m:t>
                    </m:r>
                  </m:oMath>
                </a14:m>
                <a:r>
                  <a:rPr lang="ko-KR" altLang="en-US" b="1" dirty="0" smtClean="0">
                    <a:solidFill>
                      <a:srgbClr val="00B0F0"/>
                    </a:solidFill>
                  </a:rPr>
                  <a:t> 대하여</a:t>
                </a:r>
                <a:r>
                  <a:rPr lang="en-US" altLang="ko-KR" b="1" dirty="0" smtClean="0">
                    <a:solidFill>
                      <a:srgbClr val="00B0F0"/>
                    </a:solidFill>
                  </a:rPr>
                  <a:t>, </a:t>
                </a:r>
                <a:r>
                  <a:rPr lang="ko-KR" altLang="en-US" b="1" dirty="0" smtClean="0">
                    <a:solidFill>
                      <a:srgbClr val="00B0F0"/>
                    </a:solidFill>
                  </a:rPr>
                  <a:t>아래와 같은 절차를 반복</a:t>
                </a:r>
                <a:endParaRPr lang="en-US" altLang="ko-KR" dirty="0" smtClean="0">
                  <a:solidFill>
                    <a:srgbClr val="00B0F0"/>
                  </a:solidFill>
                </a:endParaRPr>
              </a:p>
              <a:p>
                <a:endParaRPr lang="en-US" altLang="ko-KR" dirty="0" smtClean="0"/>
              </a:p>
              <a:p>
                <a:pPr marL="342900" indent="-342900">
                  <a:buAutoNum type="arabicPeriod"/>
                </a:pPr>
                <a:r>
                  <a:rPr lang="ko-KR" altLang="en-US" dirty="0" smtClean="0"/>
                  <a:t>중심점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ko-KR" altLang="en-US" dirty="0" smtClean="0"/>
                  <a:t>를 지정한다</a:t>
                </a:r>
                <a:r>
                  <a:rPr lang="en-US" altLang="ko-KR" dirty="0" smtClean="0"/>
                  <a:t>. </a:t>
                </a:r>
                <a:r>
                  <a:rPr lang="ko-KR" altLang="en-US" dirty="0" smtClean="0"/>
                  <a:t>이 때</a:t>
                </a:r>
                <a:r>
                  <a:rPr lang="en-US" altLang="ko-KR" dirty="0" smtClean="0"/>
                  <a:t>, </a:t>
                </a:r>
                <a:r>
                  <a:rPr lang="ko-KR" altLang="en-US" dirty="0" smtClean="0"/>
                  <a:t>최초의 중심점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는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아래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와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같</m:t>
                    </m:r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음</m:t>
                    </m:r>
                  </m:oMath>
                </a14:m>
                <a:endParaRPr lang="en-US" altLang="ko-KR" b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altLang="ko-KR" sz="2400" b="1" i="1" smtClean="0"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altLang="ko-KR" sz="2400" b="1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altLang="ko-KR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ko-KR" sz="24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ko-KR" dirty="0" smtClean="0"/>
              </a:p>
              <a:p>
                <a:endParaRPr lang="en-US" altLang="ko-KR" dirty="0" smtClean="0"/>
              </a:p>
              <a:p>
                <a:pPr marL="342900" indent="-342900">
                  <a:buAutoNum type="arabicPeriod" startAt="2"/>
                </a:pPr>
                <a:r>
                  <a:rPr lang="ko-KR" altLang="en-US" dirty="0" smtClean="0"/>
                  <a:t>하단 식에 따라 새로운 중심점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ko-KR" alt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a:rPr lang="ko-KR" altLang="en-US" i="1">
                        <a:latin typeface="Cambria Math" panose="02040503050406030204" pitchFamily="18" charset="0"/>
                      </a:rPr>
                      <m:t>를</m:t>
                    </m:r>
                  </m:oMath>
                </a14:m>
                <a:r>
                  <a:rPr lang="ko-KR" altLang="en-US" dirty="0" smtClean="0"/>
                  <a:t> 계산 </a:t>
                </a:r>
                <a:r>
                  <a:rPr lang="en-US" altLang="ko-KR" dirty="0" smtClean="0"/>
                  <a:t>(</a:t>
                </a:r>
                <a:r>
                  <a:rPr lang="ko-KR" altLang="en-US" dirty="0" smtClean="0"/>
                  <a:t>총 관측치 개수가 </a:t>
                </a:r>
                <a:r>
                  <a:rPr lang="en-US" altLang="ko-KR" dirty="0" smtClean="0"/>
                  <a:t>n)</a:t>
                </a:r>
              </a:p>
              <a:p>
                <a:pPr algn="ctr"/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ko-KR" altLang="en-US" sz="2400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2400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</m:acc>
                  </m:oMath>
                </a14:m>
                <a:r>
                  <a:rPr lang="ko-KR" altLang="en-US" sz="2400" b="1" dirty="0" smtClean="0"/>
                  <a:t> </a:t>
                </a:r>
                <a:r>
                  <a:rPr lang="en-US" altLang="ko-KR" sz="2400" b="1" dirty="0" smtClean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n-US" altLang="ko-KR" sz="2400" b="1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ko-KR" sz="24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altLang="ko-KR" sz="2400" b="1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ko-KR" sz="24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  <m:sup>
                            <m:r>
                              <a:rPr lang="en-US" altLang="ko-KR" sz="24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p>
                          <m:e>
                            <m:r>
                              <a:rPr lang="en-US" altLang="ko-KR" sz="2400" b="1" i="1">
                                <a:latin typeface="Cambria Math" panose="02040503050406030204" pitchFamily="18" charset="0"/>
                              </a:rPr>
                              <m:t>𝑲</m:t>
                            </m:r>
                            <m:r>
                              <a:rPr lang="en-US" altLang="ko-KR" sz="2400" b="1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f>
                              <m:fPr>
                                <m:ctrlPr>
                                  <a:rPr lang="en-US" altLang="ko-KR" sz="2400" b="1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sz="24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400" b="1" i="1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ko-KR" sz="2400" b="1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ko-KR" sz="2400" b="1" i="1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ko-KR" sz="2400" b="1" i="1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en-US" altLang="ko-KR" sz="2400" b="1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ko-KR" sz="2400" b="1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ko-KR" sz="2400" b="1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ko-KR" sz="2400" b="1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ko-KR" sz="2400" b="1" i="1"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</m:num>
                              <m:den>
                                <m:r>
                                  <a:rPr lang="en-US" altLang="ko-KR" sz="2400" b="1" i="1">
                                    <a:latin typeface="Cambria Math" panose="02040503050406030204" pitchFamily="18" charset="0"/>
                                  </a:rPr>
                                  <m:t>𝒉</m:t>
                                </m:r>
                              </m:den>
                            </m:f>
                            <m:r>
                              <a:rPr lang="en-US" altLang="ko-KR" sz="2400" b="1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sz="2400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sSub>
                              <m:sSubPr>
                                <m:ctrlPr>
                                  <a:rPr lang="en-US" altLang="ko-KR" sz="24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4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ko-KR" sz="2400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ctrlPr>
                              <a:rPr lang="en-US" altLang="ko-KR" sz="2400" b="1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ko-KR" sz="24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altLang="ko-KR" sz="2400" b="1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ko-KR" sz="24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  <m:sup>
                            <m:r>
                              <a:rPr lang="en-US" altLang="ko-KR" sz="2400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p>
                          <m:e>
                            <m:r>
                              <a:rPr lang="en-US" altLang="ko-KR" sz="2400" b="1" i="1" smtClean="0">
                                <a:latin typeface="Cambria Math" panose="02040503050406030204" pitchFamily="18" charset="0"/>
                              </a:rPr>
                              <m:t>𝑲</m:t>
                            </m:r>
                            <m:r>
                              <a:rPr lang="en-US" altLang="ko-KR" sz="2400" b="1" i="1" smtClean="0">
                                <a:latin typeface="Cambria Math" panose="02040503050406030204" pitchFamily="18" charset="0"/>
                              </a:rPr>
                              <m:t>( </m:t>
                            </m:r>
                            <m:f>
                              <m:fPr>
                                <m:ctrlPr>
                                  <a:rPr lang="en-US" altLang="ko-KR" sz="24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4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ko-KR" sz="24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en-US" altLang="ko-KR" sz="2400" b="1" i="1" smtClean="0">
                                    <a:latin typeface="Cambria Math" panose="02040503050406030204" pitchFamily="18" charset="0"/>
                                  </a:rPr>
                                  <m:t> − </m:t>
                                </m:r>
                                <m:r>
                                  <a:rPr lang="en-US" altLang="ko-KR" sz="2400" b="1" i="1" smtClean="0"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</m:num>
                              <m:den>
                                <m:r>
                                  <a:rPr lang="en-US" altLang="ko-KR" sz="2400" b="1" i="1" smtClean="0">
                                    <a:latin typeface="Cambria Math" panose="02040503050406030204" pitchFamily="18" charset="0"/>
                                  </a:rPr>
                                  <m:t>𝒉</m:t>
                                </m:r>
                              </m:den>
                            </m:f>
                            <m:r>
                              <a:rPr lang="en-US" altLang="ko-KR" sz="2400" b="1" i="1" smtClean="0">
                                <a:latin typeface="Cambria Math" panose="02040503050406030204" pitchFamily="18" charset="0"/>
                              </a:rPr>
                              <m:t> )</m:t>
                            </m:r>
                          </m:e>
                        </m:nary>
                      </m:den>
                    </m:f>
                  </m:oMath>
                </a14:m>
                <a:endParaRPr lang="en-US" altLang="ko-KR" b="1" dirty="0" smtClean="0"/>
              </a:p>
              <a:p>
                <a:pPr algn="ctr"/>
                <a:endParaRPr lang="en-US" altLang="ko-KR" dirty="0"/>
              </a:p>
              <a:p>
                <a:r>
                  <a:rPr lang="en-US" altLang="ko-KR" dirty="0" smtClean="0"/>
                  <a:t>3.   </a:t>
                </a:r>
                <a:r>
                  <a:rPr lang="ko-KR" altLang="en-US" b="1" dirty="0" smtClean="0"/>
                  <a:t>중</a:t>
                </a:r>
                <a:r>
                  <a:rPr lang="ko-KR" altLang="en-US" b="1" dirty="0">
                    <a:latin typeface="Cambria Math" panose="02040503050406030204" pitchFamily="18" charset="0"/>
                  </a:rPr>
                  <a:t>심점</a:t>
                </a:r>
                <a14:m>
                  <m:oMath xmlns:m="http://schemas.openxmlformats.org/officeDocument/2006/math">
                    <m:r>
                      <a:rPr lang="en-US" altLang="ko-KR" b="1" i="0" smtClean="0">
                        <a:latin typeface="Cambria Math" panose="02040503050406030204" pitchFamily="18" charset="0"/>
                      </a:rPr>
                      <m:t>  </m:t>
                    </m:r>
                    <m:acc>
                      <m:accPr>
                        <m:chr m:val="̃"/>
                        <m:ctrlPr>
                          <a:rPr lang="ko-KR" alt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</m:acc>
                  </m:oMath>
                </a14:m>
                <a:r>
                  <a:rPr lang="ko-KR" altLang="en-US" b="1" dirty="0" smtClean="0"/>
                  <a:t>가 수렴할 때까지</a:t>
                </a:r>
                <a:r>
                  <a:rPr lang="en-US" altLang="ko-KR" b="1" dirty="0" smtClean="0"/>
                  <a:t>, 2</a:t>
                </a:r>
                <a:r>
                  <a:rPr lang="ko-KR" altLang="en-US" b="1" dirty="0" smtClean="0"/>
                  <a:t>번 과정을 반복</a:t>
                </a:r>
                <a:endParaRPr lang="ko-KR" altLang="en-US" b="1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859" y="2017059"/>
                <a:ext cx="7454790" cy="3221716"/>
              </a:xfrm>
              <a:prstGeom prst="rect">
                <a:avLst/>
              </a:prstGeom>
              <a:blipFill>
                <a:blip r:embed="rId4"/>
                <a:stretch>
                  <a:fillRect l="-736" t="-1326" b="-208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836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898060" y="6540548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E00F004-BD89-484A-9E0D-939812231C51}"/>
              </a:ext>
            </a:extLst>
          </p:cNvPr>
          <p:cNvSpPr/>
          <p:nvPr/>
        </p:nvSpPr>
        <p:spPr>
          <a:xfrm>
            <a:off x="0" y="6448285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16A8DA-5D55-45BD-85EA-BE2F87A4FCF7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DA6BE5-037F-4552-8536-DD1511D2DB96}"/>
              </a:ext>
            </a:extLst>
          </p:cNvPr>
          <p:cNvSpPr txBox="1"/>
          <p:nvPr/>
        </p:nvSpPr>
        <p:spPr>
          <a:xfrm>
            <a:off x="401050" y="289035"/>
            <a:ext cx="78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NanumGothic" panose="020D0604000000000000"/>
                <a:cs typeface="+mn-cs"/>
              </a:rPr>
              <a:t>대표적 군집화 기법</a:t>
            </a:r>
            <a:r>
              <a:rPr kumimoji="0" lang="en-US" altLang="ko-KR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NanumGothic" panose="020D0604000000000000"/>
                <a:cs typeface="+mn-cs"/>
              </a:rPr>
              <a:t>(Mean Shift Clustering)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NanumGothic" panose="020D0604000000000000"/>
              <a:cs typeface="+mn-cs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AAABA0-83DE-8C46-91C4-A610346B147D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文本框 4">
            <a:extLst>
              <a:ext uri="{FF2B5EF4-FFF2-40B4-BE49-F238E27FC236}">
                <a16:creationId xmlns:a16="http://schemas.microsoft.com/office/drawing/2014/main" id="{914EA958-2EA0-7E43-9809-FACBE5B6E295}"/>
              </a:ext>
            </a:extLst>
          </p:cNvPr>
          <p:cNvSpPr txBox="1"/>
          <p:nvPr/>
        </p:nvSpPr>
        <p:spPr>
          <a:xfrm>
            <a:off x="401050" y="1112126"/>
            <a:ext cx="82193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just" defTabSz="4572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Mean Shift Clustering </a:t>
            </a:r>
            <a:r>
              <a:rPr kumimoji="0" lang="ko-KR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알고리즘</a:t>
            </a: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D24E5A-6EF2-4301-BBDA-C418695D3FF3}"/>
              </a:ext>
            </a:extLst>
          </p:cNvPr>
          <p:cNvSpPr txBox="1"/>
          <p:nvPr/>
        </p:nvSpPr>
        <p:spPr>
          <a:xfrm>
            <a:off x="3560345" y="6538913"/>
            <a:ext cx="30171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2021-1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학기 </a:t>
            </a:r>
            <a:r>
              <a:rPr kumimoji="0" lang="ko-KR" altLang="en-US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비즈니스 데이터 사이언스</a:t>
            </a:r>
            <a:r>
              <a:rPr kumimoji="0" lang="en-US" altLang="ko-KR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ko-KR" altLang="en-US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세미나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19953" y="1741900"/>
            <a:ext cx="8435507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latinLnBrk="1">
              <a:spcAft>
                <a:spcPts val="600"/>
              </a:spcAft>
            </a:pPr>
            <a:r>
              <a:rPr lang="ko-KR" altLang="en-US" b="1" dirty="0" smtClean="0">
                <a:solidFill>
                  <a:srgbClr val="00B0F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예시</a:t>
            </a:r>
            <a:r>
              <a:rPr lang="en-US" altLang="ko-KR" b="1" dirty="0" smtClean="0">
                <a:solidFill>
                  <a:srgbClr val="00B0F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10</a:t>
            </a:r>
            <a:r>
              <a:rPr lang="ko-KR" altLang="en-US" b="1" dirty="0">
                <a:solidFill>
                  <a:srgbClr val="00B0F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명의 학생에 대한 </a:t>
            </a:r>
            <a:r>
              <a:rPr lang="ko-KR" altLang="en-US" b="1" dirty="0" smtClean="0">
                <a:solidFill>
                  <a:srgbClr val="00B0F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키 데이터에 대한 군집화 실시</a:t>
            </a:r>
            <a:endParaRPr lang="en-US" altLang="ko-KR" b="1" dirty="0">
              <a:solidFill>
                <a:srgbClr val="00B0F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algn="just" latinLnBrk="1">
              <a:spcAft>
                <a:spcPts val="600"/>
              </a:spcAft>
            </a:pPr>
            <a:r>
              <a:rPr lang="en-US" altLang="ko-KR" dirty="0"/>
              <a:t>165.6, 169.9, 171.3, 151.6, 150.5, 158.2, 149.5, 152.2, 170.1, 164.5 (</a:t>
            </a:r>
            <a:r>
              <a:rPr lang="ko-KR" altLang="en-US" sz="1600" dirty="0"/>
              <a:t>실제 키</a:t>
            </a:r>
            <a:r>
              <a:rPr lang="en-US" altLang="ko-KR" dirty="0"/>
              <a:t>)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953" y="2874672"/>
            <a:ext cx="4610100" cy="2781300"/>
          </a:xfrm>
          <a:prstGeom prst="rect">
            <a:avLst/>
          </a:prstGeom>
        </p:spPr>
      </p:pic>
      <p:sp>
        <p:nvSpPr>
          <p:cNvPr id="7" name="타원 6"/>
          <p:cNvSpPr/>
          <p:nvPr/>
        </p:nvSpPr>
        <p:spPr>
          <a:xfrm>
            <a:off x="4374776" y="2082359"/>
            <a:ext cx="564777" cy="382816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432612" y="2972660"/>
                <a:ext cx="3522848" cy="2585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b="1" dirty="0" smtClean="0"/>
                  <a:t>조건</a:t>
                </a:r>
                <a:endParaRPr lang="en-US" altLang="ko-KR" b="1" dirty="0" smtClean="0"/>
              </a:p>
              <a:p>
                <a:endParaRPr lang="en-US" altLang="ko-KR" dirty="0"/>
              </a:p>
              <a:p>
                <a:pPr marL="342900" indent="-342900">
                  <a:buAutoNum type="arabicPeriod"/>
                </a:pPr>
                <a:r>
                  <a:rPr lang="ko-KR" altLang="en-US" dirty="0" err="1" smtClean="0"/>
                  <a:t>커널함수는</a:t>
                </a:r>
                <a:r>
                  <a:rPr lang="ko-KR" altLang="en-US" dirty="0" smtClean="0"/>
                  <a:t> 단일 </a:t>
                </a:r>
                <a:r>
                  <a:rPr lang="ko-KR" altLang="en-US" dirty="0" err="1" smtClean="0"/>
                  <a:t>가우시안</a:t>
                </a:r>
                <a:r>
                  <a:rPr lang="ko-KR" altLang="en-US" dirty="0" smtClean="0"/>
                  <a:t> 함수를 사용</a:t>
                </a:r>
                <a:endParaRPr lang="en-US" altLang="ko-KR" dirty="0" smtClean="0"/>
              </a:p>
              <a:p>
                <a:pPr marL="342900" indent="-342900">
                  <a:buAutoNum type="arabicPeriod"/>
                </a:pPr>
                <a:endParaRPr lang="en-US" altLang="ko-KR" dirty="0"/>
              </a:p>
              <a:p>
                <a:pPr marL="342900" indent="-342900">
                  <a:buAutoNum type="arabicPeriod" startAt="2"/>
                </a:pPr>
                <a:r>
                  <a:rPr lang="en-US" altLang="ko-KR" dirty="0" smtClean="0"/>
                  <a:t>Bandwidth h = 2.3</a:t>
                </a:r>
                <a:r>
                  <a:rPr lang="ko-KR" altLang="en-US" dirty="0" smtClean="0"/>
                  <a:t>으로 설정</a:t>
                </a:r>
                <a:endParaRPr lang="en-US" altLang="ko-KR" dirty="0" smtClean="0"/>
              </a:p>
              <a:p>
                <a:pPr marL="342900" indent="-342900">
                  <a:buAutoNum type="arabicPeriod" startAt="2"/>
                </a:pPr>
                <a:endParaRPr lang="en-US" altLang="ko-KR" dirty="0"/>
              </a:p>
              <a:p>
                <a:pPr marL="342900" indent="-342900">
                  <a:buAutoNum type="arabicPeriod" startAt="2"/>
                </a:pPr>
                <a:r>
                  <a:rPr lang="ko-KR" altLang="en-US" dirty="0" smtClean="0"/>
                  <a:t>단일 </a:t>
                </a:r>
                <a:r>
                  <a:rPr lang="ko-KR" altLang="en-US" dirty="0" err="1" smtClean="0"/>
                  <a:t>가우시안</a:t>
                </a:r>
                <a:r>
                  <a:rPr lang="ko-KR" altLang="en-US" dirty="0" smtClean="0"/>
                  <a:t> 함수의 </a:t>
                </a:r>
                <a:r>
                  <a:rPr lang="ko-KR" altLang="en-US" dirty="0" err="1" smtClean="0"/>
                  <a:t>모수인</a:t>
                </a:r>
                <a:endParaRPr lang="en-US" altLang="ko-KR" dirty="0" smtClean="0"/>
              </a:p>
              <a:p>
                <a:r>
                  <a:rPr lang="en-US" altLang="ko-KR" dirty="0"/>
                  <a:t> </a:t>
                </a:r>
                <a:r>
                  <a:rPr lang="en-US" altLang="ko-KR" dirty="0" smtClean="0"/>
                  <a:t>     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  <a:ea typeface="NanumGothic" panose="020D0604000000000000" pitchFamily="34" charset="-127"/>
                      </a:rPr>
                      <m:t>𝜎</m:t>
                    </m:r>
                  </m:oMath>
                </a14:m>
                <a:r>
                  <a:rPr lang="ko-KR" altLang="en-US" dirty="0" smtClean="0"/>
                  <a:t> </a:t>
                </a:r>
                <a:r>
                  <a:rPr lang="en-US" altLang="ko-KR" dirty="0" smtClean="0"/>
                  <a:t>= 1,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=0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으</m:t>
                    </m:r>
                  </m:oMath>
                </a14:m>
                <a:r>
                  <a:rPr lang="ko-KR" altLang="en-US" dirty="0" smtClean="0"/>
                  <a:t>로 설정 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2612" y="2972660"/>
                <a:ext cx="3522848" cy="2585323"/>
              </a:xfrm>
              <a:prstGeom prst="rect">
                <a:avLst/>
              </a:prstGeom>
              <a:blipFill>
                <a:blip r:embed="rId5"/>
                <a:stretch>
                  <a:fillRect l="-1384" t="-1887" b="-28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타원 15"/>
          <p:cNvSpPr/>
          <p:nvPr/>
        </p:nvSpPr>
        <p:spPr>
          <a:xfrm>
            <a:off x="869577" y="3920124"/>
            <a:ext cx="555812" cy="526370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3923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898060" y="6540548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E00F004-BD89-484A-9E0D-939812231C51}"/>
              </a:ext>
            </a:extLst>
          </p:cNvPr>
          <p:cNvSpPr/>
          <p:nvPr/>
        </p:nvSpPr>
        <p:spPr>
          <a:xfrm>
            <a:off x="0" y="6448285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16A8DA-5D55-45BD-85EA-BE2F87A4FCF7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DA6BE5-037F-4552-8536-DD1511D2DB96}"/>
              </a:ext>
            </a:extLst>
          </p:cNvPr>
          <p:cNvSpPr txBox="1"/>
          <p:nvPr/>
        </p:nvSpPr>
        <p:spPr>
          <a:xfrm>
            <a:off x="401050" y="289035"/>
            <a:ext cx="78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NanumGothic" panose="020D0604000000000000"/>
                <a:cs typeface="+mn-cs"/>
              </a:rPr>
              <a:t>대표적 군집화 기법</a:t>
            </a:r>
            <a:r>
              <a:rPr kumimoji="0" lang="en-US" altLang="ko-KR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NanumGothic" panose="020D0604000000000000"/>
                <a:cs typeface="+mn-cs"/>
              </a:rPr>
              <a:t>(Mean Shift Clustering)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NanumGothic" panose="020D0604000000000000"/>
              <a:cs typeface="+mn-cs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AAABA0-83DE-8C46-91C4-A610346B147D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文本框 4">
            <a:extLst>
              <a:ext uri="{FF2B5EF4-FFF2-40B4-BE49-F238E27FC236}">
                <a16:creationId xmlns:a16="http://schemas.microsoft.com/office/drawing/2014/main" id="{914EA958-2EA0-7E43-9809-FACBE5B6E295}"/>
              </a:ext>
            </a:extLst>
          </p:cNvPr>
          <p:cNvSpPr txBox="1"/>
          <p:nvPr/>
        </p:nvSpPr>
        <p:spPr>
          <a:xfrm>
            <a:off x="401050" y="1112126"/>
            <a:ext cx="82193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just" defTabSz="4572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Mean Shift Clustering </a:t>
            </a:r>
            <a:r>
              <a:rPr kumimoji="0" lang="ko-KR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알고리즘</a:t>
            </a: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D24E5A-6EF2-4301-BBDA-C418695D3FF3}"/>
              </a:ext>
            </a:extLst>
          </p:cNvPr>
          <p:cNvSpPr txBox="1"/>
          <p:nvPr/>
        </p:nvSpPr>
        <p:spPr>
          <a:xfrm>
            <a:off x="3560345" y="6538913"/>
            <a:ext cx="30171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2021-1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학기 </a:t>
            </a:r>
            <a:r>
              <a:rPr kumimoji="0" lang="ko-KR" altLang="en-US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비즈니스 데이터 사이언스</a:t>
            </a:r>
            <a:r>
              <a:rPr kumimoji="0" lang="en-US" altLang="ko-KR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ko-KR" altLang="en-US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세미나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519953" y="1741900"/>
                <a:ext cx="8435507" cy="14311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just" latinLnBrk="1">
                  <a:spcAft>
                    <a:spcPts val="600"/>
                  </a:spcAft>
                  <a:buAutoNum type="arabicPeriod"/>
                </a:pPr>
                <a:r>
                  <a:rPr lang="ko-KR" altLang="en-US" dirty="0" smtClean="0"/>
                  <a:t>중심점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ko-KR" altLang="en-US" dirty="0"/>
                  <a:t>를 지정한다</a:t>
                </a:r>
                <a:r>
                  <a:rPr lang="en-US" altLang="ko-KR" dirty="0" smtClean="0"/>
                  <a:t>. </a:t>
                </a:r>
              </a:p>
              <a:p>
                <a:pPr algn="just" latinLnBrk="1">
                  <a:spcAft>
                    <a:spcPts val="600"/>
                  </a:spcAft>
                </a:pPr>
                <a:r>
                  <a:rPr lang="en-US" altLang="ko-KR" dirty="0"/>
                  <a:t> </a:t>
                </a:r>
                <a:r>
                  <a:rPr lang="en-US" altLang="ko-KR" dirty="0" smtClean="0"/>
                  <a:t>    </a:t>
                </a:r>
                <a:r>
                  <a:rPr lang="ko-KR" altLang="en-US" dirty="0" smtClean="0"/>
                  <a:t>관측치 </a:t>
                </a:r>
                <a:r>
                  <a:rPr lang="en-US" altLang="ko-KR" dirty="0" smtClean="0"/>
                  <a:t>149.5</a:t>
                </a:r>
                <a:r>
                  <a:rPr lang="ko-KR" altLang="en-US" dirty="0" smtClean="0"/>
                  <a:t>를 기준으로 하고 있으므로</a:t>
                </a:r>
                <a:r>
                  <a:rPr lang="en-US" altLang="ko-KR" dirty="0" smtClean="0"/>
                  <a:t>,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altLang="ko-KR" dirty="0" smtClean="0"/>
                  <a:t> = 149.5</a:t>
                </a:r>
              </a:p>
              <a:p>
                <a:pPr algn="just" latinLnBrk="1">
                  <a:spcAft>
                    <a:spcPts val="600"/>
                  </a:spcAft>
                </a:pPr>
                <a:endParaRPr lang="en-US" altLang="ko-KR" dirty="0"/>
              </a:p>
              <a:p>
                <a:pPr algn="just" latinLnBrk="1">
                  <a:spcAft>
                    <a:spcPts val="600"/>
                  </a:spcAft>
                </a:pPr>
                <a:r>
                  <a:rPr lang="en-US" altLang="ko-KR" dirty="0" smtClean="0"/>
                  <a:t>2. </a:t>
                </a:r>
                <a:r>
                  <a:rPr lang="ko-KR" altLang="en-US" dirty="0"/>
                  <a:t>새로운 중심점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a:rPr lang="ko-KR" altLang="en-US" i="1">
                        <a:latin typeface="Cambria Math" panose="02040503050406030204" pitchFamily="18" charset="0"/>
                      </a:rPr>
                      <m:t>를</m:t>
                    </m:r>
                  </m:oMath>
                </a14:m>
                <a:r>
                  <a:rPr lang="ko-KR" altLang="en-US" dirty="0"/>
                  <a:t> 계산</a:t>
                </a:r>
                <a:r>
                  <a:rPr lang="en-US" altLang="ko-KR" dirty="0" smtClean="0"/>
                  <a:t>  </a:t>
                </a:r>
                <a:endParaRPr lang="en-US" altLang="ko-KR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953" y="1741900"/>
                <a:ext cx="8435507" cy="1431161"/>
              </a:xfrm>
              <a:prstGeom prst="rect">
                <a:avLst/>
              </a:prstGeom>
              <a:blipFill>
                <a:blip r:embed="rId4"/>
                <a:stretch>
                  <a:fillRect l="-578" t="-3404" b="-595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152654" y="3526760"/>
                <a:ext cx="2500621" cy="22036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ko-KR" alt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</m:acc>
                      <m:r>
                        <m:rPr>
                          <m:nor/>
                        </m:rPr>
                        <a:rPr lang="ko-KR" altLang="en-US" b="1" dirty="0"/>
                        <m:t> </m:t>
                      </m:r>
                      <m:r>
                        <m:rPr>
                          <m:nor/>
                        </m:rPr>
                        <a:rPr lang="en-US" altLang="ko-KR" b="1" dirty="0"/>
                        <m:t>= </m:t>
                      </m:r>
                      <m:f>
                        <m:fPr>
                          <m:ctrlPr>
                            <a:rPr lang="en-US" altLang="ko-KR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p>
                            <m:e>
                              <m: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  <m:t>𝑲</m:t>
                              </m:r>
                              <m: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en-US" altLang="ko-KR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ko-KR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b="1" i="1">
                                          <a:latin typeface="Cambria Math" panose="02040503050406030204" pitchFamily="18" charset="0"/>
                                        </a:rPr>
                                        <m:t>  </m:t>
                                      </m:r>
                                      <m:r>
                                        <a:rPr lang="en-US" altLang="ko-KR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altLang="ko-KR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r>
                                    <a:rPr lang="en-US" altLang="ko-KR" b="1" i="1">
                                      <a:latin typeface="Cambria Math" panose="02040503050406030204" pitchFamily="18" charset="0"/>
                                    </a:rPr>
                                    <m:t>  − </m:t>
                                  </m:r>
                                  <m:r>
                                    <a:rPr lang="en-US" altLang="ko-KR" b="1" i="1">
                                      <a:latin typeface="Cambria Math" panose="02040503050406030204" pitchFamily="18" charset="0"/>
                                    </a:rPr>
                                    <m:t>𝒄</m:t>
                                  </m:r>
                                </m:num>
                                <m:den>
                                  <m:r>
                                    <a:rPr lang="en-US" altLang="ko-KR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den>
                              </m:f>
                              <m: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  <m:t> )</m:t>
                              </m:r>
                              <m:sSub>
                                <m:sSubPr>
                                  <m:ctrlPr>
                                    <a:rPr lang="en-US" altLang="ko-KR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ko-KR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p>
                            <m:e>
                              <m: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  <m:t>𝑲</m:t>
                              </m:r>
                              <m: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  <m:t>( </m:t>
                              </m:r>
                              <m:f>
                                <m:fPr>
                                  <m:ctrlPr>
                                    <a:rPr lang="en-US" altLang="ko-KR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ko-KR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altLang="ko-KR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r>
                                    <a:rPr lang="en-US" altLang="ko-KR" b="1" i="1">
                                      <a:latin typeface="Cambria Math" panose="02040503050406030204" pitchFamily="18" charset="0"/>
                                    </a:rPr>
                                    <m:t> − </m:t>
                                  </m:r>
                                  <m:r>
                                    <a:rPr lang="en-US" altLang="ko-KR" b="1" i="1">
                                      <a:latin typeface="Cambria Math" panose="02040503050406030204" pitchFamily="18" charset="0"/>
                                    </a:rPr>
                                    <m:t>𝒄</m:t>
                                  </m:r>
                                </m:num>
                                <m:den>
                                  <m:r>
                                    <a:rPr lang="en-US" altLang="ko-KR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den>
                              </m:f>
                              <m: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  <m:t> )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n-US" altLang="ko-KR" dirty="0" smtClean="0"/>
              </a:p>
              <a:p>
                <a:r>
                  <a:rPr lang="en-US" altLang="ko-KR" dirty="0"/>
                  <a:t> </a:t>
                </a:r>
                <a:endParaRPr lang="en-US" altLang="ko-KR" dirty="0" smtClean="0"/>
              </a:p>
              <a:p>
                <a:r>
                  <a:rPr lang="en-US" altLang="ko-KR" dirty="0"/>
                  <a:t> </a:t>
                </a:r>
                <a:r>
                  <a:rPr lang="en-US" altLang="ko-KR" dirty="0" smtClean="0"/>
                  <a:t>   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81.4842</m:t>
                        </m:r>
                      </m:num>
                      <m:den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0.5408</m:t>
                        </m:r>
                      </m:den>
                    </m:f>
                  </m:oMath>
                </a14:m>
                <a:endParaRPr lang="en-US" altLang="ko-KR" dirty="0" smtClean="0"/>
              </a:p>
              <a:p>
                <a:endParaRPr lang="en-US" altLang="ko-KR" dirty="0"/>
              </a:p>
              <a:p>
                <a:r>
                  <a:rPr lang="en-US" altLang="ko-KR" dirty="0" smtClean="0"/>
                  <a:t>     =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150.7</m:t>
                    </m:r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2654" y="3526760"/>
                <a:ext cx="2500621" cy="2203680"/>
              </a:xfrm>
              <a:prstGeom prst="rect">
                <a:avLst/>
              </a:prstGeom>
              <a:blipFill>
                <a:blip r:embed="rId5"/>
                <a:stretch>
                  <a:fillRect b="-554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그림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290" y="3290047"/>
            <a:ext cx="3734922" cy="267710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직사각형 1"/>
              <p:cNvSpPr/>
              <p:nvPr/>
            </p:nvSpPr>
            <p:spPr>
              <a:xfrm>
                <a:off x="5387789" y="965826"/>
                <a:ext cx="3684493" cy="698974"/>
              </a:xfrm>
              <a:prstGeom prst="rect">
                <a:avLst/>
              </a:prstGeom>
              <a:ln w="28575"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NanumGothic" panose="020D0604000000000000" pitchFamily="34" charset="-127"/>
                        </a:rPr>
                        <m:t>𝑲</m:t>
                      </m:r>
                      <m:d>
                        <m:dPr>
                          <m:ctrlPr>
                            <a:rPr lang="en-US" altLang="ko-KR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NanumGothic" panose="020D0604000000000000" pitchFamily="34" charset="-127"/>
                            </a:rPr>
                          </m:ctrlPr>
                        </m:dPr>
                        <m:e>
                          <m:r>
                            <a:rPr lang="en-US" altLang="ko-KR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NanumGothic" panose="020D0604000000000000" pitchFamily="34" charset="-127"/>
                            </a:rPr>
                            <m:t>𝒙</m:t>
                          </m:r>
                          <m:r>
                            <a:rPr lang="en-US" altLang="ko-KR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NanumGothic" panose="020D0604000000000000" pitchFamily="34" charset="-127"/>
                            </a:rPr>
                            <m:t> ;</m:t>
                          </m:r>
                          <m:r>
                            <a:rPr lang="ko-KR" altLang="en-US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NanumGothic" panose="020D0604000000000000" pitchFamily="34" charset="-127"/>
                            </a:rPr>
                            <m:t>𝝈</m:t>
                          </m:r>
                          <m:r>
                            <a:rPr lang="en-US" altLang="ko-KR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NanumGothic" panose="020D0604000000000000" pitchFamily="34" charset="-127"/>
                            </a:rPr>
                            <m:t>=</m:t>
                          </m:r>
                          <m:r>
                            <a:rPr lang="en-US" altLang="ko-KR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NanumGothic" panose="020D0604000000000000" pitchFamily="34" charset="-127"/>
                            </a:rPr>
                            <m:t>𝟏</m:t>
                          </m:r>
                          <m:r>
                            <a:rPr lang="en-US" altLang="ko-KR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NanumGothic" panose="020D0604000000000000" pitchFamily="34" charset="-127"/>
                            </a:rPr>
                            <m:t>,</m:t>
                          </m:r>
                          <m:r>
                            <a:rPr lang="ko-KR" altLang="en-US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NanumGothic" panose="020D0604000000000000" pitchFamily="34" charset="-127"/>
                            </a:rPr>
                            <m:t>𝝁</m:t>
                          </m:r>
                          <m:r>
                            <a:rPr lang="en-US" altLang="ko-KR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NanumGothic" panose="020D0604000000000000" pitchFamily="34" charset="-127"/>
                            </a:rPr>
                            <m:t>=</m:t>
                          </m:r>
                          <m:r>
                            <a:rPr lang="en-US" altLang="ko-KR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NanumGothic" panose="020D0604000000000000" pitchFamily="34" charset="-127"/>
                            </a:rPr>
                            <m:t>𝟎</m:t>
                          </m:r>
                        </m:e>
                      </m:d>
                      <m:r>
                        <a:rPr lang="en-US" altLang="ko-KR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NanumGothic" panose="020D0604000000000000" pitchFamily="34" charset="-127"/>
                        </a:rPr>
                        <m:t>= </m:t>
                      </m:r>
                      <m:f>
                        <m:fPr>
                          <m:ctrlPr>
                            <a:rPr lang="en-US" altLang="ko-KR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NanumGothic" panose="020D0604000000000000" pitchFamily="34" charset="-127"/>
                            </a:rPr>
                          </m:ctrlPr>
                        </m:fPr>
                        <m:num>
                          <m:r>
                            <a:rPr lang="en-US" altLang="ko-KR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NanumGothic" panose="020D0604000000000000" pitchFamily="34" charset="-127"/>
                            </a:rPr>
                            <m:t>𝟏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ko-KR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NanumGothic" panose="020D0604000000000000" pitchFamily="34" charset="-127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ko-KR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NanumGothic" panose="020D0604000000000000" pitchFamily="34" charset="-127"/>
                                </a:rPr>
                                <m:t>𝟐</m:t>
                              </m:r>
                              <m:r>
                                <a:rPr lang="ko-KR" altLang="en-US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NanumGothic" panose="020D0604000000000000" pitchFamily="34" charset="-127"/>
                                </a:rPr>
                                <m:t>𝝅</m:t>
                              </m:r>
                            </m:e>
                          </m:rad>
                        </m:den>
                      </m:f>
                      <m:sSup>
                        <m:sSupPr>
                          <m:ctrlPr>
                            <a:rPr lang="en-US" altLang="ko-KR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NanumGothic" panose="020D0604000000000000" pitchFamily="34" charset="-127"/>
                            </a:rPr>
                          </m:ctrlPr>
                        </m:sSupPr>
                        <m:e>
                          <m:r>
                            <a:rPr lang="en-US" altLang="ko-KR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NanumGothic" panose="020D0604000000000000" pitchFamily="34" charset="-127"/>
                            </a:rPr>
                            <m:t>𝒆</m:t>
                          </m:r>
                        </m:e>
                        <m:sup>
                          <m:r>
                            <a:rPr lang="en-US" altLang="ko-KR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NanumGothic" panose="020D0604000000000000" pitchFamily="34" charset="-127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ko-KR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NanumGothic" panose="020D0604000000000000" pitchFamily="34" charset="-127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ko-KR" b="1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ea typeface="NanumGothic" panose="020D0604000000000000" pitchFamily="34" charset="-127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b="1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ea typeface="NanumGothic" panose="020D0604000000000000" pitchFamily="34" charset="-127"/>
                                    </a:rPr>
                                    <m:t>𝒙</m:t>
                                  </m:r>
                                  <m:r>
                                    <a:rPr lang="en-US" altLang="ko-KR" b="1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ea typeface="NanumGothic" panose="020D0604000000000000" pitchFamily="34" charset="-127"/>
                                    </a:rPr>
                                    <m:t> </m:t>
                                  </m:r>
                                </m:e>
                                <m:sup>
                                  <m:r>
                                    <a:rPr lang="en-US" altLang="ko-KR" b="1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ea typeface="NanumGothic" panose="020D0604000000000000" pitchFamily="34" charset="-127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US" altLang="ko-KR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NanumGothic" panose="020D0604000000000000" pitchFamily="34" charset="-127"/>
                                </a:rPr>
                                <m:t> </m:t>
                              </m:r>
                            </m:num>
                            <m:den>
                              <m:r>
                                <a:rPr lang="en-US" altLang="ko-KR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NanumGothic" panose="020D0604000000000000" pitchFamily="34" charset="-127"/>
                                </a:rPr>
                                <m:t>𝟐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ko-KR" altLang="en-US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" name="직사각형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7789" y="965826"/>
                <a:ext cx="3684493" cy="69897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직선 화살표 연결선 6"/>
          <p:cNvCxnSpPr>
            <a:stCxn id="2" idx="2"/>
          </p:cNvCxnSpPr>
          <p:nvPr/>
        </p:nvCxnSpPr>
        <p:spPr>
          <a:xfrm flipH="1">
            <a:off x="6804214" y="1664800"/>
            <a:ext cx="425822" cy="177764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3441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898060" y="6540548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E00F004-BD89-484A-9E0D-939812231C51}"/>
              </a:ext>
            </a:extLst>
          </p:cNvPr>
          <p:cNvSpPr/>
          <p:nvPr/>
        </p:nvSpPr>
        <p:spPr>
          <a:xfrm>
            <a:off x="0" y="6448285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16A8DA-5D55-45BD-85EA-BE2F87A4FCF7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DA6BE5-037F-4552-8536-DD1511D2DB96}"/>
              </a:ext>
            </a:extLst>
          </p:cNvPr>
          <p:cNvSpPr txBox="1"/>
          <p:nvPr/>
        </p:nvSpPr>
        <p:spPr>
          <a:xfrm>
            <a:off x="401050" y="289035"/>
            <a:ext cx="78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NanumGothic" panose="020D0604000000000000"/>
                <a:cs typeface="+mn-cs"/>
              </a:rPr>
              <a:t>대표적 군집화 기법</a:t>
            </a:r>
            <a:r>
              <a:rPr kumimoji="0" lang="en-US" altLang="ko-KR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NanumGothic" panose="020D0604000000000000"/>
                <a:cs typeface="+mn-cs"/>
              </a:rPr>
              <a:t>(Mean Shift Clustering)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NanumGothic" panose="020D0604000000000000"/>
              <a:cs typeface="+mn-cs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AAABA0-83DE-8C46-91C4-A610346B147D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文本框 4">
            <a:extLst>
              <a:ext uri="{FF2B5EF4-FFF2-40B4-BE49-F238E27FC236}">
                <a16:creationId xmlns:a16="http://schemas.microsoft.com/office/drawing/2014/main" id="{914EA958-2EA0-7E43-9809-FACBE5B6E295}"/>
              </a:ext>
            </a:extLst>
          </p:cNvPr>
          <p:cNvSpPr txBox="1"/>
          <p:nvPr/>
        </p:nvSpPr>
        <p:spPr>
          <a:xfrm>
            <a:off x="401050" y="1112126"/>
            <a:ext cx="82193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just" defTabSz="4572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Mean Shift Clustering </a:t>
            </a:r>
            <a:r>
              <a:rPr kumimoji="0" lang="ko-KR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알고리즘</a:t>
            </a: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D24E5A-6EF2-4301-BBDA-C418695D3FF3}"/>
              </a:ext>
            </a:extLst>
          </p:cNvPr>
          <p:cNvSpPr txBox="1"/>
          <p:nvPr/>
        </p:nvSpPr>
        <p:spPr>
          <a:xfrm>
            <a:off x="3560345" y="6538913"/>
            <a:ext cx="30171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2021-1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학기 </a:t>
            </a:r>
            <a:r>
              <a:rPr kumimoji="0" lang="ko-KR" altLang="en-US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비즈니스 데이터 사이언스</a:t>
            </a:r>
            <a:r>
              <a:rPr kumimoji="0" lang="en-US" altLang="ko-KR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ko-KR" altLang="en-US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세미나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519953" y="1741900"/>
                <a:ext cx="8435507" cy="7284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 latinLnBrk="1">
                  <a:spcAft>
                    <a:spcPts val="600"/>
                  </a:spcAft>
                </a:pPr>
                <a:r>
                  <a:rPr lang="en-US" altLang="ko-KR" dirty="0" smtClean="0"/>
                  <a:t>3. </a:t>
                </a:r>
                <a:r>
                  <a:rPr lang="ko-KR" altLang="en-US" dirty="0"/>
                  <a:t>중</a:t>
                </a:r>
                <a14:m>
                  <m:oMath xmlns:m="http://schemas.openxmlformats.org/officeDocument/2006/math">
                    <m:r>
                      <a:rPr lang="ko-KR" altLang="en-US" b="1" i="1">
                        <a:latin typeface="Cambria Math" panose="02040503050406030204" pitchFamily="18" charset="0"/>
                      </a:rPr>
                      <m:t>심점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̃"/>
                        <m:ctrlPr>
                          <a:rPr lang="ko-KR" alt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</m:acc>
                  </m:oMath>
                </a14:m>
                <a:r>
                  <a:rPr lang="ko-KR" altLang="en-US" dirty="0"/>
                  <a:t>가 변하지 않을 때까지</a:t>
                </a:r>
                <a:r>
                  <a:rPr lang="en-US" altLang="ko-KR" dirty="0"/>
                  <a:t>, 2</a:t>
                </a:r>
                <a:r>
                  <a:rPr lang="ko-KR" altLang="en-US" dirty="0"/>
                  <a:t>번 과정을 반복</a:t>
                </a:r>
              </a:p>
              <a:p>
                <a:pPr algn="just" latinLnBrk="1">
                  <a:spcAft>
                    <a:spcPts val="600"/>
                  </a:spcAft>
                </a:pPr>
                <a:endParaRPr lang="en-US" altLang="ko-KR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953" y="1741900"/>
                <a:ext cx="8435507" cy="728469"/>
              </a:xfrm>
              <a:prstGeom prst="rect">
                <a:avLst/>
              </a:prstGeom>
              <a:blipFill>
                <a:blip r:embed="rId4"/>
                <a:stretch>
                  <a:fillRect l="-578" t="-588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그림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564" y="2488997"/>
            <a:ext cx="2850776" cy="2380171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4307" y="2508780"/>
            <a:ext cx="2690454" cy="2340603"/>
          </a:xfrm>
          <a:prstGeom prst="rect">
            <a:avLst/>
          </a:prstGeom>
        </p:spPr>
      </p:pic>
      <p:sp>
        <p:nvSpPr>
          <p:cNvPr id="7" name="오른쪽 화살표 6"/>
          <p:cNvSpPr/>
          <p:nvPr/>
        </p:nvSpPr>
        <p:spPr>
          <a:xfrm>
            <a:off x="3629937" y="3523129"/>
            <a:ext cx="473773" cy="2958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오른쪽 화살표 14"/>
          <p:cNvSpPr/>
          <p:nvPr/>
        </p:nvSpPr>
        <p:spPr>
          <a:xfrm>
            <a:off x="7261582" y="3523129"/>
            <a:ext cx="473773" cy="2958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844118" y="3442447"/>
                <a:ext cx="77631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2400" i="1" smtClean="0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4118" y="3442447"/>
                <a:ext cx="776311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타원 21"/>
          <p:cNvSpPr/>
          <p:nvPr/>
        </p:nvSpPr>
        <p:spPr>
          <a:xfrm>
            <a:off x="2699734" y="2645190"/>
            <a:ext cx="860611" cy="311217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/>
          <p:cNvSpPr/>
          <p:nvPr/>
        </p:nvSpPr>
        <p:spPr>
          <a:xfrm>
            <a:off x="6147212" y="2685033"/>
            <a:ext cx="860611" cy="311217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7078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898060" y="6540548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E00F004-BD89-484A-9E0D-939812231C51}"/>
              </a:ext>
            </a:extLst>
          </p:cNvPr>
          <p:cNvSpPr/>
          <p:nvPr/>
        </p:nvSpPr>
        <p:spPr>
          <a:xfrm>
            <a:off x="0" y="6448285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16A8DA-5D55-45BD-85EA-BE2F87A4FCF7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DA6BE5-037F-4552-8536-DD1511D2DB96}"/>
              </a:ext>
            </a:extLst>
          </p:cNvPr>
          <p:cNvSpPr txBox="1"/>
          <p:nvPr/>
        </p:nvSpPr>
        <p:spPr>
          <a:xfrm>
            <a:off x="401050" y="289035"/>
            <a:ext cx="78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NanumGothic" panose="020D0604000000000000"/>
                <a:cs typeface="+mn-cs"/>
              </a:rPr>
              <a:t>대표적 군집화 기법</a:t>
            </a:r>
            <a:r>
              <a:rPr kumimoji="0" lang="en-US" altLang="ko-KR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NanumGothic" panose="020D0604000000000000"/>
                <a:cs typeface="+mn-cs"/>
              </a:rPr>
              <a:t>(Mean Shift Clustering)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NanumGothic" panose="020D0604000000000000"/>
              <a:cs typeface="+mn-cs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AAABA0-83DE-8C46-91C4-A610346B147D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文本框 4">
            <a:extLst>
              <a:ext uri="{FF2B5EF4-FFF2-40B4-BE49-F238E27FC236}">
                <a16:creationId xmlns:a16="http://schemas.microsoft.com/office/drawing/2014/main" id="{914EA958-2EA0-7E43-9809-FACBE5B6E295}"/>
              </a:ext>
            </a:extLst>
          </p:cNvPr>
          <p:cNvSpPr txBox="1"/>
          <p:nvPr/>
        </p:nvSpPr>
        <p:spPr>
          <a:xfrm>
            <a:off x="401050" y="1112126"/>
            <a:ext cx="82193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just" defTabSz="4572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Mean Shift Clustering </a:t>
            </a:r>
            <a:r>
              <a:rPr kumimoji="0" lang="ko-KR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알고리즘</a:t>
            </a: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D24E5A-6EF2-4301-BBDA-C418695D3FF3}"/>
              </a:ext>
            </a:extLst>
          </p:cNvPr>
          <p:cNvSpPr txBox="1"/>
          <p:nvPr/>
        </p:nvSpPr>
        <p:spPr>
          <a:xfrm>
            <a:off x="3560345" y="6538913"/>
            <a:ext cx="30171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2021-1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학기 </a:t>
            </a:r>
            <a:r>
              <a:rPr kumimoji="0" lang="ko-KR" altLang="en-US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비즈니스 데이터 사이언스</a:t>
            </a:r>
            <a:r>
              <a:rPr kumimoji="0" lang="en-US" altLang="ko-KR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ko-KR" altLang="en-US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세미나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519953" y="1741900"/>
                <a:ext cx="8435507" cy="7284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 latinLnBrk="1">
                  <a:spcAft>
                    <a:spcPts val="600"/>
                  </a:spcAft>
                </a:pPr>
                <a:r>
                  <a:rPr lang="en-US" altLang="ko-KR" dirty="0" smtClean="0"/>
                  <a:t>3. </a:t>
                </a:r>
                <a:r>
                  <a:rPr lang="ko-KR" altLang="en-US" dirty="0"/>
                  <a:t>중</a:t>
                </a:r>
                <a14:m>
                  <m:oMath xmlns:m="http://schemas.openxmlformats.org/officeDocument/2006/math">
                    <m:r>
                      <a:rPr lang="ko-KR" altLang="en-US" b="1" i="1">
                        <a:latin typeface="Cambria Math" panose="02040503050406030204" pitchFamily="18" charset="0"/>
                      </a:rPr>
                      <m:t>심점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̃"/>
                        <m:ctrlPr>
                          <a:rPr lang="ko-KR" alt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</m:acc>
                  </m:oMath>
                </a14:m>
                <a:r>
                  <a:rPr lang="ko-KR" altLang="en-US" dirty="0"/>
                  <a:t>가 변하지 않을 때까지</a:t>
                </a:r>
                <a:r>
                  <a:rPr lang="en-US" altLang="ko-KR" dirty="0"/>
                  <a:t>, 2</a:t>
                </a:r>
                <a:r>
                  <a:rPr lang="ko-KR" altLang="en-US" dirty="0"/>
                  <a:t>번 과정을 </a:t>
                </a:r>
                <a:r>
                  <a:rPr lang="ko-KR" altLang="en-US" dirty="0" smtClean="0"/>
                  <a:t>반복 </a:t>
                </a:r>
                <a:r>
                  <a:rPr lang="en-US" altLang="ko-KR" dirty="0" smtClean="0"/>
                  <a:t>(</a:t>
                </a:r>
                <a:r>
                  <a:rPr lang="ko-KR" altLang="en-US" dirty="0" smtClean="0"/>
                  <a:t>최종</a:t>
                </a:r>
                <a:r>
                  <a:rPr lang="en-US" altLang="ko-KR" dirty="0"/>
                  <a:t>)</a:t>
                </a:r>
                <a:endParaRPr lang="ko-KR" altLang="en-US" dirty="0"/>
              </a:p>
              <a:p>
                <a:pPr algn="just" latinLnBrk="1">
                  <a:spcAft>
                    <a:spcPts val="600"/>
                  </a:spcAft>
                </a:pPr>
                <a:endParaRPr lang="en-US" altLang="ko-KR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953" y="1741900"/>
                <a:ext cx="8435507" cy="728469"/>
              </a:xfrm>
              <a:prstGeom prst="rect">
                <a:avLst/>
              </a:prstGeom>
              <a:blipFill>
                <a:blip r:embed="rId4"/>
                <a:stretch>
                  <a:fillRect l="-578" t="-588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2506" y="2387922"/>
            <a:ext cx="2895600" cy="25241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269562" y="5373403"/>
            <a:ext cx="4482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solidFill>
                  <a:srgbClr val="00B0F0"/>
                </a:solidFill>
              </a:rPr>
              <a:t>관측치 </a:t>
            </a:r>
            <a:r>
              <a:rPr lang="en-US" altLang="ko-KR" b="1" dirty="0" smtClean="0">
                <a:solidFill>
                  <a:srgbClr val="00B0F0"/>
                </a:solidFill>
              </a:rPr>
              <a:t>149.5</a:t>
            </a:r>
            <a:r>
              <a:rPr lang="ko-KR" altLang="en-US" b="1" dirty="0" smtClean="0">
                <a:solidFill>
                  <a:srgbClr val="00B0F0"/>
                </a:solidFill>
              </a:rPr>
              <a:t>는 중심점 </a:t>
            </a:r>
            <a:r>
              <a:rPr lang="en-US" altLang="ko-KR" b="1" dirty="0" smtClean="0">
                <a:solidFill>
                  <a:srgbClr val="00B0F0"/>
                </a:solidFill>
              </a:rPr>
              <a:t>150.93</a:t>
            </a:r>
            <a:r>
              <a:rPr lang="ko-KR" altLang="en-US" b="1" dirty="0" smtClean="0">
                <a:solidFill>
                  <a:srgbClr val="00B0F0"/>
                </a:solidFill>
              </a:rPr>
              <a:t>에 대응</a:t>
            </a:r>
            <a:r>
              <a:rPr lang="en-US" altLang="ko-KR" b="1" dirty="0" smtClean="0">
                <a:solidFill>
                  <a:srgbClr val="00B0F0"/>
                </a:solidFill>
              </a:rPr>
              <a:t>!</a:t>
            </a:r>
            <a:endParaRPr lang="ko-KR" altLang="en-US" b="1" dirty="0">
              <a:solidFill>
                <a:srgbClr val="00B0F0"/>
              </a:solidFill>
            </a:endParaRPr>
          </a:p>
        </p:txBody>
      </p:sp>
      <p:sp>
        <p:nvSpPr>
          <p:cNvPr id="18" name="타원 17"/>
          <p:cNvSpPr/>
          <p:nvPr/>
        </p:nvSpPr>
        <p:spPr>
          <a:xfrm>
            <a:off x="4940911" y="2575202"/>
            <a:ext cx="860611" cy="311217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4956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898060" y="6540548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E00F004-BD89-484A-9E0D-939812231C51}"/>
              </a:ext>
            </a:extLst>
          </p:cNvPr>
          <p:cNvSpPr/>
          <p:nvPr/>
        </p:nvSpPr>
        <p:spPr>
          <a:xfrm>
            <a:off x="0" y="6448285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16A8DA-5D55-45BD-85EA-BE2F87A4FCF7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DA6BE5-037F-4552-8536-DD1511D2DB96}"/>
              </a:ext>
            </a:extLst>
          </p:cNvPr>
          <p:cNvSpPr txBox="1"/>
          <p:nvPr/>
        </p:nvSpPr>
        <p:spPr>
          <a:xfrm>
            <a:off x="401050" y="289035"/>
            <a:ext cx="78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NanumGothic" panose="020D0604000000000000"/>
                <a:cs typeface="+mn-cs"/>
              </a:rPr>
              <a:t>대표적 군집화 기법</a:t>
            </a:r>
            <a:r>
              <a:rPr kumimoji="0" lang="en-US" altLang="ko-KR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NanumGothic" panose="020D0604000000000000"/>
                <a:cs typeface="+mn-cs"/>
              </a:rPr>
              <a:t>(Mean Shift Clustering)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NanumGothic" panose="020D0604000000000000"/>
              <a:cs typeface="+mn-cs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AAABA0-83DE-8C46-91C4-A610346B147D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文本框 4">
            <a:extLst>
              <a:ext uri="{FF2B5EF4-FFF2-40B4-BE49-F238E27FC236}">
                <a16:creationId xmlns:a16="http://schemas.microsoft.com/office/drawing/2014/main" id="{914EA958-2EA0-7E43-9809-FACBE5B6E295}"/>
              </a:ext>
            </a:extLst>
          </p:cNvPr>
          <p:cNvSpPr txBox="1"/>
          <p:nvPr/>
        </p:nvSpPr>
        <p:spPr>
          <a:xfrm>
            <a:off x="401050" y="1112126"/>
            <a:ext cx="82193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just" defTabSz="4572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Mean Shift Clustering </a:t>
            </a:r>
            <a:r>
              <a:rPr kumimoji="0" lang="ko-KR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알고리즘</a:t>
            </a: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D24E5A-6EF2-4301-BBDA-C418695D3FF3}"/>
              </a:ext>
            </a:extLst>
          </p:cNvPr>
          <p:cNvSpPr txBox="1"/>
          <p:nvPr/>
        </p:nvSpPr>
        <p:spPr>
          <a:xfrm>
            <a:off x="3560345" y="6538913"/>
            <a:ext cx="30171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2021-1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학기 </a:t>
            </a:r>
            <a:r>
              <a:rPr kumimoji="0" lang="ko-KR" altLang="en-US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비즈니스 데이터 사이언스</a:t>
            </a:r>
            <a:r>
              <a:rPr kumimoji="0" lang="en-US" altLang="ko-KR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ko-KR" altLang="en-US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세미나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19953" y="1741900"/>
            <a:ext cx="8435507" cy="7284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latinLnBrk="1">
              <a:spcAft>
                <a:spcPts val="600"/>
              </a:spcAft>
            </a:pPr>
            <a:r>
              <a:rPr lang="en-US" altLang="ko-KR" dirty="0" smtClean="0"/>
              <a:t>- </a:t>
            </a:r>
            <a:r>
              <a:rPr lang="ko-KR" altLang="en-US" dirty="0" smtClean="0"/>
              <a:t>전체 관측치 </a:t>
            </a:r>
            <a:r>
              <a:rPr lang="en-US" altLang="ko-KR" dirty="0" smtClean="0"/>
              <a:t>10</a:t>
            </a:r>
            <a:r>
              <a:rPr lang="ko-KR" altLang="en-US" dirty="0" smtClean="0"/>
              <a:t>개에 대한 군집화 결과는 아래와 같음</a:t>
            </a:r>
            <a:endParaRPr lang="ko-KR" altLang="en-US" dirty="0"/>
          </a:p>
          <a:p>
            <a:pPr algn="just" latinLnBrk="1">
              <a:spcAft>
                <a:spcPts val="600"/>
              </a:spcAft>
            </a:pPr>
            <a:endParaRPr lang="en-US" altLang="ko-KR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904" y="2488997"/>
            <a:ext cx="3405066" cy="2970377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9496" y="2488996"/>
            <a:ext cx="3660933" cy="2898791"/>
          </a:xfrm>
          <a:prstGeom prst="rect">
            <a:avLst/>
          </a:prstGeom>
        </p:spPr>
      </p:pic>
      <p:sp>
        <p:nvSpPr>
          <p:cNvPr id="6" name="타원 5"/>
          <p:cNvSpPr/>
          <p:nvPr/>
        </p:nvSpPr>
        <p:spPr>
          <a:xfrm>
            <a:off x="5728447" y="2801184"/>
            <a:ext cx="98612" cy="12550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/>
          <p:cNvSpPr/>
          <p:nvPr/>
        </p:nvSpPr>
        <p:spPr>
          <a:xfrm>
            <a:off x="8069172" y="3135751"/>
            <a:ext cx="98612" cy="125506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/>
          <p:cNvSpPr/>
          <p:nvPr/>
        </p:nvSpPr>
        <p:spPr>
          <a:xfrm>
            <a:off x="6597354" y="4202551"/>
            <a:ext cx="98612" cy="12550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직선 화살표 연결선 17"/>
          <p:cNvCxnSpPr/>
          <p:nvPr/>
        </p:nvCxnSpPr>
        <p:spPr>
          <a:xfrm flipV="1">
            <a:off x="5477435" y="2863937"/>
            <a:ext cx="179294" cy="27181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/>
          <p:cNvCxnSpPr/>
          <p:nvPr/>
        </p:nvCxnSpPr>
        <p:spPr>
          <a:xfrm flipH="1" flipV="1">
            <a:off x="5898777" y="2863937"/>
            <a:ext cx="105562" cy="27181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/>
          <p:cNvCxnSpPr/>
          <p:nvPr/>
        </p:nvCxnSpPr>
        <p:spPr>
          <a:xfrm flipV="1">
            <a:off x="7837113" y="3120707"/>
            <a:ext cx="179294" cy="27181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/>
          <p:cNvCxnSpPr/>
          <p:nvPr/>
        </p:nvCxnSpPr>
        <p:spPr>
          <a:xfrm flipH="1" flipV="1">
            <a:off x="8252649" y="3135751"/>
            <a:ext cx="105562" cy="27181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/>
          <p:cNvCxnSpPr/>
          <p:nvPr/>
        </p:nvCxnSpPr>
        <p:spPr>
          <a:xfrm flipH="1" flipV="1">
            <a:off x="6757732" y="4228727"/>
            <a:ext cx="280655" cy="7315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/>
          <p:cNvCxnSpPr/>
          <p:nvPr/>
        </p:nvCxnSpPr>
        <p:spPr>
          <a:xfrm flipV="1">
            <a:off x="6359215" y="4180019"/>
            <a:ext cx="240002" cy="8524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/>
          <p:cNvSpPr/>
          <p:nvPr/>
        </p:nvSpPr>
        <p:spPr>
          <a:xfrm>
            <a:off x="1192306" y="2730812"/>
            <a:ext cx="3065929" cy="108815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/>
          <p:cNvSpPr/>
          <p:nvPr/>
        </p:nvSpPr>
        <p:spPr>
          <a:xfrm>
            <a:off x="1192306" y="3837594"/>
            <a:ext cx="3065929" cy="223187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/>
          <p:cNvSpPr/>
          <p:nvPr/>
        </p:nvSpPr>
        <p:spPr>
          <a:xfrm>
            <a:off x="1179532" y="4122983"/>
            <a:ext cx="3065929" cy="1264803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0611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898060" y="6540548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E00F004-BD89-484A-9E0D-939812231C51}"/>
              </a:ext>
            </a:extLst>
          </p:cNvPr>
          <p:cNvSpPr/>
          <p:nvPr/>
        </p:nvSpPr>
        <p:spPr>
          <a:xfrm>
            <a:off x="0" y="6448285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16A8DA-5D55-45BD-85EA-BE2F87A4FCF7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DA6BE5-037F-4552-8536-DD1511D2DB96}"/>
              </a:ext>
            </a:extLst>
          </p:cNvPr>
          <p:cNvSpPr txBox="1"/>
          <p:nvPr/>
        </p:nvSpPr>
        <p:spPr>
          <a:xfrm>
            <a:off x="401050" y="289035"/>
            <a:ext cx="78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NanumGothic" panose="020D0604000000000000"/>
                <a:cs typeface="+mn-cs"/>
              </a:rPr>
              <a:t>대표적 군집화 기법</a:t>
            </a:r>
            <a:r>
              <a:rPr kumimoji="0" lang="en-US" altLang="ko-KR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NanumGothic" panose="020D0604000000000000"/>
                <a:cs typeface="+mn-cs"/>
              </a:rPr>
              <a:t>(Mean Shift Clustering)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NanumGothic" panose="020D0604000000000000"/>
              <a:cs typeface="+mn-cs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AAABA0-83DE-8C46-91C4-A610346B147D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文本框 4">
            <a:extLst>
              <a:ext uri="{FF2B5EF4-FFF2-40B4-BE49-F238E27FC236}">
                <a16:creationId xmlns:a16="http://schemas.microsoft.com/office/drawing/2014/main" id="{914EA958-2EA0-7E43-9809-FACBE5B6E295}"/>
              </a:ext>
            </a:extLst>
          </p:cNvPr>
          <p:cNvSpPr txBox="1"/>
          <p:nvPr/>
        </p:nvSpPr>
        <p:spPr>
          <a:xfrm>
            <a:off x="401050" y="1112126"/>
            <a:ext cx="82193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just" defTabSz="4572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Mean Shift Clustering </a:t>
            </a:r>
            <a:r>
              <a:rPr kumimoji="0" lang="ko-KR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알고리즘의 장점과 단점</a:t>
            </a: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D24E5A-6EF2-4301-BBDA-C418695D3FF3}"/>
              </a:ext>
            </a:extLst>
          </p:cNvPr>
          <p:cNvSpPr txBox="1"/>
          <p:nvPr/>
        </p:nvSpPr>
        <p:spPr>
          <a:xfrm>
            <a:off x="3560345" y="6538913"/>
            <a:ext cx="30171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2021-1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학기 </a:t>
            </a:r>
            <a:r>
              <a:rPr kumimoji="0" lang="ko-KR" altLang="en-US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비즈니스 데이터 사이언스</a:t>
            </a:r>
            <a:r>
              <a:rPr kumimoji="0" lang="en-US" altLang="ko-KR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ko-KR" altLang="en-US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세미나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519953" y="1741900"/>
                <a:ext cx="8435507" cy="31239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just" latinLnBrk="1">
                  <a:spcAft>
                    <a:spcPts val="600"/>
                  </a:spcAft>
                  <a:buAutoNum type="arabicPeriod"/>
                </a:pPr>
                <a:r>
                  <a:rPr lang="ko-KR" altLang="en-US" b="1" dirty="0" smtClean="0">
                    <a:solidFill>
                      <a:srgbClr val="00B0F0"/>
                    </a:solidFill>
                  </a:rPr>
                  <a:t>장점</a:t>
                </a:r>
                <a:endParaRPr lang="en-US" altLang="ko-KR" b="1" dirty="0" smtClean="0">
                  <a:solidFill>
                    <a:srgbClr val="00B0F0"/>
                  </a:solidFill>
                </a:endParaRPr>
              </a:p>
              <a:p>
                <a:pPr marL="285750" indent="-285750" algn="just" latinLnBrk="1">
                  <a:spcAft>
                    <a:spcPts val="600"/>
                  </a:spcAft>
                  <a:buFontTx/>
                  <a:buChar char="-"/>
                </a:pPr>
                <a:r>
                  <a:rPr lang="ko-KR" altLang="en-US" dirty="0" smtClean="0"/>
                  <a:t>클러스터의 개수를 사전에 지정할 필요가 없음</a:t>
                </a:r>
                <a:endParaRPr lang="en-US" altLang="ko-KR" dirty="0" smtClean="0"/>
              </a:p>
              <a:p>
                <a:pPr marL="285750" indent="-285750" algn="just" latinLnBrk="1">
                  <a:spcAft>
                    <a:spcPts val="600"/>
                  </a:spcAft>
                  <a:buFontTx/>
                  <a:buChar char="-"/>
                </a:pPr>
                <a:r>
                  <a:rPr lang="ko-KR" altLang="en-US" dirty="0" smtClean="0"/>
                  <a:t>밀도 기반 알고리즘으로서</a:t>
                </a:r>
                <a:r>
                  <a:rPr lang="en-US" altLang="ko-KR" dirty="0" smtClean="0"/>
                  <a:t>, </a:t>
                </a:r>
                <a:r>
                  <a:rPr lang="ko-KR" altLang="en-US" dirty="0" smtClean="0"/>
                  <a:t>데이터의 분포에 관계없이 유연하게 군집화 가능</a:t>
                </a:r>
                <a:endParaRPr lang="en-US" altLang="ko-KR" dirty="0" smtClean="0"/>
              </a:p>
              <a:p>
                <a:pPr marL="285750" indent="-285750" algn="just" latinLnBrk="1">
                  <a:spcAft>
                    <a:spcPts val="600"/>
                  </a:spcAft>
                  <a:buFontTx/>
                  <a:buChar char="-"/>
                </a:pPr>
                <a:r>
                  <a:rPr lang="ko-KR" altLang="en-US" dirty="0" smtClean="0"/>
                  <a:t>이상치</a:t>
                </a:r>
                <a:r>
                  <a:rPr lang="en-US" altLang="ko-KR" dirty="0" smtClean="0"/>
                  <a:t>(Outlier)</a:t>
                </a:r>
                <a:r>
                  <a:rPr lang="ko-KR" altLang="en-US" dirty="0" smtClean="0"/>
                  <a:t>의 영향력이 크지 않음</a:t>
                </a:r>
                <a:endParaRPr lang="en-US" altLang="ko-KR" dirty="0"/>
              </a:p>
              <a:p>
                <a:pPr marL="342900" indent="-342900" algn="just" latinLnBrk="1">
                  <a:spcAft>
                    <a:spcPts val="600"/>
                  </a:spcAft>
                  <a:buAutoNum type="arabicPeriod"/>
                </a:pPr>
                <a:endParaRPr lang="en-US" altLang="ko-KR" dirty="0" smtClean="0"/>
              </a:p>
              <a:p>
                <a:pPr marL="342900" indent="-342900" algn="just" latinLnBrk="1">
                  <a:spcAft>
                    <a:spcPts val="600"/>
                  </a:spcAft>
                  <a:buAutoNum type="arabicPeriod" startAt="2"/>
                </a:pPr>
                <a:r>
                  <a:rPr lang="ko-KR" altLang="en-US" b="1" dirty="0" smtClean="0">
                    <a:solidFill>
                      <a:srgbClr val="FF0000"/>
                    </a:solidFill>
                  </a:rPr>
                  <a:t>단점</a:t>
                </a:r>
                <a:endParaRPr lang="en-US" altLang="ko-KR" b="1" dirty="0" smtClean="0">
                  <a:solidFill>
                    <a:srgbClr val="FF0000"/>
                  </a:solidFill>
                </a:endParaRPr>
              </a:p>
              <a:p>
                <a:pPr marL="285750" indent="-285750" algn="just" latinLnBrk="1">
                  <a:spcAft>
                    <a:spcPts val="600"/>
                  </a:spcAft>
                  <a:buFontTx/>
                  <a:buChar char="-"/>
                </a:pPr>
                <a:r>
                  <a:rPr lang="en-US" altLang="ko-KR" dirty="0" smtClean="0"/>
                  <a:t>Bandwidth </a:t>
                </a:r>
                <a:r>
                  <a:rPr lang="ko-KR" altLang="en-US" dirty="0" smtClean="0"/>
                  <a:t>값에 따라 </a:t>
                </a:r>
                <a:r>
                  <a:rPr lang="ko-KR" altLang="en-US" dirty="0" err="1" smtClean="0"/>
                  <a:t>군집화의</a:t>
                </a:r>
                <a:r>
                  <a:rPr lang="ko-KR" altLang="en-US" dirty="0" smtClean="0"/>
                  <a:t> 결과가 다르게 나올 수 있음</a:t>
                </a:r>
                <a:endParaRPr lang="en-US" altLang="ko-KR" dirty="0" smtClean="0"/>
              </a:p>
              <a:p>
                <a:pPr marL="285750" indent="-285750" algn="just" latinLnBrk="1">
                  <a:spcAft>
                    <a:spcPts val="600"/>
                  </a:spcAft>
                  <a:buFontTx/>
                  <a:buChar char="-"/>
                </a:pPr>
                <a:r>
                  <a:rPr lang="ko-KR" altLang="en-US" dirty="0" smtClean="0"/>
                  <a:t>하나의 관측치에 대하여 중심점을 </a:t>
                </a:r>
                <a:r>
                  <a:rPr lang="en-US" altLang="ko-KR" dirty="0" smtClean="0"/>
                  <a:t>update</a:t>
                </a:r>
                <a:r>
                  <a:rPr lang="ko-KR" altLang="en-US" dirty="0" smtClean="0"/>
                  <a:t>할 때</a:t>
                </a:r>
                <a:r>
                  <a:rPr lang="en-US" altLang="ko-KR" dirty="0" smtClean="0"/>
                  <a:t>, </a:t>
                </a:r>
                <a:r>
                  <a:rPr lang="ko-KR" altLang="en-US" dirty="0" smtClean="0"/>
                  <a:t>모든 관측치 값을 참고하므로</a:t>
                </a:r>
                <a:r>
                  <a:rPr lang="en-US" altLang="ko-KR" dirty="0" smtClean="0"/>
                  <a:t>,</a:t>
                </a:r>
                <a:r>
                  <a:rPr lang="ko-KR" altLang="en-US" dirty="0" smtClean="0"/>
                  <a:t> 전체 관측치에 대응하는 중심점을 계산할 때</a:t>
                </a:r>
                <a:r>
                  <a:rPr lang="en-US" altLang="ko-KR" dirty="0"/>
                  <a:t> </a:t>
                </a:r>
                <a:r>
                  <a:rPr lang="ko-KR" altLang="en-US" dirty="0" smtClean="0"/>
                  <a:t>소요되는 시간 복잡도는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𝑘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953" y="1741900"/>
                <a:ext cx="8435507" cy="3123932"/>
              </a:xfrm>
              <a:prstGeom prst="rect">
                <a:avLst/>
              </a:prstGeom>
              <a:blipFill>
                <a:blip r:embed="rId4"/>
                <a:stretch>
                  <a:fillRect l="-578" t="-1563" r="-650" b="-195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9472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10947476-30A4-4D18-B37A-7202071E6FA4}"/>
              </a:ext>
            </a:extLst>
          </p:cNvPr>
          <p:cNvGrpSpPr/>
          <p:nvPr/>
        </p:nvGrpSpPr>
        <p:grpSpPr>
          <a:xfrm>
            <a:off x="2017059" y="2674141"/>
            <a:ext cx="5109883" cy="1509718"/>
            <a:chOff x="2017059" y="2146239"/>
            <a:chExt cx="5109883" cy="1509718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4D611EA8-473B-46FA-8122-85B437180227}"/>
                </a:ext>
              </a:extLst>
            </p:cNvPr>
            <p:cNvSpPr/>
            <p:nvPr/>
          </p:nvSpPr>
          <p:spPr>
            <a:xfrm>
              <a:off x="2017059" y="2146239"/>
              <a:ext cx="5109883" cy="108000"/>
            </a:xfrm>
            <a:prstGeom prst="rect">
              <a:avLst/>
            </a:prstGeom>
            <a:gradFill flip="none" rotWithShape="1">
              <a:gsLst>
                <a:gs pos="0">
                  <a:srgbClr val="26336B"/>
                </a:gs>
                <a:gs pos="61000">
                  <a:srgbClr val="9F1915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A02D2456-35A3-4324-B834-5891D3191FAC}"/>
                </a:ext>
              </a:extLst>
            </p:cNvPr>
            <p:cNvSpPr/>
            <p:nvPr/>
          </p:nvSpPr>
          <p:spPr>
            <a:xfrm>
              <a:off x="2017059" y="3547957"/>
              <a:ext cx="5109883" cy="108000"/>
            </a:xfrm>
            <a:prstGeom prst="rect">
              <a:avLst/>
            </a:prstGeom>
            <a:gradFill flip="none" rotWithShape="1">
              <a:gsLst>
                <a:gs pos="0">
                  <a:srgbClr val="26336B"/>
                </a:gs>
                <a:gs pos="61000">
                  <a:srgbClr val="9F1915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8D550E69-6FA6-4D5E-ADA3-0082768A2CF9}"/>
              </a:ext>
            </a:extLst>
          </p:cNvPr>
          <p:cNvSpPr txBox="1"/>
          <p:nvPr/>
        </p:nvSpPr>
        <p:spPr>
          <a:xfrm>
            <a:off x="2100830" y="3105835"/>
            <a:ext cx="49423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3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NanumGothic" panose="020D0604000000000000" pitchFamily="34" charset="-127"/>
                <a:cs typeface="+mn-cs"/>
              </a:rPr>
              <a:t>K-</a:t>
            </a:r>
            <a:r>
              <a:rPr kumimoji="1" lang="ko-KR" altLang="en-US" sz="36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NanumGothic" panose="020D0604000000000000" pitchFamily="34" charset="-127"/>
                <a:cs typeface="+mn-cs"/>
              </a:rPr>
              <a:t>최근접</a:t>
            </a:r>
            <a:r>
              <a:rPr kumimoji="1" lang="ko-KR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NanumGothic" panose="020D0604000000000000" pitchFamily="34" charset="-127"/>
                <a:cs typeface="+mn-cs"/>
              </a:rPr>
              <a:t> </a:t>
            </a:r>
            <a:r>
              <a:rPr kumimoji="1" lang="ko-KR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NanumGothic" panose="020D0604000000000000" pitchFamily="34" charset="-127"/>
                <a:cs typeface="+mn-cs"/>
              </a:rPr>
              <a:t>이웃 알고리즘</a:t>
            </a:r>
            <a:endParaRPr kumimoji="1" lang="ko-KR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2076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898060" y="6540548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E00F004-BD89-484A-9E0D-939812231C51}"/>
              </a:ext>
            </a:extLst>
          </p:cNvPr>
          <p:cNvSpPr/>
          <p:nvPr/>
        </p:nvSpPr>
        <p:spPr>
          <a:xfrm>
            <a:off x="0" y="6448285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16A8DA-5D55-45BD-85EA-BE2F87A4FCF7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DA6BE5-037F-4552-8536-DD1511D2DB96}"/>
              </a:ext>
            </a:extLst>
          </p:cNvPr>
          <p:cNvSpPr txBox="1"/>
          <p:nvPr/>
        </p:nvSpPr>
        <p:spPr>
          <a:xfrm>
            <a:off x="401050" y="289035"/>
            <a:ext cx="78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defRPr/>
            </a:pPr>
            <a:r>
              <a:rPr lang="en-US" altLang="ko-KR" sz="2000" b="1" dirty="0" smtClean="0">
                <a:solidFill>
                  <a:prstClr val="black"/>
                </a:solidFill>
                <a:ea typeface="NanumGothic" panose="020D0604000000000000"/>
              </a:rPr>
              <a:t>K-</a:t>
            </a:r>
            <a:r>
              <a:rPr lang="ko-KR" altLang="en-US" sz="2000" b="1" dirty="0" err="1" smtClean="0">
                <a:solidFill>
                  <a:prstClr val="black"/>
                </a:solidFill>
                <a:ea typeface="NanumGothic" panose="020D0604000000000000"/>
              </a:rPr>
              <a:t>최근접</a:t>
            </a:r>
            <a:r>
              <a:rPr lang="ko-KR" altLang="en-US" sz="2000" b="1" dirty="0" smtClean="0">
                <a:solidFill>
                  <a:prstClr val="black"/>
                </a:solidFill>
                <a:ea typeface="NanumGothic" panose="020D0604000000000000"/>
              </a:rPr>
              <a:t> </a:t>
            </a:r>
            <a:r>
              <a:rPr lang="ko-KR" altLang="en-US" sz="2000" b="1" dirty="0">
                <a:solidFill>
                  <a:prstClr val="black"/>
                </a:solidFill>
                <a:ea typeface="NanumGothic" panose="020D0604000000000000"/>
              </a:rPr>
              <a:t>이웃 알고리즘</a:t>
            </a:r>
            <a:r>
              <a:rPr lang="en-US" altLang="ko-KR" sz="2000" b="1" dirty="0">
                <a:solidFill>
                  <a:prstClr val="black"/>
                </a:solidFill>
                <a:ea typeface="NanumGothic" panose="020D0604000000000000"/>
              </a:rPr>
              <a:t>(KNN, K-Nears Neighbor)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AAABA0-83DE-8C46-91C4-A610346B147D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文本框 4">
            <a:extLst>
              <a:ext uri="{FF2B5EF4-FFF2-40B4-BE49-F238E27FC236}">
                <a16:creationId xmlns:a16="http://schemas.microsoft.com/office/drawing/2014/main" id="{914EA958-2EA0-7E43-9809-FACBE5B6E295}"/>
              </a:ext>
            </a:extLst>
          </p:cNvPr>
          <p:cNvSpPr txBox="1"/>
          <p:nvPr/>
        </p:nvSpPr>
        <p:spPr>
          <a:xfrm>
            <a:off x="401050" y="1112126"/>
            <a:ext cx="821937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just" defTabSz="4572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b="1" dirty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군집화 결과를 활용하는 방법 </a:t>
            </a:r>
            <a:r>
              <a:rPr lang="en-US" altLang="ko-KR" b="1" dirty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-&gt; </a:t>
            </a:r>
            <a:r>
              <a:rPr lang="ko-KR" altLang="en-US" b="1" dirty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분류 문제 수행</a:t>
            </a:r>
            <a:endParaRPr lang="en-US" altLang="ko-KR" b="1" dirty="0" smtClean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marR="0" lvl="0" indent="-285750" algn="just" defTabSz="4572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  <a:p>
            <a:pPr marR="0" lvl="0" algn="just" defTabSz="4572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D24E5A-6EF2-4301-BBDA-C418695D3FF3}"/>
              </a:ext>
            </a:extLst>
          </p:cNvPr>
          <p:cNvSpPr txBox="1"/>
          <p:nvPr/>
        </p:nvSpPr>
        <p:spPr>
          <a:xfrm>
            <a:off x="3560345" y="6538913"/>
            <a:ext cx="30171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2021-1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학기 </a:t>
            </a:r>
            <a:r>
              <a:rPr kumimoji="0" lang="ko-KR" altLang="en-US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비즈니스 데이터 사이언스</a:t>
            </a:r>
            <a:r>
              <a:rPr kumimoji="0" lang="en-US" altLang="ko-KR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ko-KR" altLang="en-US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세미나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8961" y="1845609"/>
            <a:ext cx="4295775" cy="38481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3982" y="5800165"/>
            <a:ext cx="7646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rgbClr val="00B0F0"/>
                </a:solidFill>
              </a:rPr>
              <a:t>K</a:t>
            </a:r>
            <a:r>
              <a:rPr lang="ko-KR" altLang="en-US" b="1" dirty="0" smtClean="0">
                <a:solidFill>
                  <a:srgbClr val="00B0F0"/>
                </a:solidFill>
              </a:rPr>
              <a:t>개의 주변 이웃</a:t>
            </a:r>
            <a:r>
              <a:rPr lang="ko-KR" altLang="en-US" dirty="0" smtClean="0"/>
              <a:t>의 클래스 정보를 통해</a:t>
            </a:r>
            <a:r>
              <a:rPr lang="en-US" altLang="ko-KR" dirty="0" smtClean="0"/>
              <a:t>, </a:t>
            </a:r>
            <a:r>
              <a:rPr lang="ko-KR" altLang="en-US" dirty="0" smtClean="0"/>
              <a:t>내가 어떤 클래스에 속할 지 예측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75565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898060" y="6540548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E00F004-BD89-484A-9E0D-939812231C51}"/>
              </a:ext>
            </a:extLst>
          </p:cNvPr>
          <p:cNvSpPr/>
          <p:nvPr/>
        </p:nvSpPr>
        <p:spPr>
          <a:xfrm>
            <a:off x="0" y="6448285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16A8DA-5D55-45BD-85EA-BE2F87A4FCF7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DA6BE5-037F-4552-8536-DD1511D2DB96}"/>
              </a:ext>
            </a:extLst>
          </p:cNvPr>
          <p:cNvSpPr txBox="1"/>
          <p:nvPr/>
        </p:nvSpPr>
        <p:spPr>
          <a:xfrm>
            <a:off x="401050" y="289035"/>
            <a:ext cx="78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defRPr/>
            </a:pPr>
            <a:r>
              <a:rPr lang="ko-KR" altLang="en-US" sz="2000" b="1" dirty="0" err="1">
                <a:solidFill>
                  <a:prstClr val="black"/>
                </a:solidFill>
                <a:ea typeface="NanumGothic" panose="020D0604000000000000"/>
              </a:rPr>
              <a:t>최근접</a:t>
            </a:r>
            <a:r>
              <a:rPr lang="ko-KR" altLang="en-US" sz="2000" b="1" dirty="0">
                <a:solidFill>
                  <a:prstClr val="black"/>
                </a:solidFill>
                <a:ea typeface="NanumGothic" panose="020D0604000000000000"/>
              </a:rPr>
              <a:t> 이웃 알고리즘</a:t>
            </a:r>
            <a:r>
              <a:rPr lang="en-US" altLang="ko-KR" sz="2000" b="1" dirty="0">
                <a:solidFill>
                  <a:prstClr val="black"/>
                </a:solidFill>
                <a:ea typeface="NanumGothic" panose="020D0604000000000000"/>
              </a:rPr>
              <a:t>(KNN, K-Nears Neighbor)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AAABA0-83DE-8C46-91C4-A610346B147D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文本框 4">
            <a:extLst>
              <a:ext uri="{FF2B5EF4-FFF2-40B4-BE49-F238E27FC236}">
                <a16:creationId xmlns:a16="http://schemas.microsoft.com/office/drawing/2014/main" id="{914EA958-2EA0-7E43-9809-FACBE5B6E295}"/>
              </a:ext>
            </a:extLst>
          </p:cNvPr>
          <p:cNvSpPr txBox="1"/>
          <p:nvPr/>
        </p:nvSpPr>
        <p:spPr>
          <a:xfrm>
            <a:off x="401050" y="1112126"/>
            <a:ext cx="8366432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just" defTabSz="4572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b="1" noProof="0" dirty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일반적으로</a:t>
            </a:r>
            <a:r>
              <a:rPr lang="en-US" altLang="ko-KR" b="1" noProof="0" dirty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b="1" noProof="0" dirty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나의 주변 이웃은 </a:t>
            </a:r>
            <a:r>
              <a:rPr lang="en-US" altLang="ko-KR" b="1" noProof="0" dirty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Euclidean distance </a:t>
            </a:r>
            <a:r>
              <a:rPr lang="ko-KR" altLang="en-US" b="1" noProof="0" dirty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방식을 통해 결정이 됨</a:t>
            </a:r>
            <a:r>
              <a:rPr lang="en-US" altLang="ko-KR" b="1" noProof="0" dirty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r>
              <a:rPr lang="en-US" altLang="ko-KR" b="1" dirty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b="1" noProof="0" dirty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  <a:p>
            <a:pPr marR="0" lvl="0" algn="just" defTabSz="4572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D24E5A-6EF2-4301-BBDA-C418695D3FF3}"/>
              </a:ext>
            </a:extLst>
          </p:cNvPr>
          <p:cNvSpPr txBox="1"/>
          <p:nvPr/>
        </p:nvSpPr>
        <p:spPr>
          <a:xfrm>
            <a:off x="3560345" y="6538913"/>
            <a:ext cx="30171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2021-1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학기 </a:t>
            </a:r>
            <a:r>
              <a:rPr kumimoji="0" lang="ko-KR" altLang="en-US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비즈니스 데이터 사이언스</a:t>
            </a:r>
            <a:r>
              <a:rPr kumimoji="0" lang="en-US" altLang="ko-KR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ko-KR" altLang="en-US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세미나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35401"/>
            <a:ext cx="9144000" cy="3705516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35578" y="2952771"/>
            <a:ext cx="8982916" cy="457200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4767375" y="1806515"/>
            <a:ext cx="24492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/>
              <a:t>다수결 투표 분류 방식</a:t>
            </a:r>
            <a:endParaRPr lang="en-US" altLang="ko-KR" b="1" dirty="0" smtClean="0"/>
          </a:p>
        </p:txBody>
      </p:sp>
      <p:sp>
        <p:nvSpPr>
          <p:cNvPr id="2" name="TextBox 1"/>
          <p:cNvSpPr txBox="1"/>
          <p:nvPr/>
        </p:nvSpPr>
        <p:spPr>
          <a:xfrm>
            <a:off x="3133024" y="5671435"/>
            <a:ext cx="27880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/>
              <a:t>다수결 투표 분류 결과</a:t>
            </a:r>
            <a:endParaRPr lang="en-US" altLang="ko-KR" b="1" dirty="0" smtClean="0"/>
          </a:p>
          <a:p>
            <a:r>
              <a:rPr lang="ko-KR" altLang="en-US" b="1" dirty="0" smtClean="0"/>
              <a:t>가입 </a:t>
            </a:r>
            <a:r>
              <a:rPr lang="en-US" altLang="ko-KR" b="1" dirty="0" smtClean="0"/>
              <a:t>2</a:t>
            </a:r>
            <a:r>
              <a:rPr lang="ko-KR" altLang="en-US" b="1" dirty="0" smtClean="0"/>
              <a:t>표</a:t>
            </a:r>
            <a:r>
              <a:rPr lang="en-US" altLang="ko-KR" b="1" dirty="0" smtClean="0"/>
              <a:t>, </a:t>
            </a:r>
            <a:r>
              <a:rPr lang="ko-KR" altLang="en-US" b="1" dirty="0" smtClean="0"/>
              <a:t>거절 </a:t>
            </a:r>
            <a:r>
              <a:rPr lang="en-US" altLang="ko-KR" b="1" dirty="0" smtClean="0"/>
              <a:t>3</a:t>
            </a:r>
            <a:r>
              <a:rPr lang="ko-KR" altLang="en-US" b="1" dirty="0" smtClean="0"/>
              <a:t>표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284678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898060" y="6540548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E00F004-BD89-484A-9E0D-939812231C51}"/>
              </a:ext>
            </a:extLst>
          </p:cNvPr>
          <p:cNvSpPr/>
          <p:nvPr/>
        </p:nvSpPr>
        <p:spPr>
          <a:xfrm>
            <a:off x="0" y="6448285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16A8DA-5D55-45BD-85EA-BE2F87A4FCF7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DA6BE5-037F-4552-8536-DD1511D2DB96}"/>
              </a:ext>
            </a:extLst>
          </p:cNvPr>
          <p:cNvSpPr txBox="1"/>
          <p:nvPr/>
        </p:nvSpPr>
        <p:spPr>
          <a:xfrm>
            <a:off x="401050" y="289035"/>
            <a:ext cx="78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defRPr/>
            </a:pPr>
            <a:r>
              <a:rPr lang="ko-KR" altLang="en-US" sz="2000" b="1" dirty="0" err="1">
                <a:solidFill>
                  <a:prstClr val="black"/>
                </a:solidFill>
                <a:ea typeface="NanumGothic" panose="020D0604000000000000"/>
              </a:rPr>
              <a:t>최근접</a:t>
            </a:r>
            <a:r>
              <a:rPr lang="ko-KR" altLang="en-US" sz="2000" b="1" dirty="0">
                <a:solidFill>
                  <a:prstClr val="black"/>
                </a:solidFill>
                <a:ea typeface="NanumGothic" panose="020D0604000000000000"/>
              </a:rPr>
              <a:t> 이웃 알고리즘</a:t>
            </a:r>
            <a:r>
              <a:rPr lang="en-US" altLang="ko-KR" sz="2000" b="1" dirty="0">
                <a:solidFill>
                  <a:prstClr val="black"/>
                </a:solidFill>
                <a:ea typeface="NanumGothic" panose="020D0604000000000000"/>
              </a:rPr>
              <a:t>(KNN, K-Nears Neighbor)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AAABA0-83DE-8C46-91C4-A610346B147D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文本框 4">
            <a:extLst>
              <a:ext uri="{FF2B5EF4-FFF2-40B4-BE49-F238E27FC236}">
                <a16:creationId xmlns:a16="http://schemas.microsoft.com/office/drawing/2014/main" id="{914EA958-2EA0-7E43-9809-FACBE5B6E295}"/>
              </a:ext>
            </a:extLst>
          </p:cNvPr>
          <p:cNvSpPr txBox="1"/>
          <p:nvPr/>
        </p:nvSpPr>
        <p:spPr>
          <a:xfrm>
            <a:off x="401050" y="1437256"/>
            <a:ext cx="8366432" cy="754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4572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ko-KR" altLang="en-US" sz="2000" b="1" dirty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항상</a:t>
            </a:r>
            <a:r>
              <a:rPr lang="ko-KR" altLang="en-US" sz="2000" b="1" noProof="0" dirty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거리만을 고려하여 클래스를 분류하는 과정이 합리적인 것인가</a:t>
            </a:r>
            <a:r>
              <a:rPr lang="en-US" altLang="ko-KR" sz="2000" b="1" noProof="0" dirty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?</a:t>
            </a:r>
            <a:r>
              <a:rPr lang="ko-KR" altLang="en-US" sz="2000" b="1" noProof="0" dirty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 </a:t>
            </a:r>
            <a:r>
              <a:rPr lang="en-US" altLang="ko-KR" sz="2000" b="1" dirty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2000" b="1" noProof="0" dirty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  <a:p>
            <a:pPr marR="0" lvl="0" algn="just" defTabSz="4572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D24E5A-6EF2-4301-BBDA-C418695D3FF3}"/>
              </a:ext>
            </a:extLst>
          </p:cNvPr>
          <p:cNvSpPr txBox="1"/>
          <p:nvPr/>
        </p:nvSpPr>
        <p:spPr>
          <a:xfrm>
            <a:off x="3560345" y="6538913"/>
            <a:ext cx="30171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2021-1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학기 </a:t>
            </a:r>
            <a:r>
              <a:rPr kumimoji="0" lang="ko-KR" altLang="en-US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비즈니스 데이터 사이언스</a:t>
            </a:r>
            <a:r>
              <a:rPr kumimoji="0" lang="en-US" altLang="ko-KR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ko-KR" altLang="en-US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세미나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573" y="2479490"/>
            <a:ext cx="4069439" cy="3042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723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898060" y="6540548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E00F004-BD89-484A-9E0D-939812231C51}"/>
              </a:ext>
            </a:extLst>
          </p:cNvPr>
          <p:cNvSpPr/>
          <p:nvPr/>
        </p:nvSpPr>
        <p:spPr>
          <a:xfrm>
            <a:off x="0" y="6448285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16A8DA-5D55-45BD-85EA-BE2F87A4FCF7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DA6BE5-037F-4552-8536-DD1511D2DB96}"/>
              </a:ext>
            </a:extLst>
          </p:cNvPr>
          <p:cNvSpPr txBox="1"/>
          <p:nvPr/>
        </p:nvSpPr>
        <p:spPr>
          <a:xfrm>
            <a:off x="401050" y="289035"/>
            <a:ext cx="78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NanumGothic" panose="020D0604000000000000"/>
                <a:cs typeface="+mn-cs"/>
              </a:rPr>
              <a:t>최근접</a:t>
            </a:r>
            <a:r>
              <a:rPr kumimoji="0" lang="ko-KR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NanumGothic" panose="020D0604000000000000"/>
                <a:cs typeface="+mn-cs"/>
              </a:rPr>
              <a:t> 이웃 알고리즘</a:t>
            </a:r>
            <a:r>
              <a:rPr kumimoji="0" lang="en-US" altLang="ko-KR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NanumGothic" panose="020D0604000000000000"/>
                <a:cs typeface="+mn-cs"/>
              </a:rPr>
              <a:t>(</a:t>
            </a:r>
            <a:r>
              <a:rPr lang="en-US" altLang="ko-KR" sz="2000" b="1" dirty="0" smtClean="0">
                <a:solidFill>
                  <a:prstClr val="black"/>
                </a:solidFill>
                <a:latin typeface="Calibri" panose="020F0502020204030204"/>
                <a:ea typeface="NanumGothic" panose="020D0604000000000000"/>
              </a:rPr>
              <a:t>KNN, </a:t>
            </a:r>
            <a:r>
              <a:rPr kumimoji="0" lang="en-US" altLang="ko-KR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NanumGothic" panose="020D0604000000000000"/>
                <a:cs typeface="+mn-cs"/>
              </a:rPr>
              <a:t>K-Nears Neighbor)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NanumGothic" panose="020D0604000000000000"/>
              <a:cs typeface="+mn-cs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AAABA0-83DE-8C46-91C4-A610346B147D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D24E5A-6EF2-4301-BBDA-C418695D3FF3}"/>
              </a:ext>
            </a:extLst>
          </p:cNvPr>
          <p:cNvSpPr txBox="1"/>
          <p:nvPr/>
        </p:nvSpPr>
        <p:spPr>
          <a:xfrm>
            <a:off x="3560345" y="6538913"/>
            <a:ext cx="30171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2021-1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학기 </a:t>
            </a:r>
            <a:r>
              <a:rPr kumimoji="0" lang="ko-KR" altLang="en-US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비즈니스 데이터 사이언스</a:t>
            </a:r>
            <a:r>
              <a:rPr kumimoji="0" lang="en-US" altLang="ko-KR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ko-KR" altLang="en-US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세미나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301" y="1058763"/>
            <a:ext cx="6741459" cy="1990532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4246" y="3927469"/>
            <a:ext cx="6623567" cy="1990532"/>
          </a:xfrm>
          <a:prstGeom prst="rect">
            <a:avLst/>
          </a:prstGeom>
        </p:spPr>
      </p:pic>
      <p:sp>
        <p:nvSpPr>
          <p:cNvPr id="7" name="아래쪽 화살표 6"/>
          <p:cNvSpPr/>
          <p:nvPr/>
        </p:nvSpPr>
        <p:spPr>
          <a:xfrm>
            <a:off x="3998259" y="3105981"/>
            <a:ext cx="448235" cy="76292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3080324" y="4285704"/>
            <a:ext cx="509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/>
              <a:t>r1</a:t>
            </a:r>
            <a:endParaRPr lang="ko-KR" altLang="en-US" sz="1400" dirty="0"/>
          </a:p>
        </p:txBody>
      </p:sp>
      <p:sp>
        <p:nvSpPr>
          <p:cNvPr id="16" name="TextBox 15"/>
          <p:cNvSpPr txBox="1"/>
          <p:nvPr/>
        </p:nvSpPr>
        <p:spPr>
          <a:xfrm>
            <a:off x="3072716" y="4591836"/>
            <a:ext cx="509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/>
              <a:t>r2</a:t>
            </a:r>
            <a:endParaRPr lang="ko-KR" altLang="en-US" sz="1400" dirty="0"/>
          </a:p>
        </p:txBody>
      </p:sp>
      <p:sp>
        <p:nvSpPr>
          <p:cNvPr id="17" name="TextBox 16"/>
          <p:cNvSpPr txBox="1"/>
          <p:nvPr/>
        </p:nvSpPr>
        <p:spPr>
          <a:xfrm>
            <a:off x="3080324" y="4908927"/>
            <a:ext cx="509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/>
              <a:t>r3</a:t>
            </a:r>
            <a:endParaRPr lang="ko-KR" altLang="en-US" sz="1400" dirty="0"/>
          </a:p>
        </p:txBody>
      </p:sp>
      <p:sp>
        <p:nvSpPr>
          <p:cNvPr id="18" name="TextBox 17"/>
          <p:cNvSpPr txBox="1"/>
          <p:nvPr/>
        </p:nvSpPr>
        <p:spPr>
          <a:xfrm>
            <a:off x="3080324" y="5222953"/>
            <a:ext cx="509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/>
              <a:t>r4</a:t>
            </a:r>
            <a:endParaRPr lang="ko-KR" altLang="en-US" sz="1400" dirty="0"/>
          </a:p>
        </p:txBody>
      </p:sp>
      <p:sp>
        <p:nvSpPr>
          <p:cNvPr id="21" name="TextBox 20"/>
          <p:cNvSpPr txBox="1"/>
          <p:nvPr/>
        </p:nvSpPr>
        <p:spPr>
          <a:xfrm>
            <a:off x="3080324" y="5530730"/>
            <a:ext cx="509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/>
              <a:t>r5</a:t>
            </a:r>
            <a:endParaRPr lang="ko-KR" alt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492991" y="2907616"/>
                <a:ext cx="890115" cy="1049903"/>
              </a:xfrm>
              <a:prstGeom prst="rect">
                <a:avLst/>
              </a:prstGeom>
              <a:noFill/>
              <a:ln w="28575">
                <a:solidFill>
                  <a:srgbClr val="0070C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altLang="ko-KR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nary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2991" y="2907616"/>
                <a:ext cx="890115" cy="104990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직사각형 10"/>
          <p:cNvSpPr/>
          <p:nvPr/>
        </p:nvSpPr>
        <p:spPr>
          <a:xfrm>
            <a:off x="5316071" y="4287124"/>
            <a:ext cx="681317" cy="30471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화살표 연결선 21"/>
          <p:cNvCxnSpPr>
            <a:stCxn id="10" idx="1"/>
          </p:cNvCxnSpPr>
          <p:nvPr/>
        </p:nvCxnSpPr>
        <p:spPr>
          <a:xfrm flipH="1">
            <a:off x="6038198" y="3432568"/>
            <a:ext cx="1454793" cy="82935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244246" y="3527711"/>
            <a:ext cx="24492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/>
              <a:t>유사도 반영 분류</a:t>
            </a:r>
            <a:endParaRPr lang="en-US" altLang="ko-KR" b="1" dirty="0" smtClean="0"/>
          </a:p>
        </p:txBody>
      </p:sp>
      <p:sp>
        <p:nvSpPr>
          <p:cNvPr id="25" name="TextBox 24"/>
          <p:cNvSpPr txBox="1"/>
          <p:nvPr/>
        </p:nvSpPr>
        <p:spPr>
          <a:xfrm>
            <a:off x="7492991" y="4340792"/>
            <a:ext cx="1362636" cy="1077218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600" b="1" dirty="0" smtClean="0"/>
              <a:t>기여도의 합</a:t>
            </a:r>
            <a:endParaRPr lang="en-US" altLang="ko-KR" sz="1600" b="1" dirty="0" smtClean="0"/>
          </a:p>
          <a:p>
            <a:endParaRPr lang="en-US" altLang="ko-KR" sz="1600" b="1" dirty="0"/>
          </a:p>
          <a:p>
            <a:r>
              <a:rPr lang="ko-KR" altLang="en-US" sz="1600" b="1" dirty="0" smtClean="0"/>
              <a:t>가입 </a:t>
            </a:r>
            <a:r>
              <a:rPr lang="en-US" altLang="ko-KR" sz="1600" b="1" dirty="0" smtClean="0"/>
              <a:t>: 0.65</a:t>
            </a:r>
          </a:p>
          <a:p>
            <a:r>
              <a:rPr lang="ko-KR" altLang="en-US" sz="1600" b="1" dirty="0" smtClean="0"/>
              <a:t>거절</a:t>
            </a:r>
            <a:r>
              <a:rPr lang="en-US" altLang="ko-KR" sz="1600" b="1" dirty="0"/>
              <a:t> </a:t>
            </a:r>
            <a:r>
              <a:rPr lang="en-US" altLang="ko-KR" sz="1600" b="1" dirty="0" smtClean="0"/>
              <a:t>: 0.35</a:t>
            </a:r>
            <a:endParaRPr lang="ko-KR" altLang="en-US" sz="1600" b="1" dirty="0"/>
          </a:p>
        </p:txBody>
      </p:sp>
      <p:sp>
        <p:nvSpPr>
          <p:cNvPr id="26" name="직사각형 25"/>
          <p:cNvSpPr/>
          <p:nvPr/>
        </p:nvSpPr>
        <p:spPr>
          <a:xfrm>
            <a:off x="2468852" y="4285704"/>
            <a:ext cx="1000489" cy="30613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8" name="직선 화살표 연결선 27"/>
          <p:cNvCxnSpPr/>
          <p:nvPr/>
        </p:nvCxnSpPr>
        <p:spPr>
          <a:xfrm>
            <a:off x="3589954" y="4438770"/>
            <a:ext cx="147897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7" name="직사각형 26"/>
          <p:cNvSpPr/>
          <p:nvPr/>
        </p:nvSpPr>
        <p:spPr>
          <a:xfrm>
            <a:off x="1289069" y="1567319"/>
            <a:ext cx="3157425" cy="33381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1088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898060" y="6540548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E00F004-BD89-484A-9E0D-939812231C51}"/>
              </a:ext>
            </a:extLst>
          </p:cNvPr>
          <p:cNvSpPr/>
          <p:nvPr/>
        </p:nvSpPr>
        <p:spPr>
          <a:xfrm>
            <a:off x="0" y="6448285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16A8DA-5D55-45BD-85EA-BE2F87A4FCF7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DA6BE5-037F-4552-8536-DD1511D2DB96}"/>
              </a:ext>
            </a:extLst>
          </p:cNvPr>
          <p:cNvSpPr txBox="1"/>
          <p:nvPr/>
        </p:nvSpPr>
        <p:spPr>
          <a:xfrm>
            <a:off x="401050" y="289035"/>
            <a:ext cx="78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defRPr/>
            </a:pPr>
            <a:r>
              <a:rPr lang="ko-KR" altLang="en-US" sz="2000" b="1" dirty="0" err="1">
                <a:solidFill>
                  <a:prstClr val="black"/>
                </a:solidFill>
                <a:ea typeface="NanumGothic" panose="020D0604000000000000"/>
              </a:rPr>
              <a:t>최근접</a:t>
            </a:r>
            <a:r>
              <a:rPr lang="ko-KR" altLang="en-US" sz="2000" b="1" dirty="0">
                <a:solidFill>
                  <a:prstClr val="black"/>
                </a:solidFill>
                <a:ea typeface="NanumGothic" panose="020D0604000000000000"/>
              </a:rPr>
              <a:t> 이웃 알고리즘</a:t>
            </a:r>
            <a:r>
              <a:rPr lang="en-US" altLang="ko-KR" sz="2000" b="1" dirty="0">
                <a:solidFill>
                  <a:prstClr val="black"/>
                </a:solidFill>
                <a:ea typeface="NanumGothic" panose="020D0604000000000000"/>
              </a:rPr>
              <a:t>(KNN, K-Nears Neighbor)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AAABA0-83DE-8C46-91C4-A610346B147D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文本框 4">
            <a:extLst>
              <a:ext uri="{FF2B5EF4-FFF2-40B4-BE49-F238E27FC236}">
                <a16:creationId xmlns:a16="http://schemas.microsoft.com/office/drawing/2014/main" id="{914EA958-2EA0-7E43-9809-FACBE5B6E295}"/>
              </a:ext>
            </a:extLst>
          </p:cNvPr>
          <p:cNvSpPr txBox="1"/>
          <p:nvPr/>
        </p:nvSpPr>
        <p:spPr>
          <a:xfrm>
            <a:off x="401050" y="1112126"/>
            <a:ext cx="8219379" cy="4970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just" defTabSz="4572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b="1" dirty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KNN </a:t>
            </a:r>
            <a:r>
              <a:rPr lang="ko-KR" altLang="en-US" b="1" dirty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알고리즘의 장점 및 단점</a:t>
            </a:r>
            <a:endParaRPr lang="en-US" altLang="ko-KR" b="1" dirty="0" smtClean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marR="0" lvl="0" indent="-285750" algn="just" defTabSz="4572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altLang="ko-KR" b="1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R="0" lvl="0" algn="just" defTabSz="4572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ko-KR" b="1" dirty="0" smtClean="0">
                <a:solidFill>
                  <a:srgbClr val="00B0F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1. </a:t>
            </a:r>
            <a:r>
              <a:rPr lang="ko-KR" altLang="en-US" b="1" dirty="0" smtClean="0">
                <a:solidFill>
                  <a:srgbClr val="00B0F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장점</a:t>
            </a:r>
            <a:endParaRPr lang="en-US" altLang="ko-KR" b="1" dirty="0" smtClean="0">
              <a:solidFill>
                <a:srgbClr val="00B0F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marR="0" lvl="0" indent="-285750" algn="just" defTabSz="4572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Char char="-"/>
              <a:tabLst/>
              <a:defRPr/>
            </a:pP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알고리즘이 비교적 단순하며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구현하기 쉬운 편임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.</a:t>
            </a:r>
          </a:p>
          <a:p>
            <a:pPr marL="285750" marR="0" lvl="0" indent="-285750" algn="just" defTabSz="4572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Char char="-"/>
              <a:tabLst/>
              <a:defRPr/>
            </a:pP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각 데이터 간</a:t>
            </a:r>
            <a:r>
              <a:rPr lang="en-US" altLang="ko-KR" dirty="0">
                <a:solidFill>
                  <a:prstClr val="black"/>
                </a:solidFill>
                <a:latin typeface="+mn-ea"/>
              </a:rPr>
              <a:t> 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거리를 계산하는 단계만 수행하므로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학습이 빠른 편임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.</a:t>
            </a:r>
          </a:p>
          <a:p>
            <a:pPr marR="0" lvl="0" algn="just" defTabSz="4572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endParaRPr lang="en-US" altLang="ko-KR" b="1" dirty="0" smtClean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R="0" lvl="0" algn="just" defTabSz="4572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endParaRPr lang="en-US" altLang="ko-KR" b="1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R="0" lvl="0" algn="just" defTabSz="4572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ko-KR" b="1" dirty="0" smtClean="0">
                <a:solidFill>
                  <a:srgbClr val="FF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2. </a:t>
            </a:r>
            <a:r>
              <a:rPr lang="ko-KR" altLang="en-US" b="1" dirty="0" smtClean="0">
                <a:solidFill>
                  <a:srgbClr val="FF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단점</a:t>
            </a:r>
            <a:endParaRPr lang="en-US" altLang="ko-KR" b="1" dirty="0" smtClean="0">
              <a:solidFill>
                <a:srgbClr val="FF0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marR="0" lvl="0" indent="-285750" algn="just" defTabSz="4572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Char char="-"/>
              <a:tabLst/>
              <a:defRPr/>
            </a:pP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K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의 값을 직접 지정해야 </a:t>
            </a:r>
            <a:r>
              <a:rPr lang="ko-KR" altLang="en-US" dirty="0">
                <a:solidFill>
                  <a:prstClr val="black"/>
                </a:solidFill>
                <a:latin typeface="+mn-ea"/>
              </a:rPr>
              <a:t>함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. (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일반적으로</a:t>
            </a:r>
            <a:r>
              <a:rPr lang="en-US" altLang="ko-KR" dirty="0">
                <a:solidFill>
                  <a:prstClr val="black"/>
                </a:solidFill>
                <a:latin typeface="+mn-ea"/>
              </a:rPr>
              <a:t> 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K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에 홀수를 할당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)</a:t>
            </a:r>
          </a:p>
          <a:p>
            <a:pPr marL="285750" marR="0" lvl="0" indent="-285750" algn="just" defTabSz="4572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Char char="-"/>
              <a:tabLst/>
              <a:defRPr/>
            </a:pP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예측 및 분류 단계에서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모든 점과의 거리 계산 과정에 따른 복잡도 소요</a:t>
            </a:r>
            <a:endParaRPr lang="en-US" altLang="ko-KR" dirty="0" smtClean="0">
              <a:solidFill>
                <a:prstClr val="black"/>
              </a:solidFill>
              <a:latin typeface="+mn-ea"/>
            </a:endParaRPr>
          </a:p>
          <a:p>
            <a:pPr marL="285750" lvl="0" indent="-285750" algn="just" latinLnBrk="1">
              <a:spcAft>
                <a:spcPts val="600"/>
              </a:spcAft>
              <a:buFontTx/>
              <a:buChar char="-"/>
              <a:defRPr/>
            </a:pP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모델의 </a:t>
            </a:r>
            <a:r>
              <a:rPr lang="ko-KR" altLang="en-US" dirty="0">
                <a:solidFill>
                  <a:prstClr val="black"/>
                </a:solidFill>
                <a:latin typeface="+mn-ea"/>
              </a:rPr>
              <a:t>설명력이 부족한 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편임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. </a:t>
            </a:r>
          </a:p>
          <a:p>
            <a:pPr marL="285750" marR="0" lvl="0" indent="-285750" algn="just" defTabSz="4572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Char char="-"/>
              <a:tabLst/>
              <a:defRPr/>
            </a:pP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Voting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 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algorithm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을 직접 설정해야 </a:t>
            </a:r>
            <a:r>
              <a:rPr lang="ko-KR" altLang="en-US" dirty="0">
                <a:solidFill>
                  <a:prstClr val="black"/>
                </a:solidFill>
                <a:latin typeface="+mn-ea"/>
              </a:rPr>
              <a:t>함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.</a:t>
            </a:r>
          </a:p>
          <a:p>
            <a:pPr marL="285750" marR="0" lvl="0" indent="-285750" algn="just" defTabSz="4572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  <a:p>
            <a:pPr marR="0" lvl="0" algn="just" defTabSz="4572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D24E5A-6EF2-4301-BBDA-C418695D3FF3}"/>
              </a:ext>
            </a:extLst>
          </p:cNvPr>
          <p:cNvSpPr txBox="1"/>
          <p:nvPr/>
        </p:nvSpPr>
        <p:spPr>
          <a:xfrm>
            <a:off x="3560345" y="6538913"/>
            <a:ext cx="30171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2021-1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학기 </a:t>
            </a:r>
            <a:r>
              <a:rPr kumimoji="0" lang="ko-KR" altLang="en-US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비즈니스 데이터 사이언스</a:t>
            </a:r>
            <a:r>
              <a:rPr kumimoji="0" lang="en-US" altLang="ko-KR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ko-KR" altLang="en-US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세미나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9120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898060" y="6540548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E00F004-BD89-484A-9E0D-939812231C51}"/>
              </a:ext>
            </a:extLst>
          </p:cNvPr>
          <p:cNvSpPr/>
          <p:nvPr/>
        </p:nvSpPr>
        <p:spPr>
          <a:xfrm>
            <a:off x="0" y="6448285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16A8DA-5D55-45BD-85EA-BE2F87A4FCF7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DA6BE5-037F-4552-8536-DD1511D2DB96}"/>
              </a:ext>
            </a:extLst>
          </p:cNvPr>
          <p:cNvSpPr txBox="1"/>
          <p:nvPr/>
        </p:nvSpPr>
        <p:spPr>
          <a:xfrm>
            <a:off x="401050" y="289035"/>
            <a:ext cx="78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defRPr/>
            </a:pPr>
            <a:r>
              <a:rPr lang="ko-KR" altLang="en-US" sz="2000" b="1" dirty="0" err="1">
                <a:solidFill>
                  <a:prstClr val="black"/>
                </a:solidFill>
                <a:ea typeface="NanumGothic" panose="020D0604000000000000"/>
              </a:rPr>
              <a:t>최근접</a:t>
            </a:r>
            <a:r>
              <a:rPr lang="ko-KR" altLang="en-US" sz="2000" b="1" dirty="0">
                <a:solidFill>
                  <a:prstClr val="black"/>
                </a:solidFill>
                <a:ea typeface="NanumGothic" panose="020D0604000000000000"/>
              </a:rPr>
              <a:t> 이웃 알고리즘</a:t>
            </a:r>
            <a:r>
              <a:rPr lang="en-US" altLang="ko-KR" sz="2000" b="1" dirty="0">
                <a:solidFill>
                  <a:prstClr val="black"/>
                </a:solidFill>
                <a:ea typeface="NanumGothic" panose="020D0604000000000000"/>
              </a:rPr>
              <a:t>(KNN, K-Nears Neighbor)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AAABA0-83DE-8C46-91C4-A610346B147D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D24E5A-6EF2-4301-BBDA-C418695D3FF3}"/>
              </a:ext>
            </a:extLst>
          </p:cNvPr>
          <p:cNvSpPr txBox="1"/>
          <p:nvPr/>
        </p:nvSpPr>
        <p:spPr>
          <a:xfrm>
            <a:off x="3560345" y="6538913"/>
            <a:ext cx="30171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2021-1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학기 </a:t>
            </a:r>
            <a:r>
              <a:rPr kumimoji="0" lang="ko-KR" altLang="en-US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비즈니스 데이터 사이언스</a:t>
            </a:r>
            <a:r>
              <a:rPr kumimoji="0" lang="en-US" altLang="ko-KR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ko-KR" altLang="en-US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세미나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050" y="1541929"/>
            <a:ext cx="4000621" cy="3525871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6368" y="1541929"/>
            <a:ext cx="3993867" cy="3498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035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10947476-30A4-4D18-B37A-7202071E6FA4}"/>
              </a:ext>
            </a:extLst>
          </p:cNvPr>
          <p:cNvGrpSpPr/>
          <p:nvPr/>
        </p:nvGrpSpPr>
        <p:grpSpPr>
          <a:xfrm>
            <a:off x="2017059" y="2674141"/>
            <a:ext cx="5109883" cy="1509718"/>
            <a:chOff x="2017059" y="2146239"/>
            <a:chExt cx="5109883" cy="1509718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4D611EA8-473B-46FA-8122-85B437180227}"/>
                </a:ext>
              </a:extLst>
            </p:cNvPr>
            <p:cNvSpPr/>
            <p:nvPr/>
          </p:nvSpPr>
          <p:spPr>
            <a:xfrm>
              <a:off x="2017059" y="2146239"/>
              <a:ext cx="5109883" cy="108000"/>
            </a:xfrm>
            <a:prstGeom prst="rect">
              <a:avLst/>
            </a:prstGeom>
            <a:gradFill flip="none" rotWithShape="1">
              <a:gsLst>
                <a:gs pos="0">
                  <a:srgbClr val="26336B"/>
                </a:gs>
                <a:gs pos="61000">
                  <a:srgbClr val="9F1915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A02D2456-35A3-4324-B834-5891D3191FAC}"/>
                </a:ext>
              </a:extLst>
            </p:cNvPr>
            <p:cNvSpPr/>
            <p:nvPr/>
          </p:nvSpPr>
          <p:spPr>
            <a:xfrm>
              <a:off x="2017059" y="3547957"/>
              <a:ext cx="5109883" cy="108000"/>
            </a:xfrm>
            <a:prstGeom prst="rect">
              <a:avLst/>
            </a:prstGeom>
            <a:gradFill flip="none" rotWithShape="1">
              <a:gsLst>
                <a:gs pos="0">
                  <a:srgbClr val="26336B"/>
                </a:gs>
                <a:gs pos="61000">
                  <a:srgbClr val="9F1915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8D550E69-6FA6-4D5E-ADA3-0082768A2CF9}"/>
              </a:ext>
            </a:extLst>
          </p:cNvPr>
          <p:cNvSpPr txBox="1"/>
          <p:nvPr/>
        </p:nvSpPr>
        <p:spPr>
          <a:xfrm>
            <a:off x="2759660" y="3105835"/>
            <a:ext cx="36247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NanumGothic" panose="020D0604000000000000" pitchFamily="34" charset="-127"/>
                <a:cs typeface="+mn-cs"/>
              </a:rPr>
              <a:t>군집화 성능 </a:t>
            </a:r>
            <a:r>
              <a:rPr kumimoji="1" lang="ko-KR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NanumGothic" panose="020D0604000000000000" pitchFamily="34" charset="-127"/>
                <a:cs typeface="+mn-cs"/>
              </a:rPr>
              <a:t>측정</a:t>
            </a:r>
            <a:endParaRPr kumimoji="1" lang="en-US" altLang="ko-KR" sz="3600" b="1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1943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898060" y="6540548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E00F004-BD89-484A-9E0D-939812231C51}"/>
              </a:ext>
            </a:extLst>
          </p:cNvPr>
          <p:cNvSpPr/>
          <p:nvPr/>
        </p:nvSpPr>
        <p:spPr>
          <a:xfrm>
            <a:off x="0" y="6448285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16A8DA-5D55-45BD-85EA-BE2F87A4FCF7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DA6BE5-037F-4552-8536-DD1511D2DB96}"/>
              </a:ext>
            </a:extLst>
          </p:cNvPr>
          <p:cNvSpPr txBox="1"/>
          <p:nvPr/>
        </p:nvSpPr>
        <p:spPr>
          <a:xfrm>
            <a:off x="401050" y="289035"/>
            <a:ext cx="78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kumimoji="0" lang="ko-KR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나눔스퀘어_ac ExtraBold" panose="020B0600000101010101" pitchFamily="50" charset="-127"/>
                <a:cs typeface="+mn-cs"/>
              </a:rPr>
              <a:t>군집화</a:t>
            </a:r>
            <a:r>
              <a:rPr kumimoji="0" lang="ko-KR" altLang="en-US" sz="2000" b="1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나눔스퀘어_ac ExtraBold" panose="020B0600000101010101" pitchFamily="50" charset="-127"/>
                <a:cs typeface="+mn-cs"/>
              </a:rPr>
              <a:t> 성능 </a:t>
            </a:r>
            <a:r>
              <a:rPr lang="ko-KR" altLang="en-US" sz="2000" b="1" dirty="0" smtClean="0">
                <a:solidFill>
                  <a:prstClr val="black"/>
                </a:solidFill>
                <a:latin typeface="Calibri" panose="020F0502020204030204"/>
                <a:ea typeface="나눔스퀘어_ac ExtraBold" panose="020B0600000101010101" pitchFamily="50" charset="-127"/>
              </a:rPr>
              <a:t>측정</a:t>
            </a:r>
            <a:r>
              <a:rPr lang="en-US" altLang="ko-KR" sz="2000" b="1" dirty="0" smtClean="0">
                <a:solidFill>
                  <a:prstClr val="black"/>
                </a:solidFill>
                <a:ea typeface="나눔스퀘어_ac ExtraBold" panose="020B0600000101010101" pitchFamily="50" charset="-127"/>
              </a:rPr>
              <a:t>(</a:t>
            </a:r>
            <a:r>
              <a:rPr lang="en-US" altLang="ko-KR" sz="2000" b="1" dirty="0">
                <a:solidFill>
                  <a:prstClr val="black"/>
                </a:solidFill>
                <a:ea typeface="나눔스퀘어_ac ExtraBold" panose="020B0600000101010101" pitchFamily="50" charset="-127"/>
              </a:rPr>
              <a:t>S</a:t>
            </a:r>
            <a:r>
              <a:rPr lang="en-US" altLang="ko-KR" sz="2000" b="1" dirty="0" smtClean="0">
                <a:solidFill>
                  <a:prstClr val="black"/>
                </a:solidFill>
                <a:ea typeface="나눔스퀘어_ac ExtraBold" panose="020B0600000101010101" pitchFamily="50" charset="-127"/>
              </a:rPr>
              <a:t>ilhouette Analysis)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나눔스퀘어_ac ExtraBold" panose="020B0600000101010101" pitchFamily="50" charset="-127"/>
              <a:cs typeface="+mn-cs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AAABA0-83DE-8C46-91C4-A610346B147D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D24E5A-6EF2-4301-BBDA-C418695D3FF3}"/>
              </a:ext>
            </a:extLst>
          </p:cNvPr>
          <p:cNvSpPr txBox="1"/>
          <p:nvPr/>
        </p:nvSpPr>
        <p:spPr>
          <a:xfrm>
            <a:off x="3560345" y="6538913"/>
            <a:ext cx="30171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2021-1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학기 </a:t>
            </a:r>
            <a:r>
              <a:rPr kumimoji="0" lang="ko-KR" altLang="en-US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비즈니스 데이터 사이언스</a:t>
            </a:r>
            <a:r>
              <a:rPr kumimoji="0" lang="en-US" altLang="ko-KR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ko-KR" altLang="en-US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세미나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79612" y="984643"/>
            <a:ext cx="8184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01050" y="1089538"/>
            <a:ext cx="833953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mtClean="0"/>
              <a:t>실루엣 분석</a:t>
            </a:r>
            <a:endParaRPr lang="en-US" altLang="ko-KR" dirty="0" smtClean="0"/>
          </a:p>
          <a:p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 smtClean="0"/>
              <a:t>각 군집</a:t>
            </a:r>
            <a:r>
              <a:rPr lang="en-US" altLang="ko-KR" dirty="0" smtClean="0"/>
              <a:t>(cluster) </a:t>
            </a:r>
            <a:r>
              <a:rPr lang="ko-KR" altLang="en-US" dirty="0" smtClean="0"/>
              <a:t>간에 얼마나 </a:t>
            </a:r>
            <a:r>
              <a:rPr lang="ko-KR" altLang="en-US" b="1" dirty="0" smtClean="0"/>
              <a:t>효율적으로 분리</a:t>
            </a:r>
            <a:r>
              <a:rPr lang="ko-KR" altLang="en-US" dirty="0" smtClean="0"/>
              <a:t>되었는지 분석하는 방법</a:t>
            </a:r>
            <a:endParaRPr lang="en-US" altLang="ko-KR" dirty="0" smtClean="0"/>
          </a:p>
          <a:p>
            <a:pPr marL="285750" indent="-285750">
              <a:buFontTx/>
              <a:buChar char="-"/>
            </a:pPr>
            <a:endParaRPr lang="en-US" altLang="ko-KR" dirty="0" smtClean="0"/>
          </a:p>
          <a:p>
            <a:pPr marL="285750" indent="-285750">
              <a:buFontTx/>
              <a:buChar char="-"/>
            </a:pPr>
            <a:r>
              <a:rPr lang="ko-KR" altLang="en-US" dirty="0" smtClean="0"/>
              <a:t>분석 시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각각의 데이터가 고유하게 가지고 있는 군집화 지표인 </a:t>
            </a:r>
            <a:r>
              <a:rPr lang="ko-KR" altLang="en-US" b="1" dirty="0" smtClean="0"/>
              <a:t>실루엣 계수</a:t>
            </a:r>
            <a:r>
              <a:rPr lang="ko-KR" altLang="en-US" dirty="0" smtClean="0"/>
              <a:t>를 이용</a:t>
            </a:r>
            <a:r>
              <a:rPr lang="en-US" altLang="ko-KR" dirty="0" smtClean="0"/>
              <a:t>(Silhouette Coefficient)</a:t>
            </a:r>
          </a:p>
          <a:p>
            <a:pPr marL="285750" indent="-285750">
              <a:buFontTx/>
              <a:buChar char="-"/>
            </a:pPr>
            <a:endParaRPr lang="en-US" altLang="ko-KR" dirty="0" smtClean="0"/>
          </a:p>
          <a:p>
            <a:pPr marL="285750" indent="-285750">
              <a:buFontTx/>
              <a:buChar char="-"/>
            </a:pPr>
            <a:r>
              <a:rPr lang="ko-KR" altLang="en-US" dirty="0" smtClean="0"/>
              <a:t>실루엣 계수는 각 데이터가</a:t>
            </a:r>
            <a:r>
              <a:rPr lang="en-US" altLang="ko-KR" dirty="0" smtClean="0"/>
              <a:t>, </a:t>
            </a:r>
            <a:r>
              <a:rPr lang="ko-KR" altLang="en-US" dirty="0" smtClean="0"/>
              <a:t>자신이 속한 군집의 데이터들로부터</a:t>
            </a:r>
            <a:r>
              <a:rPr lang="en-US" altLang="ko-KR" dirty="0" smtClean="0"/>
              <a:t>, </a:t>
            </a:r>
            <a:r>
              <a:rPr lang="ko-KR" altLang="en-US" dirty="0" smtClean="0"/>
              <a:t>얼마나 가까이 있는지</a:t>
            </a:r>
            <a:r>
              <a:rPr lang="en-US" altLang="ko-KR" dirty="0" smtClean="0"/>
              <a:t>, </a:t>
            </a:r>
            <a:r>
              <a:rPr lang="ko-KR" altLang="en-US" dirty="0" smtClean="0"/>
              <a:t>그리고 타 군집에 속한 데이터로부터</a:t>
            </a:r>
            <a:r>
              <a:rPr lang="en-US" altLang="ko-KR" dirty="0" smtClean="0"/>
              <a:t>, </a:t>
            </a:r>
            <a:r>
              <a:rPr lang="ko-KR" altLang="en-US" dirty="0" smtClean="0"/>
              <a:t>얼마나 멀리 떨어졌는지 정보를 수치화한 것</a:t>
            </a:r>
            <a:endParaRPr lang="en-US" altLang="ko-KR" dirty="0"/>
          </a:p>
        </p:txBody>
      </p:sp>
      <p:sp>
        <p:nvSpPr>
          <p:cNvPr id="6" name="타원 5"/>
          <p:cNvSpPr/>
          <p:nvPr/>
        </p:nvSpPr>
        <p:spPr>
          <a:xfrm>
            <a:off x="2043953" y="4363465"/>
            <a:ext cx="197223" cy="170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/>
          <p:cNvSpPr/>
          <p:nvPr/>
        </p:nvSpPr>
        <p:spPr>
          <a:xfrm>
            <a:off x="2196353" y="4515865"/>
            <a:ext cx="197223" cy="170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/>
          <p:cNvSpPr/>
          <p:nvPr/>
        </p:nvSpPr>
        <p:spPr>
          <a:xfrm>
            <a:off x="2653553" y="4422054"/>
            <a:ext cx="197223" cy="170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/>
          <p:cNvSpPr/>
          <p:nvPr/>
        </p:nvSpPr>
        <p:spPr>
          <a:xfrm>
            <a:off x="2424951" y="4668109"/>
            <a:ext cx="197223" cy="170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/>
          <p:cNvSpPr/>
          <p:nvPr/>
        </p:nvSpPr>
        <p:spPr>
          <a:xfrm>
            <a:off x="2196353" y="4996488"/>
            <a:ext cx="197223" cy="170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/>
          <p:cNvSpPr/>
          <p:nvPr/>
        </p:nvSpPr>
        <p:spPr>
          <a:xfrm>
            <a:off x="2523562" y="5322042"/>
            <a:ext cx="197223" cy="170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/>
          <p:cNvSpPr/>
          <p:nvPr/>
        </p:nvSpPr>
        <p:spPr>
          <a:xfrm>
            <a:off x="2577350" y="5070175"/>
            <a:ext cx="197223" cy="170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/>
          <p:cNvSpPr/>
          <p:nvPr/>
        </p:nvSpPr>
        <p:spPr>
          <a:xfrm>
            <a:off x="2752164" y="4723703"/>
            <a:ext cx="197223" cy="170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/>
          <p:cNvSpPr/>
          <p:nvPr/>
        </p:nvSpPr>
        <p:spPr>
          <a:xfrm>
            <a:off x="2335303" y="5259024"/>
            <a:ext cx="197223" cy="170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/>
          <p:cNvSpPr/>
          <p:nvPr/>
        </p:nvSpPr>
        <p:spPr>
          <a:xfrm>
            <a:off x="2550455" y="4210248"/>
            <a:ext cx="197223" cy="170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/>
          <p:cNvSpPr/>
          <p:nvPr/>
        </p:nvSpPr>
        <p:spPr>
          <a:xfrm>
            <a:off x="2326341" y="4430700"/>
            <a:ext cx="197223" cy="170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/>
          <p:cNvSpPr/>
          <p:nvPr/>
        </p:nvSpPr>
        <p:spPr>
          <a:xfrm>
            <a:off x="2505631" y="4822715"/>
            <a:ext cx="197223" cy="170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/>
          <p:cNvSpPr/>
          <p:nvPr/>
        </p:nvSpPr>
        <p:spPr>
          <a:xfrm>
            <a:off x="2859734" y="4277287"/>
            <a:ext cx="197223" cy="170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/>
          <p:cNvSpPr/>
          <p:nvPr/>
        </p:nvSpPr>
        <p:spPr>
          <a:xfrm>
            <a:off x="3034548" y="4579586"/>
            <a:ext cx="197223" cy="170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이등변 삼각형 6"/>
          <p:cNvSpPr/>
          <p:nvPr/>
        </p:nvSpPr>
        <p:spPr>
          <a:xfrm>
            <a:off x="4787153" y="4256955"/>
            <a:ext cx="277907" cy="249269"/>
          </a:xfrm>
          <a:prstGeom prst="triangl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이등변 삼각형 29"/>
          <p:cNvSpPr/>
          <p:nvPr/>
        </p:nvSpPr>
        <p:spPr>
          <a:xfrm>
            <a:off x="4939553" y="4409355"/>
            <a:ext cx="277907" cy="249269"/>
          </a:xfrm>
          <a:prstGeom prst="triangl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이등변 삼각형 30"/>
          <p:cNvSpPr/>
          <p:nvPr/>
        </p:nvSpPr>
        <p:spPr>
          <a:xfrm>
            <a:off x="5282453" y="4491005"/>
            <a:ext cx="277907" cy="249269"/>
          </a:xfrm>
          <a:prstGeom prst="triangl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이등변 삼각형 31"/>
          <p:cNvSpPr/>
          <p:nvPr/>
        </p:nvSpPr>
        <p:spPr>
          <a:xfrm>
            <a:off x="5871883" y="4255942"/>
            <a:ext cx="277907" cy="249269"/>
          </a:xfrm>
          <a:prstGeom prst="triangl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이등변 삼각형 32"/>
          <p:cNvSpPr/>
          <p:nvPr/>
        </p:nvSpPr>
        <p:spPr>
          <a:xfrm>
            <a:off x="5114364" y="4786179"/>
            <a:ext cx="277907" cy="249269"/>
          </a:xfrm>
          <a:prstGeom prst="triangl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이등변 삼각형 33"/>
          <p:cNvSpPr/>
          <p:nvPr/>
        </p:nvSpPr>
        <p:spPr>
          <a:xfrm>
            <a:off x="5450541" y="4648969"/>
            <a:ext cx="277907" cy="249269"/>
          </a:xfrm>
          <a:prstGeom prst="triangl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이등변 삼각형 34"/>
          <p:cNvSpPr/>
          <p:nvPr/>
        </p:nvSpPr>
        <p:spPr>
          <a:xfrm>
            <a:off x="5031441" y="5150410"/>
            <a:ext cx="277907" cy="249269"/>
          </a:xfrm>
          <a:prstGeom prst="triangl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이등변 삼각형 35"/>
          <p:cNvSpPr/>
          <p:nvPr/>
        </p:nvSpPr>
        <p:spPr>
          <a:xfrm>
            <a:off x="5396753" y="5243503"/>
            <a:ext cx="277907" cy="249269"/>
          </a:xfrm>
          <a:prstGeom prst="triangl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이등변 삼각형 36"/>
          <p:cNvSpPr/>
          <p:nvPr/>
        </p:nvSpPr>
        <p:spPr>
          <a:xfrm>
            <a:off x="4894730" y="4795249"/>
            <a:ext cx="277907" cy="249269"/>
          </a:xfrm>
          <a:prstGeom prst="triangl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이등변 삼각형 37"/>
          <p:cNvSpPr/>
          <p:nvPr/>
        </p:nvSpPr>
        <p:spPr>
          <a:xfrm>
            <a:off x="5091953" y="4561755"/>
            <a:ext cx="277907" cy="249269"/>
          </a:xfrm>
          <a:prstGeom prst="triangl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이등변 삼각형 38"/>
          <p:cNvSpPr/>
          <p:nvPr/>
        </p:nvSpPr>
        <p:spPr>
          <a:xfrm>
            <a:off x="5244353" y="4714155"/>
            <a:ext cx="277907" cy="249269"/>
          </a:xfrm>
          <a:prstGeom prst="triangl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이등변 삼각형 39"/>
          <p:cNvSpPr/>
          <p:nvPr/>
        </p:nvSpPr>
        <p:spPr>
          <a:xfrm>
            <a:off x="5638800" y="5021824"/>
            <a:ext cx="277907" cy="249269"/>
          </a:xfrm>
          <a:prstGeom prst="triangl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/>
          <p:cNvCxnSpPr/>
          <p:nvPr/>
        </p:nvCxnSpPr>
        <p:spPr>
          <a:xfrm>
            <a:off x="4689178" y="5643740"/>
            <a:ext cx="1568187" cy="40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/>
          <p:cNvCxnSpPr/>
          <p:nvPr/>
        </p:nvCxnSpPr>
        <p:spPr>
          <a:xfrm>
            <a:off x="2043953" y="6054454"/>
            <a:ext cx="422013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4791952" y="5708513"/>
            <a:ext cx="13626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FF0000"/>
                </a:solidFill>
              </a:rPr>
              <a:t>Cluster </a:t>
            </a:r>
            <a:r>
              <a:rPr lang="ko-KR" altLang="en-US" sz="1600" b="1" dirty="0" smtClean="0">
                <a:solidFill>
                  <a:srgbClr val="FF0000"/>
                </a:solidFill>
              </a:rPr>
              <a:t>내부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532093" y="6118824"/>
            <a:ext cx="13626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FF0000"/>
                </a:solidFill>
              </a:rPr>
              <a:t>Cluster </a:t>
            </a:r>
            <a:r>
              <a:rPr lang="ko-KR" altLang="en-US" sz="1600" b="1" dirty="0">
                <a:solidFill>
                  <a:srgbClr val="FF0000"/>
                </a:solidFill>
              </a:rPr>
              <a:t>외</a:t>
            </a:r>
            <a:r>
              <a:rPr lang="ko-KR" altLang="en-US" sz="1600" b="1" dirty="0" smtClean="0">
                <a:solidFill>
                  <a:srgbClr val="FF0000"/>
                </a:solidFill>
              </a:rPr>
              <a:t>부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2" name="타원 1"/>
          <p:cNvSpPr/>
          <p:nvPr/>
        </p:nvSpPr>
        <p:spPr>
          <a:xfrm>
            <a:off x="4939553" y="5114392"/>
            <a:ext cx="430307" cy="411115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4944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898060" y="6540548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E00F004-BD89-484A-9E0D-939812231C51}"/>
              </a:ext>
            </a:extLst>
          </p:cNvPr>
          <p:cNvSpPr/>
          <p:nvPr/>
        </p:nvSpPr>
        <p:spPr>
          <a:xfrm>
            <a:off x="0" y="6448285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16A8DA-5D55-45BD-85EA-BE2F87A4FCF7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DA6BE5-037F-4552-8536-DD1511D2DB96}"/>
              </a:ext>
            </a:extLst>
          </p:cNvPr>
          <p:cNvSpPr txBox="1"/>
          <p:nvPr/>
        </p:nvSpPr>
        <p:spPr>
          <a:xfrm>
            <a:off x="401050" y="289035"/>
            <a:ext cx="78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ko-KR" altLang="en-US" sz="2000" b="1" dirty="0">
                <a:solidFill>
                  <a:prstClr val="black"/>
                </a:solidFill>
                <a:ea typeface="나눔스퀘어_ac ExtraBold" panose="020B0600000101010101" pitchFamily="50" charset="-127"/>
              </a:rPr>
              <a:t>군집화 성능 측정</a:t>
            </a:r>
            <a:r>
              <a:rPr lang="en-US" altLang="ko-KR" sz="2000" b="1" dirty="0">
                <a:solidFill>
                  <a:prstClr val="black"/>
                </a:solidFill>
                <a:ea typeface="나눔스퀘어_ac ExtraBold" panose="020B0600000101010101" pitchFamily="50" charset="-127"/>
              </a:rPr>
              <a:t>(Silhouette Analysis)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AAABA0-83DE-8C46-91C4-A610346B147D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D24E5A-6EF2-4301-BBDA-C418695D3FF3}"/>
              </a:ext>
            </a:extLst>
          </p:cNvPr>
          <p:cNvSpPr txBox="1"/>
          <p:nvPr/>
        </p:nvSpPr>
        <p:spPr>
          <a:xfrm>
            <a:off x="3560345" y="6538913"/>
            <a:ext cx="30171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2021-1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학기 </a:t>
            </a:r>
            <a:r>
              <a:rPr kumimoji="0" lang="ko-KR" altLang="en-US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비즈니스 데이터 사이언스</a:t>
            </a:r>
            <a:r>
              <a:rPr kumimoji="0" lang="en-US" altLang="ko-KR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ko-KR" altLang="en-US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세미나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79612" y="984643"/>
            <a:ext cx="8184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01050" y="1089538"/>
            <a:ext cx="79427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mtClean="0"/>
              <a:t>실루엣 계수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</p:txBody>
      </p:sp>
      <p:sp>
        <p:nvSpPr>
          <p:cNvPr id="18" name="타원 17"/>
          <p:cNvSpPr/>
          <p:nvPr/>
        </p:nvSpPr>
        <p:spPr>
          <a:xfrm>
            <a:off x="1423142" y="2101623"/>
            <a:ext cx="278223" cy="259814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/>
          <p:cNvSpPr/>
          <p:nvPr/>
        </p:nvSpPr>
        <p:spPr>
          <a:xfrm>
            <a:off x="1089845" y="2668027"/>
            <a:ext cx="288792" cy="272397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/>
          <p:cNvSpPr/>
          <p:nvPr/>
        </p:nvSpPr>
        <p:spPr>
          <a:xfrm>
            <a:off x="695396" y="2153304"/>
            <a:ext cx="299196" cy="270807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이등변 삼각형 32"/>
          <p:cNvSpPr/>
          <p:nvPr/>
        </p:nvSpPr>
        <p:spPr>
          <a:xfrm>
            <a:off x="1970597" y="4600951"/>
            <a:ext cx="277907" cy="249269"/>
          </a:xfrm>
          <a:prstGeom prst="triangl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이등변 삼각형 36"/>
          <p:cNvSpPr/>
          <p:nvPr/>
        </p:nvSpPr>
        <p:spPr>
          <a:xfrm>
            <a:off x="881255" y="4599696"/>
            <a:ext cx="277907" cy="249269"/>
          </a:xfrm>
          <a:prstGeom prst="triangl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타원 1"/>
          <p:cNvSpPr/>
          <p:nvPr/>
        </p:nvSpPr>
        <p:spPr>
          <a:xfrm>
            <a:off x="401050" y="1810871"/>
            <a:ext cx="1642903" cy="1308847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타원 41"/>
          <p:cNvSpPr/>
          <p:nvPr/>
        </p:nvSpPr>
        <p:spPr>
          <a:xfrm>
            <a:off x="695396" y="3870889"/>
            <a:ext cx="1716110" cy="1367394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759753" y="1476990"/>
            <a:ext cx="1344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Cluster A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-1637" y="5289691"/>
            <a:ext cx="5168153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                  Cluster B</a:t>
            </a:r>
          </a:p>
          <a:p>
            <a:r>
              <a:rPr lang="en-US" altLang="ko-KR" sz="1600" b="1" dirty="0" smtClean="0"/>
              <a:t>(Cluster A</a:t>
            </a:r>
            <a:r>
              <a:rPr lang="ko-KR" altLang="en-US" sz="1600" b="1" dirty="0" smtClean="0"/>
              <a:t>의 첫 번째 데이터로부터 가장 가까운 클러스터</a:t>
            </a:r>
            <a:r>
              <a:rPr lang="en-US" altLang="ko-KR" sz="1600" b="1" dirty="0" smtClean="0"/>
              <a:t>)</a:t>
            </a:r>
            <a:r>
              <a:rPr lang="ko-KR" altLang="en-US" sz="1600" b="1" dirty="0" smtClean="0"/>
              <a:t> </a:t>
            </a:r>
            <a:endParaRPr lang="ko-KR" altLang="en-US" sz="16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1098808" y="2618454"/>
            <a:ext cx="333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714763" y="2092536"/>
            <a:ext cx="333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1438512" y="2021940"/>
            <a:ext cx="369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49" name="TextBox 48"/>
          <p:cNvSpPr txBox="1"/>
          <p:nvPr/>
        </p:nvSpPr>
        <p:spPr>
          <a:xfrm>
            <a:off x="1970597" y="4565315"/>
            <a:ext cx="333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50" name="TextBox 49"/>
          <p:cNvSpPr txBox="1"/>
          <p:nvPr/>
        </p:nvSpPr>
        <p:spPr>
          <a:xfrm>
            <a:off x="874847" y="4585100"/>
            <a:ext cx="333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4</a:t>
            </a:r>
            <a:endParaRPr lang="ko-KR" altLang="en-US" dirty="0"/>
          </a:p>
        </p:txBody>
      </p:sp>
      <p:cxnSp>
        <p:nvCxnSpPr>
          <p:cNvPr id="52" name="직선 화살표 연결선 51"/>
          <p:cNvCxnSpPr>
            <a:stCxn id="21" idx="2"/>
            <a:endCxn id="46" idx="2"/>
          </p:cNvCxnSpPr>
          <p:nvPr/>
        </p:nvCxnSpPr>
        <p:spPr>
          <a:xfrm flipH="1" flipV="1">
            <a:off x="881412" y="2461868"/>
            <a:ext cx="208433" cy="34235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/>
          <p:cNvCxnSpPr>
            <a:endCxn id="47" idx="2"/>
          </p:cNvCxnSpPr>
          <p:nvPr/>
        </p:nvCxnSpPr>
        <p:spPr>
          <a:xfrm flipV="1">
            <a:off x="1382410" y="2391272"/>
            <a:ext cx="240997" cy="43401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/>
          <p:cNvCxnSpPr>
            <a:stCxn id="11" idx="2"/>
            <a:endCxn id="50" idx="0"/>
          </p:cNvCxnSpPr>
          <p:nvPr/>
        </p:nvCxnSpPr>
        <p:spPr>
          <a:xfrm flipH="1">
            <a:off x="1041496" y="2987786"/>
            <a:ext cx="223961" cy="159731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63"/>
          <p:cNvCxnSpPr>
            <a:stCxn id="11" idx="2"/>
            <a:endCxn id="49" idx="0"/>
          </p:cNvCxnSpPr>
          <p:nvPr/>
        </p:nvCxnSpPr>
        <p:spPr>
          <a:xfrm>
            <a:off x="1265457" y="2987786"/>
            <a:ext cx="871789" cy="157752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323779" y="2424111"/>
                <a:ext cx="8523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ko-KR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𝟏𝟐</m:t>
                          </m:r>
                        </m:sub>
                      </m:sSub>
                    </m:oMath>
                  </m:oMathPara>
                </a14:m>
                <a:endParaRPr lang="ko-KR" altLang="en-US" b="1" dirty="0"/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779" y="2424111"/>
                <a:ext cx="85230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직사각형 68"/>
              <p:cNvSpPr/>
              <p:nvPr/>
            </p:nvSpPr>
            <p:spPr>
              <a:xfrm>
                <a:off x="1502908" y="2426908"/>
                <a:ext cx="59176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ko-KR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ko-KR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9" name="직사각형 6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2908" y="2426908"/>
                <a:ext cx="59176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직사각형 69"/>
              <p:cNvSpPr/>
              <p:nvPr/>
            </p:nvSpPr>
            <p:spPr>
              <a:xfrm>
                <a:off x="633633" y="3399093"/>
                <a:ext cx="58855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en-US" altLang="ko-KR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ko-KR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70" name="직사각형 6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633" y="3399093"/>
                <a:ext cx="588559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직사각형 72"/>
              <p:cNvSpPr/>
              <p:nvPr/>
            </p:nvSpPr>
            <p:spPr>
              <a:xfrm>
                <a:off x="1502908" y="3316891"/>
                <a:ext cx="58855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en-US" altLang="ko-KR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ko-KR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73" name="직사각형 7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2908" y="3316891"/>
                <a:ext cx="588559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/>
              <p:cNvSpPr txBox="1"/>
              <p:nvPr/>
            </p:nvSpPr>
            <p:spPr>
              <a:xfrm>
                <a:off x="2815525" y="2285365"/>
                <a:ext cx="4190410" cy="7934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ko-KR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altLang="ko-KR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≤</m:t>
                      </m:r>
                      <m:r>
                        <a:rPr lang="en-US" altLang="ko-KR" sz="2000" b="1" i="1" smtClean="0">
                          <a:latin typeface="Cambria Math" panose="02040503050406030204" pitchFamily="18" charset="0"/>
                        </a:rPr>
                        <m:t>𝒔</m:t>
                      </m:r>
                      <m:d>
                        <m:dPr>
                          <m:ctrlPr>
                            <a:rPr lang="en-US" altLang="ko-KR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</m:d>
                      <m:r>
                        <a:rPr lang="en-US" altLang="ko-KR" sz="2000" b="1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ko-KR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  <m:d>
                            <m:dPr>
                              <m:ctrlPr>
                                <a:rPr lang="en-US" altLang="ko-KR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e>
                          </m:d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  <m:d>
                            <m:dPr>
                              <m:ctrlPr>
                                <a:rPr lang="en-US" altLang="ko-KR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e>
                          </m:d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altLang="ko-KR" sz="2000" b="1" i="0" smtClean="0">
                              <a:latin typeface="Cambria Math" panose="02040503050406030204" pitchFamily="18" charset="0"/>
                            </a:rPr>
                            <m:t>𝐦𝐚</m:t>
                          </m:r>
                          <m:func>
                            <m:funcPr>
                              <m:ctrlPr>
                                <a:rPr lang="en-US" altLang="ko-KR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altLang="ko-KR" sz="2000" b="1" i="0" smtClean="0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ko-KR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000" b="1" i="1" smtClean="0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  <m:d>
                                    <m:dPr>
                                      <m:ctrlPr>
                                        <a:rPr lang="en-US" altLang="ko-KR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sz="2000" b="1" i="1" smtClean="0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e>
                                  </m:d>
                                  <m:r>
                                    <a:rPr lang="en-US" altLang="ko-KR" sz="2000" b="1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ko-KR" sz="2000" b="1" i="1" smtClean="0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  <m:d>
                                    <m:dPr>
                                      <m:ctrlPr>
                                        <a:rPr lang="en-US" altLang="ko-KR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sz="2000" b="1" i="1" smtClean="0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den>
                      </m:f>
                      <m:r>
                        <a:rPr lang="en-US" altLang="ko-KR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 </m:t>
                      </m:r>
                      <m:r>
                        <a:rPr lang="en-US" altLang="ko-KR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ko-KR" altLang="en-US" b="1" dirty="0"/>
              </a:p>
            </p:txBody>
          </p:sp>
        </mc:Choice>
        <mc:Fallback xmlns="">
          <p:sp>
            <p:nvSpPr>
              <p:cNvPr id="74" name="TextBox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5525" y="2285365"/>
                <a:ext cx="4190410" cy="7934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6" name="TextBox 75"/>
              <p:cNvSpPr txBox="1"/>
              <p:nvPr/>
            </p:nvSpPr>
            <p:spPr>
              <a:xfrm>
                <a:off x="2673113" y="3731727"/>
                <a:ext cx="6535476" cy="27049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ko-KR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𝒊𝒋</m:t>
                        </m:r>
                      </m:sub>
                    </m:sSub>
                    <m:r>
                      <a:rPr lang="en-US" altLang="ko-KR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ko-KR" altLang="en-US" sz="1600" dirty="0" smtClean="0"/>
                  <a:t> </a:t>
                </a:r>
                <a:r>
                  <a:rPr lang="en-US" altLang="ko-KR" sz="1600" dirty="0" smtClean="0"/>
                  <a:t>Cluster A</a:t>
                </a:r>
                <a:r>
                  <a:rPr lang="ko-KR" altLang="en-US" sz="1600" dirty="0" smtClean="0"/>
                  <a:t>의 </a:t>
                </a:r>
                <a:r>
                  <a:rPr lang="en-US" altLang="ko-KR" sz="1600" dirty="0" err="1" smtClean="0"/>
                  <a:t>i</a:t>
                </a:r>
                <a:r>
                  <a:rPr lang="ko-KR" altLang="en-US" sz="1600" dirty="0" smtClean="0"/>
                  <a:t>번째 데이터에서 </a:t>
                </a:r>
                <a:r>
                  <a:rPr lang="en-US" altLang="ko-KR" sz="1600" dirty="0" smtClean="0"/>
                  <a:t>j</a:t>
                </a:r>
                <a:r>
                  <a:rPr lang="ko-KR" altLang="en-US" sz="1600" dirty="0" smtClean="0"/>
                  <a:t>번째 데이터까지의 거리</a:t>
                </a:r>
                <a:endParaRPr lang="en-US" altLang="ko-KR" sz="1600" dirty="0" smtClean="0"/>
              </a:p>
              <a:p>
                <a:r>
                  <a:rPr lang="ko-KR" altLang="en-US" sz="1600" dirty="0" smtClean="0"/>
                  <a:t> </a:t>
                </a:r>
                <a:endParaRPr lang="en-US" altLang="ko-KR" sz="1600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altLang="ko-KR" sz="16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𝒊𝒋</m:t>
                        </m:r>
                      </m:sub>
                    </m:sSub>
                  </m:oMath>
                </a14:m>
                <a:r>
                  <a:rPr lang="en-US" altLang="ko-KR" sz="1600" dirty="0" smtClean="0">
                    <a:solidFill>
                      <a:schemeClr val="tx1"/>
                    </a:solidFill>
                  </a:rPr>
                  <a:t> : </a:t>
                </a:r>
                <a:r>
                  <a:rPr lang="en-US" altLang="ko-KR" sz="1600" dirty="0" smtClean="0"/>
                  <a:t>Cluster A</a:t>
                </a:r>
                <a:r>
                  <a:rPr lang="ko-KR" altLang="en-US" sz="1600" dirty="0" smtClean="0"/>
                  <a:t>의 </a:t>
                </a:r>
                <a:r>
                  <a:rPr lang="en-US" altLang="ko-KR" sz="1600" dirty="0" err="1" smtClean="0"/>
                  <a:t>i</a:t>
                </a:r>
                <a:r>
                  <a:rPr lang="ko-KR" altLang="en-US" sz="1600" dirty="0" smtClean="0"/>
                  <a:t>번째 데이터에서</a:t>
                </a:r>
                <a:r>
                  <a:rPr lang="en-US" altLang="ko-KR" sz="1600" dirty="0" smtClean="0"/>
                  <a:t>,  Cluster </a:t>
                </a:r>
                <a:r>
                  <a:rPr lang="en-US" altLang="ko-KR" sz="1600" dirty="0" smtClean="0"/>
                  <a:t>B</a:t>
                </a:r>
                <a:r>
                  <a:rPr lang="ko-KR" altLang="en-US" sz="1600" dirty="0" smtClean="0"/>
                  <a:t>의 </a:t>
                </a:r>
                <a:r>
                  <a:rPr lang="en-US" altLang="ko-KR" sz="1600" dirty="0" smtClean="0"/>
                  <a:t>j</a:t>
                </a:r>
                <a:r>
                  <a:rPr lang="ko-KR" altLang="en-US" sz="1600" dirty="0" smtClean="0"/>
                  <a:t>번째 데이터까지의 거리</a:t>
                </a:r>
                <a:endParaRPr lang="en-US" altLang="ko-KR" sz="1600" dirty="0" smtClean="0"/>
              </a:p>
              <a:p>
                <a:endParaRPr lang="en-US" altLang="ko-KR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600" b="1" i="1" smtClean="0">
                          <a:latin typeface="Cambria Math" panose="02040503050406030204" pitchFamily="18" charset="0"/>
                        </a:rPr>
                        <m:t>𝒂</m:t>
                      </m:r>
                      <m:d>
                        <m:dPr>
                          <m:ctrlP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</m:d>
                      <m:r>
                        <a:rPr lang="en-US" altLang="ko-KR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600" b="1" i="1" smtClean="0">
                          <a:latin typeface="Cambria Math" panose="02040503050406030204" pitchFamily="18" charset="0"/>
                        </a:rPr>
                        <m:t>𝒎𝒆𝒂𝒏</m:t>
                      </m:r>
                      <m:r>
                        <a:rPr lang="en-US" altLang="ko-KR" sz="1600" b="1" i="1" smtClean="0">
                          <a:latin typeface="Cambria Math" panose="02040503050406030204" pitchFamily="18" charset="0"/>
                        </a:rPr>
                        <m:t>(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altLang="ko-KR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ko-KR" sz="1600" b="1" i="1" smtClean="0">
                                  <a:latin typeface="Cambria Math" panose="02040503050406030204" pitchFamily="18" charset="0"/>
                                </a:rPr>
                                <m:t>𝒊𝒋</m:t>
                              </m:r>
                            </m:sub>
                          </m:sSub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ko-KR" sz="1600" b="1" i="0" smtClean="0">
                          <a:latin typeface="Cambria Math" panose="02040503050406030204" pitchFamily="18" charset="0"/>
                        </a:rPr>
                        <m:t>,   </m:t>
                      </m:r>
                      <m:r>
                        <a:rPr lang="en-US" altLang="ko-KR" sz="1600" b="1" i="1">
                          <a:latin typeface="Cambria Math" panose="02040503050406030204" pitchFamily="18" charset="0"/>
                        </a:rPr>
                        <m:t>𝒃</m:t>
                      </m:r>
                      <m:d>
                        <m:dPr>
                          <m:ctrlPr>
                            <a:rPr lang="en-US" altLang="ko-KR" sz="16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</m:d>
                      <m:r>
                        <a:rPr lang="en-US" altLang="ko-KR" sz="16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600" b="1" i="1">
                          <a:latin typeface="Cambria Math" panose="02040503050406030204" pitchFamily="18" charset="0"/>
                        </a:rPr>
                        <m:t>𝒎𝒆𝒂𝒏</m:t>
                      </m:r>
                      <m:r>
                        <a:rPr lang="en-US" altLang="ko-KR" sz="1600" b="1" i="1">
                          <a:latin typeface="Cambria Math" panose="02040503050406030204" pitchFamily="18" charset="0"/>
                        </a:rPr>
                        <m:t>(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ko-KR" sz="16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altLang="ko-KR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altLang="ko-KR" sz="1600" b="1" i="1">
                                  <a:latin typeface="Cambria Math" panose="02040503050406030204" pitchFamily="18" charset="0"/>
                                </a:rPr>
                                <m:t>𝒊𝒋</m:t>
                              </m:r>
                            </m:sub>
                          </m:sSub>
                          <m:r>
                            <a:rPr lang="en-US" altLang="ko-KR" sz="1600" b="1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altLang="ko-KR" sz="1600" b="1" dirty="0" smtClean="0"/>
              </a:p>
              <a:p>
                <a:endParaRPr lang="en-US" altLang="ko-KR" sz="1600" b="1" dirty="0" smtClean="0"/>
              </a:p>
              <a:p>
                <a:endParaRPr lang="en-US" altLang="ko-KR" sz="1600" dirty="0"/>
              </a:p>
              <a:p>
                <a:endParaRPr lang="en-US" altLang="ko-KR" sz="1600" dirty="0"/>
              </a:p>
              <a:p>
                <a:endParaRPr lang="ko-KR" altLang="en-US" dirty="0"/>
              </a:p>
            </p:txBody>
          </p:sp>
        </mc:Choice>
        <mc:Fallback>
          <p:sp>
            <p:nvSpPr>
              <p:cNvPr id="76" name="TextBox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3113" y="3731727"/>
                <a:ext cx="6535476" cy="2704908"/>
              </a:xfrm>
              <a:prstGeom prst="rect">
                <a:avLst/>
              </a:prstGeom>
              <a:blipFill>
                <a:blip r:embed="rId9"/>
                <a:stretch>
                  <a:fillRect t="-90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타원 76"/>
          <p:cNvSpPr/>
          <p:nvPr/>
        </p:nvSpPr>
        <p:spPr>
          <a:xfrm>
            <a:off x="2854537" y="2407902"/>
            <a:ext cx="466165" cy="479779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TextBox 78"/>
          <p:cNvSpPr txBox="1"/>
          <p:nvPr/>
        </p:nvSpPr>
        <p:spPr>
          <a:xfrm>
            <a:off x="6011621" y="1925885"/>
            <a:ext cx="2943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solidFill>
                  <a:srgbClr val="00B0F0"/>
                </a:solidFill>
              </a:rPr>
              <a:t>타 군집과 멀리 떨어져 있다</a:t>
            </a:r>
            <a:r>
              <a:rPr lang="en-US" altLang="ko-KR" b="1" dirty="0" smtClean="0">
                <a:solidFill>
                  <a:srgbClr val="00B0F0"/>
                </a:solidFill>
              </a:rPr>
              <a:t>!</a:t>
            </a:r>
            <a:endParaRPr lang="ko-KR" altLang="en-US" b="1" dirty="0">
              <a:solidFill>
                <a:srgbClr val="00B0F0"/>
              </a:solidFill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2673113" y="1895770"/>
            <a:ext cx="2943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solidFill>
                  <a:srgbClr val="00B0F0"/>
                </a:solidFill>
              </a:rPr>
              <a:t>다른 군집에 할당되었다</a:t>
            </a:r>
            <a:r>
              <a:rPr lang="en-US" altLang="ko-KR" b="1" dirty="0" smtClean="0">
                <a:solidFill>
                  <a:srgbClr val="00B0F0"/>
                </a:solidFill>
              </a:rPr>
              <a:t>!</a:t>
            </a:r>
            <a:endParaRPr lang="ko-KR" altLang="en-US" b="1" dirty="0">
              <a:solidFill>
                <a:srgbClr val="00B0F0"/>
              </a:solidFill>
            </a:endParaRPr>
          </a:p>
        </p:txBody>
      </p:sp>
      <p:sp>
        <p:nvSpPr>
          <p:cNvPr id="39" name="타원 38"/>
          <p:cNvSpPr/>
          <p:nvPr/>
        </p:nvSpPr>
        <p:spPr>
          <a:xfrm>
            <a:off x="6609862" y="2424259"/>
            <a:ext cx="466165" cy="479779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4452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2031478" y="2828836"/>
            <a:ext cx="50810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2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Rix고딕 M" panose="02020603020101020101" pitchFamily="18" charset="-127"/>
                <a:cs typeface="Times New Roman" panose="02020603050405020304" pitchFamily="18" charset="0"/>
              </a:rPr>
              <a:t>Thank You! </a:t>
            </a:r>
            <a:endParaRPr lang="ko-KR" altLang="en-US" sz="7200" b="1" dirty="0">
              <a:solidFill>
                <a:schemeClr val="bg1"/>
              </a:solidFill>
              <a:latin typeface="Times New Roman" panose="02020603050405020304" pitchFamily="18" charset="0"/>
              <a:ea typeface="Rix고딕 M" panose="02020603020101020101" pitchFamily="18" charset="-127"/>
              <a:cs typeface="Times New Roman" panose="02020603050405020304" pitchFamily="18" charset="0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02926" y="2351638"/>
            <a:ext cx="7404847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dirty="0" smtClean="0">
                <a:solidFill>
                  <a:srgbClr val="00B0F0"/>
                </a:solidFill>
                <a:latin typeface="+mj-ea"/>
                <a:ea typeface="+mj-ea"/>
              </a:rPr>
              <a:t>고객의 상품 </a:t>
            </a:r>
            <a:r>
              <a:rPr lang="en-US" altLang="ko-KR" sz="2800" dirty="0" smtClean="0">
                <a:solidFill>
                  <a:srgbClr val="00B0F0"/>
                </a:solidFill>
                <a:latin typeface="+mj-ea"/>
                <a:ea typeface="+mj-ea"/>
              </a:rPr>
              <a:t>transaction data</a:t>
            </a:r>
            <a:r>
              <a:rPr lang="ko-KR" altLang="en-US" sz="2800" dirty="0" smtClean="0">
                <a:solidFill>
                  <a:srgbClr val="00B0F0"/>
                </a:solidFill>
                <a:latin typeface="+mj-ea"/>
                <a:ea typeface="+mj-ea"/>
              </a:rPr>
              <a:t>와 </a:t>
            </a:r>
            <a:r>
              <a:rPr lang="en-US" altLang="ko-KR" sz="2800" dirty="0" smtClean="0">
                <a:solidFill>
                  <a:srgbClr val="00B0F0"/>
                </a:solidFill>
                <a:latin typeface="+mj-ea"/>
                <a:ea typeface="+mj-ea"/>
              </a:rPr>
              <a:t>K-Means Clustering </a:t>
            </a:r>
            <a:r>
              <a:rPr lang="ko-KR" altLang="en-US" sz="2800" dirty="0" smtClean="0">
                <a:solidFill>
                  <a:srgbClr val="00B0F0"/>
                </a:solidFill>
                <a:latin typeface="+mj-ea"/>
                <a:ea typeface="+mj-ea"/>
              </a:rPr>
              <a:t>알고리즘을 통한 군집화</a:t>
            </a:r>
            <a:endParaRPr lang="en-US" altLang="ko-KR" dirty="0"/>
          </a:p>
          <a:p>
            <a:pPr algn="ctr"/>
            <a:endParaRPr lang="en-US" altLang="ko-KR" dirty="0" smtClean="0"/>
          </a:p>
          <a:p>
            <a:pPr algn="ctr"/>
            <a:r>
              <a:rPr lang="ko-KR" altLang="en-US" dirty="0" smtClean="0"/>
              <a:t>링크 </a:t>
            </a:r>
            <a:r>
              <a:rPr lang="en-US" altLang="ko-KR" dirty="0"/>
              <a:t>: </a:t>
            </a:r>
            <a:r>
              <a:rPr lang="en-US" altLang="ko-KR" dirty="0">
                <a:hlinkClick r:id="rId3"/>
              </a:rPr>
              <a:t>https://github.com/jihoahn9303/Seminar_For_Business_DS/tree/main/code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43378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1847654" y="2580588"/>
            <a:ext cx="5448693" cy="1696825"/>
          </a:xfrm>
          <a:prstGeom prst="rect">
            <a:avLst/>
          </a:prstGeom>
          <a:solidFill>
            <a:srgbClr val="2633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2031478" y="2828836"/>
            <a:ext cx="50810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2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Rix고딕 M" panose="02020603020101020101" pitchFamily="18" charset="-127"/>
                <a:cs typeface="Times New Roman" panose="02020603050405020304" pitchFamily="18" charset="0"/>
              </a:rPr>
              <a:t>Thank You! </a:t>
            </a:r>
            <a:endParaRPr lang="ko-KR" altLang="en-US" sz="7200" b="1" dirty="0">
              <a:solidFill>
                <a:schemeClr val="bg1"/>
              </a:solidFill>
              <a:latin typeface="Times New Roman" panose="02020603050405020304" pitchFamily="18" charset="0"/>
              <a:ea typeface="Rix고딕 M" panose="02020603020101020101" pitchFamily="18" charset="-127"/>
              <a:cs typeface="Times New Roman" panose="02020603050405020304" pitchFamily="18" charset="0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120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C4D288E97D6CE543A84399CAA4B69116" ma:contentTypeVersion="2" ma:contentTypeDescription="새 문서를 만듭니다." ma:contentTypeScope="" ma:versionID="8e7738261615630557d56f6af7576d26">
  <xsd:schema xmlns:xsd="http://www.w3.org/2001/XMLSchema" xmlns:xs="http://www.w3.org/2001/XMLSchema" xmlns:p="http://schemas.microsoft.com/office/2006/metadata/properties" xmlns:ns3="529a1fba-b9cc-4c23-9bb8-89a3da0160d3" targetNamespace="http://schemas.microsoft.com/office/2006/metadata/properties" ma:root="true" ma:fieldsID="e9afedbdcc524ead12aa2d442f7b284c" ns3:_="">
    <xsd:import namespace="529a1fba-b9cc-4c23-9bb8-89a3da0160d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9a1fba-b9cc-4c23-9bb8-89a3da0160d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A6119BC-D869-47AC-B8A1-F814646E42F8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29a1fba-b9cc-4c23-9bb8-89a3da0160d3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D5F0C2B-1399-44A3-89A0-7EC1E0908269}">
  <ds:schemaRefs>
    <ds:schemaRef ds:uri="http://schemas.microsoft.com/office/2006/metadata/properties"/>
    <ds:schemaRef ds:uri="http://schemas.openxmlformats.org/package/2006/metadata/core-properties"/>
    <ds:schemaRef ds:uri="529a1fba-b9cc-4c23-9bb8-89a3da0160d3"/>
    <ds:schemaRef ds:uri="http://purl.org/dc/terms/"/>
    <ds:schemaRef ds:uri="http://www.w3.org/XML/1998/namespace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C91F5218-4666-47F2-9DD9-D89F8B1968E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6203</TotalTime>
  <Words>2137</Words>
  <Application>Microsoft Office PowerPoint</Application>
  <PresentationFormat>화면 슬라이드 쇼(4:3)</PresentationFormat>
  <Paragraphs>468</Paragraphs>
  <Slides>47</Slides>
  <Notes>45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47</vt:i4>
      </vt:variant>
    </vt:vector>
  </HeadingPairs>
  <TitlesOfParts>
    <vt:vector size="60" baseType="lpstr">
      <vt:lpstr>NanumGothic</vt:lpstr>
      <vt:lpstr>Rix고딕 M</vt:lpstr>
      <vt:lpstr>나눔고딕</vt:lpstr>
      <vt:lpstr>나눔스퀘어_ac ExtraBold</vt:lpstr>
      <vt:lpstr>맑은 고딕</vt:lpstr>
      <vt:lpstr>함초롬돋움</vt:lpstr>
      <vt:lpstr>Arial</vt:lpstr>
      <vt:lpstr>Calibri</vt:lpstr>
      <vt:lpstr>Calibri Light</vt:lpstr>
      <vt:lpstr>Cambria Math</vt:lpstr>
      <vt:lpstr>Times New Roman</vt:lpstr>
      <vt:lpstr>Office 테마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YounSKing</dc:creator>
  <cp:keywords/>
  <dc:description/>
  <cp:lastModifiedBy>안 지호</cp:lastModifiedBy>
  <cp:revision>472</cp:revision>
  <cp:lastPrinted>2021-05-05T02:59:36Z</cp:lastPrinted>
  <dcterms:created xsi:type="dcterms:W3CDTF">2019-03-16T00:23:40Z</dcterms:created>
  <dcterms:modified xsi:type="dcterms:W3CDTF">2021-07-23T04:45:10Z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0x010100C4D288E97D6CE543A84399CAA4B69116</vt:lpwstr>
  </property>
</Properties>
</file>