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46"/>
  </p:notesMasterIdLst>
  <p:handoutMasterIdLst>
    <p:handoutMasterId r:id="rId47"/>
  </p:handoutMasterIdLst>
  <p:sldIdLst>
    <p:sldId id="394" r:id="rId6"/>
    <p:sldId id="343" r:id="rId7"/>
    <p:sldId id="347" r:id="rId8"/>
    <p:sldId id="447" r:id="rId9"/>
    <p:sldId id="463" r:id="rId10"/>
    <p:sldId id="462" r:id="rId11"/>
    <p:sldId id="457" r:id="rId12"/>
    <p:sldId id="448" r:id="rId13"/>
    <p:sldId id="449" r:id="rId14"/>
    <p:sldId id="450" r:id="rId15"/>
    <p:sldId id="451" r:id="rId16"/>
    <p:sldId id="452" r:id="rId17"/>
    <p:sldId id="453" r:id="rId18"/>
    <p:sldId id="454" r:id="rId19"/>
    <p:sldId id="461" r:id="rId20"/>
    <p:sldId id="458" r:id="rId21"/>
    <p:sldId id="464" r:id="rId22"/>
    <p:sldId id="455" r:id="rId23"/>
    <p:sldId id="459" r:id="rId24"/>
    <p:sldId id="460" r:id="rId25"/>
    <p:sldId id="465" r:id="rId26"/>
    <p:sldId id="467" r:id="rId27"/>
    <p:sldId id="469" r:id="rId28"/>
    <p:sldId id="470" r:id="rId29"/>
    <p:sldId id="471" r:id="rId30"/>
    <p:sldId id="472" r:id="rId31"/>
    <p:sldId id="473" r:id="rId32"/>
    <p:sldId id="474" r:id="rId33"/>
    <p:sldId id="475" r:id="rId34"/>
    <p:sldId id="477" r:id="rId35"/>
    <p:sldId id="476" r:id="rId36"/>
    <p:sldId id="478" r:id="rId37"/>
    <p:sldId id="479" r:id="rId38"/>
    <p:sldId id="480" r:id="rId39"/>
    <p:sldId id="481" r:id="rId40"/>
    <p:sldId id="482" r:id="rId41"/>
    <p:sldId id="483" r:id="rId42"/>
    <p:sldId id="484" r:id="rId43"/>
    <p:sldId id="485" r:id="rId44"/>
    <p:sldId id="260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1915"/>
    <a:srgbClr val="CFD5EA"/>
    <a:srgbClr val="E9EBF5"/>
    <a:srgbClr val="E9ECF5"/>
    <a:srgbClr val="C9D0E3"/>
    <a:srgbClr val="E8EBF4"/>
    <a:srgbClr val="CBD2E5"/>
    <a:srgbClr val="26336B"/>
    <a:srgbClr val="2633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85"/>
    <p:restoredTop sz="93200"/>
  </p:normalViewPr>
  <p:slideViewPr>
    <p:cSldViewPr snapToGrid="0">
      <p:cViewPr varScale="1">
        <p:scale>
          <a:sx n="107" d="100"/>
          <a:sy n="107" d="100"/>
        </p:scale>
        <p:origin x="19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0422B8-B0E6-404C-B8B1-05A56A924E5F}" type="datetimeFigureOut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E0779-F41E-4D8C-AADC-C4DB3B418F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7462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47A43-7294-4111-BCAD-D4E341323D7A}" type="datetimeFigureOut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0F566-61BC-4F36-8206-6956368F35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83657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76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9617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387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8805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148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65126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8665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79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4661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02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9631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9759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2242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8239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694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688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084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017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6934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2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443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5039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50087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35007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027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148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0255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30F566-61BC-4F36-8206-6956368F35F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233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081189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97761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554033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85586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4292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7851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7424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2740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48171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200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30F566-61BC-4F36-8206-6956368F35F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2150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25E75-51B1-4229-A3AF-C83467F3C4A8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9B61A-E40B-40AF-A3F6-CB0C27976B13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775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F9DE-7DC2-4238-A739-14761A548EC1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901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9EBF8-CF7A-4E5C-BC97-B50FF4462A72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52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DC070-9049-4B22-A834-D6C7CAA07A61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55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3DE11-7090-48D5-AE3F-C334CC1C584F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10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6320B-1FDE-466A-B263-54FE685C92C5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85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B2D89-45EB-4486-8E0E-5C35A0FEBEB9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90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C1FAF-84C3-4C2D-A1BB-FF5DA09D6950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596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AABA6-2971-4656-B940-1869CA468FE7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66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03CDC-A429-4E4E-A8A5-7F879BB621C5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1737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3CB1D-823D-49C8-9656-6C15E4505FE2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4615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3DA8E-9C0A-415A-80C3-B647C1BEEEBA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86399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8800-43AD-4E2E-B20F-14CD71341A15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1698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3136E-B5A7-4CAC-B7AC-3D8D6479D899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86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9A8C-5D9F-44D7-AAB1-11BD4BA00046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278007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6E51F-43B5-47AF-BACF-EADEB99780E4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373509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F33AF-DD51-4BDD-83E0-D1A05355731C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52504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54884-675B-4918-BA18-3DAC28FE7773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699103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34130-D781-4331-B3C1-6C1774842A60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844903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E8AEB-B703-47EA-9FE6-2B297642CEBD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9766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8915-DD84-461C-912A-ECF1AC53396E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3795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79B59-8AAE-499C-90F4-4AC38CB4FB6D}" type="datetime1">
              <a:rPr lang="ko-KR" altLang="en-US" smtClean="0"/>
              <a:t>2021-07-14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7BF0C-D2E0-4551-BD65-6813E4059F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458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
둘째 수준
셋째 수준
넷째 수준
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2C8D1-BF39-4DA2-AFEA-B01C4940DF5B}" type="datetime1">
              <a:rPr kumimoji="1" lang="ko-KR" altLang="en-US" smtClean="0"/>
              <a:t>2021-07-14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C67BC-BBE7-474F-A784-DA0313A56A0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4477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JP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JP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JPG"/><Relationship Id="rId4" Type="http://schemas.openxmlformats.org/officeDocument/2006/relationships/image" Target="../media/image39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00" y="6249145"/>
            <a:ext cx="1753384" cy="425485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0" y="0"/>
            <a:ext cx="395926" cy="6858000"/>
          </a:xfrm>
          <a:prstGeom prst="rect">
            <a:avLst/>
          </a:prstGeom>
          <a:solidFill>
            <a:srgbClr val="263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/>
          <p:cNvCxnSpPr/>
          <p:nvPr/>
        </p:nvCxnSpPr>
        <p:spPr>
          <a:xfrm>
            <a:off x="773000" y="6142166"/>
            <a:ext cx="7805393" cy="0"/>
          </a:xfrm>
          <a:prstGeom prst="line">
            <a:avLst/>
          </a:prstGeom>
          <a:ln>
            <a:solidFill>
              <a:srgbClr val="2633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97288" y="2400773"/>
            <a:ext cx="5830442" cy="107721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latinLnBrk="1"/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비즈니스를 위한 데이터 과학</a:t>
            </a:r>
            <a:r>
              <a:rPr lang="en-US" altLang="ko-KR" sz="3200" b="1" dirty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/>
            </a:r>
            <a:br>
              <a:rPr lang="en-US" altLang="ko-KR" sz="3200" b="1" dirty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</a:br>
            <a:r>
              <a:rPr lang="en-US" altLang="ko-KR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Chapter6. </a:t>
            </a:r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유사도</a:t>
            </a:r>
            <a:r>
              <a:rPr lang="en-US" altLang="ko-KR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, </a:t>
            </a:r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이웃</a:t>
            </a:r>
            <a:r>
              <a:rPr lang="en-US" altLang="ko-KR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, </a:t>
            </a:r>
            <a:r>
              <a:rPr lang="ko-KR" altLang="en-US" sz="3200" b="1" dirty="0" smtClean="0">
                <a:solidFill>
                  <a:srgbClr val="26336A"/>
                </a:solidFill>
                <a:latin typeface="NanumGothic" panose="020D0604000000000000" pitchFamily="34" charset="-127"/>
                <a:ea typeface="NanumGothic"/>
              </a:rPr>
              <a:t>군집</a:t>
            </a:r>
            <a:endParaRPr lang="en-US" altLang="ko-KR" sz="3200" b="1" dirty="0">
              <a:solidFill>
                <a:srgbClr val="26336A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52988" y="6249145"/>
            <a:ext cx="13281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01E1F048-75BD-4F29-ABFA-4CE08125E36A}" type="datetime4">
              <a:rPr lang="en-US" altLang="ko-KR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July 14, 2021</a:t>
            </a:fld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8804C2F-9394-4F74-ACD1-9C3670EF49A5}"/>
              </a:ext>
            </a:extLst>
          </p:cNvPr>
          <p:cNvGrpSpPr/>
          <p:nvPr/>
        </p:nvGrpSpPr>
        <p:grpSpPr>
          <a:xfrm>
            <a:off x="897288" y="3584969"/>
            <a:ext cx="2320187" cy="461665"/>
            <a:chOff x="825899" y="3074493"/>
            <a:chExt cx="2320187" cy="461665"/>
          </a:xfrm>
        </p:grpSpPr>
        <p:sp>
          <p:nvSpPr>
            <p:cNvPr id="11" name="TextBox 10"/>
            <p:cNvSpPr txBox="1"/>
            <p:nvPr/>
          </p:nvSpPr>
          <p:spPr>
            <a:xfrm>
              <a:off x="825899" y="3074493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latinLnBrk="1">
                <a:lnSpc>
                  <a:spcPct val="150000"/>
                </a:lnSpc>
              </a:pPr>
              <a:r>
                <a:rPr lang="ko-KR" altLang="en-US" sz="1600" dirty="0" err="1" smtClean="0">
                  <a:solidFill>
                    <a:srgbClr val="26336A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안지호</a:t>
              </a:r>
              <a:endParaRPr lang="en-US" altLang="ko-KR" sz="1600" dirty="0">
                <a:solidFill>
                  <a:srgbClr val="26336A"/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591FA4A-0608-5840-A9FD-19EC81923952}"/>
                </a:ext>
              </a:extLst>
            </p:cNvPr>
            <p:cNvSpPr txBox="1"/>
            <p:nvPr/>
          </p:nvSpPr>
          <p:spPr>
            <a:xfrm>
              <a:off x="1606882" y="3074493"/>
              <a:ext cx="1539204" cy="418576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latinLnBrk="1">
                <a:lnSpc>
                  <a:spcPct val="150000"/>
                </a:lnSpc>
              </a:pPr>
              <a:r>
                <a:rPr lang="ko-KR" altLang="en-US" sz="1000" dirty="0">
                  <a:solidFill>
                    <a:srgbClr val="26336A"/>
                  </a:solidFill>
                  <a:latin typeface="나눔고딕" panose="020D0604000000000000" pitchFamily="50" charset="-127"/>
                  <a:ea typeface="나눔고딕"/>
                </a:rPr>
                <a:t>빅데이터응용학과 </a:t>
              </a:r>
              <a:r>
                <a:rPr lang="en-US" altLang="ko-KR" sz="1000" dirty="0">
                  <a:solidFill>
                    <a:srgbClr val="26336A"/>
                  </a:solidFill>
                  <a:latin typeface="나눔고딕" panose="020D0604000000000000" pitchFamily="50" charset="-127"/>
                  <a:ea typeface="나눔고딕"/>
                </a:rPr>
                <a:t>1</a:t>
              </a:r>
              <a:r>
                <a:rPr lang="ko-KR" altLang="en-US" sz="1000" dirty="0">
                  <a:solidFill>
                    <a:srgbClr val="26336A"/>
                  </a:solidFill>
                  <a:latin typeface="나눔고딕" panose="020D0604000000000000" pitchFamily="50" charset="-127"/>
                  <a:ea typeface="나눔고딕"/>
                </a:rPr>
                <a:t>기</a:t>
              </a:r>
              <a:r>
                <a:rPr lang="en-US" altLang="ko-KR" sz="10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/>
                </a:rPr>
                <a:t> </a:t>
              </a:r>
              <a:r>
                <a:rPr lang="en-US" altLang="ko-KR" sz="16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/>
                </a:rPr>
                <a:t>d</a:t>
              </a:r>
              <a:endParaRPr lang="en-US" altLang="ko-KR" sz="1400" dirty="0">
                <a:solidFill>
                  <a:schemeClr val="bg1"/>
                </a:solidFill>
                <a:latin typeface="나눔고딕" panose="020D0604000000000000" pitchFamily="50" charset="-127"/>
                <a:ea typeface="나눔고딕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160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FBE4F4-242F-664B-A887-5C83C1D439F5}"/>
              </a:ext>
            </a:extLst>
          </p:cNvPr>
          <p:cNvSpPr txBox="1"/>
          <p:nvPr/>
        </p:nvSpPr>
        <p:spPr>
          <a:xfrm>
            <a:off x="758952" y="548640"/>
            <a:ext cx="10534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6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</a:rPr>
              <a:t>목차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4B9C1BE6-2DEE-4776-B89E-8FDBA5BCE7E7}"/>
              </a:ext>
            </a:extLst>
          </p:cNvPr>
          <p:cNvGrpSpPr/>
          <p:nvPr/>
        </p:nvGrpSpPr>
        <p:grpSpPr>
          <a:xfrm>
            <a:off x="585729" y="1869323"/>
            <a:ext cx="7915147" cy="3008504"/>
            <a:chOff x="546730" y="1653037"/>
            <a:chExt cx="7915147" cy="300850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4F7D19F8-D53B-41B9-B8CB-6372291AB798}"/>
                </a:ext>
              </a:extLst>
            </p:cNvPr>
            <p:cNvGrpSpPr/>
            <p:nvPr/>
          </p:nvGrpSpPr>
          <p:grpSpPr>
            <a:xfrm>
              <a:off x="546730" y="1653037"/>
              <a:ext cx="904377" cy="585205"/>
              <a:chOff x="323851" y="2108491"/>
              <a:chExt cx="832440" cy="820569"/>
            </a:xfrm>
            <a:solidFill>
              <a:srgbClr val="9C1B1E"/>
            </a:solidFill>
          </p:grpSpPr>
          <p:sp>
            <p:nvSpPr>
              <p:cNvPr id="7" name="화살표: 오각형 6">
                <a:extLst>
                  <a:ext uri="{FF2B5EF4-FFF2-40B4-BE49-F238E27FC236}">
                    <a16:creationId xmlns:a16="http://schemas.microsoft.com/office/drawing/2014/main" id="{6245AE98-8008-4D6B-8CC3-76F4D7BB37CD}"/>
                  </a:ext>
                </a:extLst>
              </p:cNvPr>
              <p:cNvSpPr/>
              <p:nvPr/>
            </p:nvSpPr>
            <p:spPr>
              <a:xfrm>
                <a:off x="323851" y="2108491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9FA5B4-028D-41E7-AB80-5B59046D621E}"/>
                  </a:ext>
                </a:extLst>
              </p:cNvPr>
              <p:cNvSpPr txBox="1"/>
              <p:nvPr/>
            </p:nvSpPr>
            <p:spPr>
              <a:xfrm>
                <a:off x="363115" y="2182954"/>
                <a:ext cx="542228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01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74D5ECA-1B9F-40A1-BA6F-779A3E7ED4F5}"/>
                </a:ext>
              </a:extLst>
            </p:cNvPr>
            <p:cNvGrpSpPr/>
            <p:nvPr/>
          </p:nvGrpSpPr>
          <p:grpSpPr>
            <a:xfrm>
              <a:off x="549519" y="2446246"/>
              <a:ext cx="902756" cy="585205"/>
              <a:chOff x="326422" y="2985200"/>
              <a:chExt cx="832440" cy="820569"/>
            </a:xfrm>
            <a:solidFill>
              <a:srgbClr val="233A71"/>
            </a:solidFill>
          </p:grpSpPr>
          <p:sp>
            <p:nvSpPr>
              <p:cNvPr id="10" name="화살표: 오각형 9">
                <a:extLst>
                  <a:ext uri="{FF2B5EF4-FFF2-40B4-BE49-F238E27FC236}">
                    <a16:creationId xmlns:a16="http://schemas.microsoft.com/office/drawing/2014/main" id="{1C1C826F-55EB-44CA-AF2B-1CCA6A07859D}"/>
                  </a:ext>
                </a:extLst>
              </p:cNvPr>
              <p:cNvSpPr/>
              <p:nvPr/>
            </p:nvSpPr>
            <p:spPr>
              <a:xfrm>
                <a:off x="326422" y="2985200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CD70456-22E0-4D6E-8532-ABDCB1E26108}"/>
                  </a:ext>
                </a:extLst>
              </p:cNvPr>
              <p:cNvSpPr txBox="1"/>
              <p:nvPr/>
            </p:nvSpPr>
            <p:spPr>
              <a:xfrm>
                <a:off x="336756" y="3059663"/>
                <a:ext cx="569630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02</a:t>
                </a:r>
                <a:endParaRPr lang="ko-KR" altLang="en-US" sz="2400" b="1" spc="-7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49EAFFC-0B88-4B23-990A-0064E87C31EA}"/>
                </a:ext>
              </a:extLst>
            </p:cNvPr>
            <p:cNvGrpSpPr/>
            <p:nvPr/>
          </p:nvGrpSpPr>
          <p:grpSpPr>
            <a:xfrm>
              <a:off x="546730" y="3239455"/>
              <a:ext cx="904377" cy="585205"/>
              <a:chOff x="341049" y="3861908"/>
              <a:chExt cx="832440" cy="820569"/>
            </a:xfrm>
            <a:solidFill>
              <a:srgbClr val="9C1B1E"/>
            </a:solidFill>
          </p:grpSpPr>
          <p:sp>
            <p:nvSpPr>
              <p:cNvPr id="14" name="화살표: 오각형 13">
                <a:extLst>
                  <a:ext uri="{FF2B5EF4-FFF2-40B4-BE49-F238E27FC236}">
                    <a16:creationId xmlns:a16="http://schemas.microsoft.com/office/drawing/2014/main" id="{C4508EA4-2D64-4F01-A269-F31FCD4BAB70}"/>
                  </a:ext>
                </a:extLst>
              </p:cNvPr>
              <p:cNvSpPr/>
              <p:nvPr/>
            </p:nvSpPr>
            <p:spPr>
              <a:xfrm>
                <a:off x="341049" y="3861908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B63900E-79E4-4E6E-8A14-F5CA6D511213}"/>
                  </a:ext>
                </a:extLst>
              </p:cNvPr>
              <p:cNvSpPr txBox="1"/>
              <p:nvPr/>
            </p:nvSpPr>
            <p:spPr>
              <a:xfrm>
                <a:off x="359771" y="3936369"/>
                <a:ext cx="591761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03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F7E7ED69-4936-422F-A68F-CB97DA52D4B9}"/>
                </a:ext>
              </a:extLst>
            </p:cNvPr>
            <p:cNvGrpSpPr/>
            <p:nvPr/>
          </p:nvGrpSpPr>
          <p:grpSpPr>
            <a:xfrm>
              <a:off x="546730" y="4032662"/>
              <a:ext cx="904377" cy="585205"/>
              <a:chOff x="343620" y="4738615"/>
              <a:chExt cx="832440" cy="820569"/>
            </a:xfrm>
            <a:solidFill>
              <a:srgbClr val="233A71"/>
            </a:solidFill>
          </p:grpSpPr>
          <p:sp>
            <p:nvSpPr>
              <p:cNvPr id="17" name="화살표: 오각형 16">
                <a:extLst>
                  <a:ext uri="{FF2B5EF4-FFF2-40B4-BE49-F238E27FC236}">
                    <a16:creationId xmlns:a16="http://schemas.microsoft.com/office/drawing/2014/main" id="{3C3ED720-528D-4B24-92B8-413A589FAABA}"/>
                  </a:ext>
                </a:extLst>
              </p:cNvPr>
              <p:cNvSpPr/>
              <p:nvPr/>
            </p:nvSpPr>
            <p:spPr>
              <a:xfrm>
                <a:off x="343620" y="4738615"/>
                <a:ext cx="832440" cy="820569"/>
              </a:xfrm>
              <a:prstGeom prst="homePlate">
                <a:avLst>
                  <a:gd name="adj" fmla="val 33100"/>
                </a:avLst>
              </a:prstGeom>
              <a:grp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 latinLnBrk="0"/>
                <a:endParaRPr lang="en-US" sz="1400" spc="-6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D48A06-A561-4575-BAC6-C6D943FD294C}"/>
                  </a:ext>
                </a:extLst>
              </p:cNvPr>
              <p:cNvSpPr txBox="1"/>
              <p:nvPr/>
            </p:nvSpPr>
            <p:spPr>
              <a:xfrm>
                <a:off x="368509" y="4805760"/>
                <a:ext cx="594332" cy="647342"/>
              </a:xfrm>
              <a:prstGeom prst="rect">
                <a:avLst/>
              </a:prstGeom>
              <a:grpFill/>
            </p:spPr>
            <p:txBody>
              <a:bodyPr vert="horz" wrap="square" rtlCol="0">
                <a:spAutoFit/>
              </a:bodyPr>
              <a:lstStyle/>
              <a:p>
                <a:pPr algn="ctr"/>
                <a:r>
                  <a:rPr lang="en-US" altLang="ko-KR" sz="2400" b="1" spc="-70" dirty="0">
                    <a:solidFill>
                      <a:schemeClr val="bg1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  <a:cs typeface="함초롬돋움" panose="02030504000101010101" pitchFamily="18" charset="-127"/>
                  </a:rPr>
                  <a:t>04</a:t>
                </a:r>
                <a:endParaRPr lang="ko-KR" altLang="en-US" sz="2400" b="1" spc="-70" dirty="0">
                  <a:solidFill>
                    <a:schemeClr val="bg1"/>
                  </a:solidFill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endParaRPr>
              </a:p>
            </p:txBody>
          </p:sp>
        </p:grp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1D16B07-535B-43E3-B55E-8DC41E8BB2D6}"/>
                </a:ext>
              </a:extLst>
            </p:cNvPr>
            <p:cNvCxnSpPr/>
            <p:nvPr/>
          </p:nvCxnSpPr>
          <p:spPr>
            <a:xfrm>
              <a:off x="1508323" y="2238242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11FE002D-B088-4108-BA74-459A3D1CCA68}"/>
                </a:ext>
              </a:extLst>
            </p:cNvPr>
            <p:cNvCxnSpPr/>
            <p:nvPr/>
          </p:nvCxnSpPr>
          <p:spPr>
            <a:xfrm>
              <a:off x="1508322" y="3042647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9BA6D126-D0B7-48A0-8AFC-2CDD179FE15C}"/>
                </a:ext>
              </a:extLst>
            </p:cNvPr>
            <p:cNvCxnSpPr/>
            <p:nvPr/>
          </p:nvCxnSpPr>
          <p:spPr>
            <a:xfrm>
              <a:off x="1508324" y="3817599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9436EAE4-2178-4788-81F8-F1DB5971FDBF}"/>
                </a:ext>
              </a:extLst>
            </p:cNvPr>
            <p:cNvCxnSpPr/>
            <p:nvPr/>
          </p:nvCxnSpPr>
          <p:spPr>
            <a:xfrm>
              <a:off x="1508324" y="4600551"/>
              <a:ext cx="6953553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972DE6B-C276-4CBA-97C2-4252E35E126E}"/>
                </a:ext>
              </a:extLst>
            </p:cNvPr>
            <p:cNvSpPr txBox="1"/>
            <p:nvPr/>
          </p:nvSpPr>
          <p:spPr>
            <a:xfrm>
              <a:off x="1292730" y="2377197"/>
              <a:ext cx="6994584" cy="7386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거리와 유사성</a:t>
              </a:r>
              <a:endParaRPr lang="en-US" altLang="ko-KR" sz="1400" b="1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  <a:p>
              <a:pPr marL="180000" latinLnBrk="1">
                <a:lnSpc>
                  <a:spcPct val="150000"/>
                </a:lnSpc>
              </a:pP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Manhattan, Euclidean, Cosine Distance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6848D0-7069-4793-824F-09CC93C6EEB0}"/>
                </a:ext>
              </a:extLst>
            </p:cNvPr>
            <p:cNvSpPr txBox="1"/>
            <p:nvPr/>
          </p:nvSpPr>
          <p:spPr>
            <a:xfrm>
              <a:off x="1292730" y="3158442"/>
              <a:ext cx="7169145" cy="7386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대표적 군집화 기법</a:t>
              </a:r>
              <a:endParaRPr lang="en-US" altLang="ko-KR" sz="1400" b="1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  <a:p>
              <a:pPr marL="180000" latinLnBrk="1">
                <a:lnSpc>
                  <a:spcPct val="150000"/>
                </a:lnSpc>
              </a:pP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K-means, Mean Shift(Density Estimation, Kernel Function, Algorithm)</a:t>
              </a:r>
              <a:endParaRPr lang="ko-KR" altLang="en-US" sz="1400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552917C-0BBF-44AD-93E6-2D03EAF80E7A}"/>
                </a:ext>
              </a:extLst>
            </p:cNvPr>
            <p:cNvSpPr txBox="1"/>
            <p:nvPr/>
          </p:nvSpPr>
          <p:spPr>
            <a:xfrm>
              <a:off x="1340616" y="3922877"/>
              <a:ext cx="6994584" cy="73866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군집화 성능 측정</a:t>
              </a:r>
              <a:endParaRPr lang="en-US" altLang="ko-KR" sz="1400" b="1" spc="-70" dirty="0" smtClean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  <a:p>
              <a:pPr marL="180000" latinLnBrk="1">
                <a:lnSpc>
                  <a:spcPct val="150000"/>
                </a:lnSpc>
              </a:pPr>
              <a:r>
                <a:rPr lang="en-US" altLang="ko-KR" sz="1400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Silhouette Analysis</a:t>
              </a:r>
              <a:endParaRPr lang="ko-KR" altLang="en-US" sz="1400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72379BF-5EC3-4CF2-B22D-AFE2F6960578}"/>
                </a:ext>
              </a:extLst>
            </p:cNvPr>
            <p:cNvSpPr txBox="1"/>
            <p:nvPr/>
          </p:nvSpPr>
          <p:spPr>
            <a:xfrm>
              <a:off x="1292730" y="1733845"/>
              <a:ext cx="6994584" cy="41549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180000" latinLnBrk="1">
                <a:lnSpc>
                  <a:spcPct val="150000"/>
                </a:lnSpc>
              </a:pP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군집화 </a:t>
              </a:r>
              <a:r>
                <a:rPr lang="ko-KR" altLang="en-US" sz="1400" b="1" spc="-70" dirty="0" smtClean="0">
                  <a:latin typeface="NanumGothic" panose="020D0604000000000000" pitchFamily="34" charset="-127"/>
                  <a:ea typeface="NanumGothic" panose="020D0604000000000000" pitchFamily="34" charset="-127"/>
                  <a:cs typeface="함초롬돋움" panose="02030504000101010101" pitchFamily="18" charset="-127"/>
                </a:rPr>
                <a:t>개요</a:t>
              </a:r>
              <a:endParaRPr lang="en-US" altLang="ko-KR" sz="1400" b="1" spc="-70" dirty="0"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6EBABAC9-F368-604F-8F55-40C2DCBC1342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 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7CEC98-1545-2E45-BE6B-59CA16AD6021}"/>
              </a:ext>
            </a:extLst>
          </p:cNvPr>
          <p:cNvSpPr txBox="1"/>
          <p:nvPr/>
        </p:nvSpPr>
        <p:spPr>
          <a:xfrm>
            <a:off x="642646" y="4877827"/>
            <a:ext cx="64574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ko-KR" sz="2400" b="1" spc="-7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함초롬돋움" panose="02030504000101010101" pitchFamily="18" charset="-127"/>
              </a:rPr>
              <a:t>05</a:t>
            </a:r>
            <a:endParaRPr lang="ko-KR" altLang="en-US" sz="2400" b="1" spc="-7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함초롬돋움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373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3273417" y="3105835"/>
            <a:ext cx="2597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군집화 </a:t>
            </a:r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개요</a:t>
            </a:r>
            <a:endParaRPr kumimoji="1" lang="ko-KR" altLang="en-US" sz="3600" b="1" dirty="0">
              <a:solidFill>
                <a:prstClr val="black"/>
              </a:solidFill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792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나눔스퀘어_ac ExtraBold" panose="020B0600000101010101" pitchFamily="50" charset="-127"/>
              </a:rPr>
              <a:t>군집화 </a:t>
            </a:r>
            <a:r>
              <a:rPr lang="ko-KR" altLang="en-US" sz="2000" b="1" dirty="0" smtClean="0">
                <a:ea typeface="나눔스퀘어_ac ExtraBold" panose="020B0600000101010101" pitchFamily="50" charset="-127"/>
              </a:rPr>
              <a:t>개요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812" y="1093694"/>
            <a:ext cx="81847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B0F0"/>
                </a:solidFill>
              </a:rPr>
              <a:t>CASE : 2000</a:t>
            </a:r>
            <a:r>
              <a:rPr lang="ko-KR" altLang="en-US" b="1" dirty="0" smtClean="0">
                <a:solidFill>
                  <a:srgbClr val="00B0F0"/>
                </a:solidFill>
              </a:rPr>
              <a:t>년 미국 대선</a:t>
            </a:r>
            <a:endParaRPr lang="en-US" altLang="ko-KR" b="1" dirty="0" smtClean="0">
              <a:solidFill>
                <a:srgbClr val="00B0F0"/>
              </a:solidFill>
            </a:endParaRPr>
          </a:p>
          <a:p>
            <a:endParaRPr lang="en-US" altLang="ko-KR" dirty="0"/>
          </a:p>
          <a:p>
            <a:r>
              <a:rPr lang="en-US" altLang="ko-KR" dirty="0" smtClean="0"/>
              <a:t>2000</a:t>
            </a:r>
            <a:r>
              <a:rPr lang="ko-KR" altLang="en-US" dirty="0" smtClean="0"/>
              <a:t>년 </a:t>
            </a:r>
            <a:r>
              <a:rPr lang="en-US" altLang="ko-KR" dirty="0" smtClean="0"/>
              <a:t>11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7</a:t>
            </a:r>
            <a:r>
              <a:rPr lang="ko-KR" altLang="en-US" dirty="0" smtClean="0"/>
              <a:t>일부터 </a:t>
            </a:r>
            <a:r>
              <a:rPr lang="en-US" altLang="ko-KR" dirty="0" smtClean="0"/>
              <a:t>8</a:t>
            </a:r>
            <a:r>
              <a:rPr lang="ko-KR" altLang="en-US" dirty="0" smtClean="0"/>
              <a:t>일까지 이틀에 걸친 선거 투표 결과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당시 공화당 소속 후보인 조지 </a:t>
            </a:r>
            <a:r>
              <a:rPr lang="en-US" altLang="ko-KR" dirty="0" smtClean="0"/>
              <a:t>W.</a:t>
            </a:r>
            <a:r>
              <a:rPr lang="ko-KR" altLang="en-US" dirty="0" smtClean="0"/>
              <a:t>부시가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민주당 후보 앨 고어에 전국 </a:t>
            </a:r>
            <a:r>
              <a:rPr lang="ko-KR" altLang="en-US" dirty="0"/>
              <a:t>득</a:t>
            </a:r>
            <a:r>
              <a:rPr lang="ko-KR" altLang="en-US" dirty="0" smtClean="0"/>
              <a:t>표율에서 </a:t>
            </a:r>
            <a:r>
              <a:rPr lang="en-US" altLang="ko-KR" dirty="0" smtClean="0"/>
              <a:t>0.5 </a:t>
            </a:r>
            <a:r>
              <a:rPr lang="ko-KR" altLang="en-US" dirty="0" smtClean="0"/>
              <a:t>포인트가 낮았었다</a:t>
            </a:r>
            <a:r>
              <a:rPr lang="en-US" altLang="ko-KR" dirty="0" smtClean="0"/>
              <a:t>. (47.9% vs 48.4%)</a:t>
            </a:r>
          </a:p>
          <a:p>
            <a:endParaRPr lang="en-US" altLang="ko-KR" dirty="0"/>
          </a:p>
          <a:p>
            <a:r>
              <a:rPr lang="ko-KR" altLang="en-US" dirty="0" smtClean="0"/>
              <a:t>그러나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선거인단 수에서 </a:t>
            </a:r>
            <a:r>
              <a:rPr lang="en-US" altLang="ko-KR" dirty="0" smtClean="0"/>
              <a:t>5</a:t>
            </a:r>
            <a:r>
              <a:rPr lang="ko-KR" altLang="en-US" dirty="0" smtClean="0"/>
              <a:t>명이 앞서</a:t>
            </a:r>
            <a:r>
              <a:rPr lang="en-US" altLang="ko-KR" dirty="0" smtClean="0"/>
              <a:t>(271</a:t>
            </a:r>
            <a:r>
              <a:rPr lang="ko-KR" altLang="en-US" dirty="0" smtClean="0"/>
              <a:t>명 </a:t>
            </a:r>
            <a:r>
              <a:rPr lang="en-US" altLang="ko-KR" dirty="0" smtClean="0"/>
              <a:t>vs 266</a:t>
            </a:r>
            <a:r>
              <a:rPr lang="ko-KR" altLang="en-US" dirty="0" smtClean="0"/>
              <a:t>명</a:t>
            </a:r>
            <a:r>
              <a:rPr lang="en-US" altLang="ko-KR" dirty="0" smtClean="0"/>
              <a:t>) </a:t>
            </a:r>
            <a:r>
              <a:rPr lang="ko-KR" altLang="en-US" dirty="0" smtClean="0"/>
              <a:t>최종 대통령 당선자는 부시가 되었다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여기서 우리는 전체 선거 집단을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일정한 기준에 의해 몇 개의 특정한 그룹으로 나누는 것을 생각해볼 수 있다</a:t>
            </a:r>
            <a:r>
              <a:rPr lang="en-US" altLang="ko-KR" dirty="0" smtClean="0"/>
              <a:t>. </a:t>
            </a:r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또한 이 결과를 통해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그룹마다 선거 전략을 특성화 하는 것을 생각할 수 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이를 통해</a:t>
            </a:r>
            <a:r>
              <a:rPr lang="en-US" altLang="ko-KR" dirty="0" smtClean="0"/>
              <a:t>,  </a:t>
            </a:r>
            <a:r>
              <a:rPr lang="ko-KR" altLang="en-US" b="1" dirty="0"/>
              <a:t>선거 </a:t>
            </a:r>
            <a:r>
              <a:rPr lang="ko-KR" altLang="en-US" b="1" dirty="0" smtClean="0"/>
              <a:t>유세로 소수의 </a:t>
            </a:r>
            <a:r>
              <a:rPr lang="ko-KR" altLang="en-US" b="1" dirty="0"/>
              <a:t>선거인단 그룹의 마음을 돌렸다면</a:t>
            </a:r>
            <a:r>
              <a:rPr lang="en-US" altLang="ko-KR" dirty="0"/>
              <a:t>, </a:t>
            </a:r>
            <a:r>
              <a:rPr lang="ko-KR" altLang="en-US" dirty="0" smtClean="0"/>
              <a:t>대선 결과는 달라졌을 </a:t>
            </a:r>
            <a:r>
              <a:rPr lang="ko-KR" altLang="en-US" dirty="0"/>
              <a:t>것이다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587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나눔스퀘어_ac ExtraBold" panose="020B0600000101010101" pitchFamily="50" charset="-127"/>
              </a:rPr>
              <a:t>군집화 </a:t>
            </a:r>
            <a:r>
              <a:rPr lang="ko-KR" altLang="en-US" sz="2000" b="1" dirty="0" smtClean="0">
                <a:ea typeface="나눔스퀘어_ac ExtraBold" panose="020B0600000101010101" pitchFamily="50" charset="-127"/>
              </a:rPr>
              <a:t>개요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4118" y="1093694"/>
            <a:ext cx="873134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B0F0"/>
                </a:solidFill>
              </a:rPr>
              <a:t>CASE : 2000</a:t>
            </a:r>
            <a:r>
              <a:rPr lang="ko-KR" altLang="en-US" b="1" dirty="0" smtClean="0">
                <a:solidFill>
                  <a:srgbClr val="00B0F0"/>
                </a:solidFill>
              </a:rPr>
              <a:t>년 미국 대선</a:t>
            </a:r>
            <a:endParaRPr lang="en-US" altLang="ko-KR" b="1" dirty="0" smtClean="0">
              <a:solidFill>
                <a:srgbClr val="00B0F0"/>
              </a:solidFill>
            </a:endParaRPr>
          </a:p>
          <a:p>
            <a:endParaRPr lang="en-US" altLang="ko-KR" b="1" dirty="0">
              <a:solidFill>
                <a:srgbClr val="00B0F0"/>
              </a:solidFill>
            </a:endParaRPr>
          </a:p>
          <a:p>
            <a:r>
              <a:rPr lang="en-US" altLang="ko-KR" sz="2400" b="1" dirty="0" smtClean="0">
                <a:solidFill>
                  <a:srgbClr val="00B050"/>
                </a:solidFill>
              </a:rPr>
              <a:t>Mission</a:t>
            </a:r>
            <a:r>
              <a:rPr lang="en-US" altLang="ko-KR" sz="2400" b="1" dirty="0">
                <a:solidFill>
                  <a:srgbClr val="00B050"/>
                </a:solidFill>
              </a:rPr>
              <a:t> </a:t>
            </a:r>
            <a:r>
              <a:rPr lang="en-US" altLang="ko-KR" sz="2400" b="1" dirty="0" smtClean="0">
                <a:solidFill>
                  <a:srgbClr val="00B050"/>
                </a:solidFill>
              </a:rPr>
              <a:t>list</a:t>
            </a:r>
          </a:p>
          <a:p>
            <a:endParaRPr lang="en-US" altLang="ko-KR" sz="2400" b="1" dirty="0" smtClean="0">
              <a:solidFill>
                <a:srgbClr val="00B050"/>
              </a:solidFill>
            </a:endParaRPr>
          </a:p>
          <a:p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 smtClean="0"/>
              <a:t>투표자의 개개인의 정보를 얻는다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 정보에서 </a:t>
            </a:r>
            <a:r>
              <a:rPr lang="ko-KR" altLang="en-US" b="1" dirty="0" smtClean="0">
                <a:solidFill>
                  <a:srgbClr val="FF0000"/>
                </a:solidFill>
              </a:rPr>
              <a:t>어떠한 요소들이</a:t>
            </a:r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(Feature)</a:t>
            </a:r>
            <a:r>
              <a:rPr lang="en-US" altLang="ko-KR" b="1" dirty="0" smtClean="0"/>
              <a:t> </a:t>
            </a:r>
            <a:r>
              <a:rPr lang="ko-KR" altLang="en-US" dirty="0" smtClean="0"/>
              <a:t>투표 결과에 영향을 끼칠 수 있는지 알려줄 수 있다</a:t>
            </a:r>
            <a:r>
              <a:rPr lang="en-US" altLang="ko-KR" dirty="0" smtClean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2.   </a:t>
            </a:r>
            <a:r>
              <a:rPr lang="ko-KR" altLang="en-US" b="1" dirty="0" smtClean="0">
                <a:solidFill>
                  <a:srgbClr val="FF0000"/>
                </a:solidFill>
              </a:rPr>
              <a:t>여러가지 정보</a:t>
            </a:r>
            <a:r>
              <a:rPr lang="ko-KR" altLang="en-US" dirty="0" smtClean="0"/>
              <a:t>들을 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Feature</a:t>
            </a:r>
            <a:r>
              <a:rPr lang="en-US" altLang="ko-KR" b="1" dirty="0" smtClean="0">
                <a:solidFill>
                  <a:srgbClr val="FF0000"/>
                </a:solidFill>
              </a:rPr>
              <a:t>) </a:t>
            </a:r>
            <a:r>
              <a:rPr lang="ko-KR" altLang="en-US" dirty="0" smtClean="0"/>
              <a:t>기준으로 하여</a:t>
            </a:r>
            <a:r>
              <a:rPr lang="en-US" altLang="ko-KR" dirty="0" smtClean="0"/>
              <a:t>, </a:t>
            </a:r>
            <a:r>
              <a:rPr lang="ko-KR" altLang="en-US" b="1" dirty="0" smtClean="0">
                <a:solidFill>
                  <a:srgbClr val="FF0000"/>
                </a:solidFill>
              </a:rPr>
              <a:t>몇 개의 특정 그룹</a:t>
            </a:r>
            <a:r>
              <a:rPr lang="en-US" altLang="ko-KR" b="1" dirty="0" smtClean="0">
                <a:solidFill>
                  <a:srgbClr val="FF0000"/>
                </a:solidFill>
              </a:rPr>
              <a:t>(Cluster)</a:t>
            </a:r>
            <a:r>
              <a:rPr lang="ko-KR" altLang="en-US" dirty="0" smtClean="0"/>
              <a:t>로 나눈다</a:t>
            </a:r>
            <a:r>
              <a:rPr lang="en-US" altLang="ko-KR" dirty="0" smtClean="0"/>
              <a:t>. </a:t>
            </a:r>
          </a:p>
          <a:p>
            <a:r>
              <a:rPr lang="en-US" altLang="ko-KR" sz="1600" dirty="0"/>
              <a:t> </a:t>
            </a:r>
            <a:r>
              <a:rPr lang="en-US" altLang="ko-KR" sz="1600" dirty="0" smtClean="0"/>
              <a:t>    (EX : </a:t>
            </a:r>
            <a:r>
              <a:rPr lang="ko-KR" altLang="en-US" sz="1600" dirty="0" smtClean="0"/>
              <a:t>분위기에 편승하는 그룹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특정 정당을 지지하는 그룹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공약 내용에 초점을 맞추는 그룹 등</a:t>
            </a:r>
            <a:r>
              <a:rPr lang="en-US" altLang="ko-KR" sz="1600" dirty="0" smtClean="0"/>
              <a:t>)</a:t>
            </a:r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 smtClean="0"/>
              <a:t>3.   </a:t>
            </a:r>
            <a:r>
              <a:rPr lang="ko-KR" altLang="en-US" dirty="0" smtClean="0"/>
              <a:t>각 그룹의 유권자들에게 특화된 선거 전략을 세운다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75517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나눔스퀘어_ac ExtraBold" panose="020B0600000101010101" pitchFamily="50" charset="-127"/>
              </a:rPr>
              <a:t>군집화 </a:t>
            </a:r>
            <a:r>
              <a:rPr lang="ko-KR" altLang="en-US" sz="2000" b="1" dirty="0" smtClean="0">
                <a:ea typeface="나눔스퀘어_ac ExtraBold" panose="020B0600000101010101" pitchFamily="50" charset="-127"/>
              </a:rPr>
              <a:t>개요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2079811" y="2691840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2368176" y="243691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2708835" y="243577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2408518" y="2702273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2880657" y="2692109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2795378" y="2950184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2240420" y="2987105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>
            <a:off x="2520577" y="3000602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2128362" y="239657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>
            <a:off x="2150017" y="2478533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>
            <a:off x="2438382" y="2223609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2779041" y="2222469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2478724" y="248896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2950863" y="2478802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2865584" y="2736877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/>
          <p:cNvSpPr/>
          <p:nvPr/>
        </p:nvSpPr>
        <p:spPr>
          <a:xfrm>
            <a:off x="2310626" y="2773798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/>
          <p:cNvSpPr/>
          <p:nvPr/>
        </p:nvSpPr>
        <p:spPr>
          <a:xfrm>
            <a:off x="2590783" y="2787295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2198568" y="2183269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2671463" y="2554484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/>
          <p:cNvSpPr/>
          <p:nvPr/>
        </p:nvSpPr>
        <p:spPr>
          <a:xfrm>
            <a:off x="2959828" y="2299560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/>
          <p:cNvSpPr/>
          <p:nvPr/>
        </p:nvSpPr>
        <p:spPr>
          <a:xfrm>
            <a:off x="3300487" y="2298420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/>
          <p:cNvSpPr/>
          <p:nvPr/>
        </p:nvSpPr>
        <p:spPr>
          <a:xfrm>
            <a:off x="3000170" y="2564917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/>
          <p:cNvSpPr/>
          <p:nvPr/>
        </p:nvSpPr>
        <p:spPr>
          <a:xfrm>
            <a:off x="3279570" y="2572142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/>
          <p:cNvSpPr/>
          <p:nvPr/>
        </p:nvSpPr>
        <p:spPr>
          <a:xfrm>
            <a:off x="3387030" y="2812828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/>
          <p:cNvSpPr/>
          <p:nvPr/>
        </p:nvSpPr>
        <p:spPr>
          <a:xfrm>
            <a:off x="2832072" y="2849749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/>
          <p:cNvSpPr/>
          <p:nvPr/>
        </p:nvSpPr>
        <p:spPr>
          <a:xfrm>
            <a:off x="3112229" y="286324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/>
          <p:cNvSpPr/>
          <p:nvPr/>
        </p:nvSpPr>
        <p:spPr>
          <a:xfrm>
            <a:off x="2720014" y="2259220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/>
          <p:cNvSpPr/>
          <p:nvPr/>
        </p:nvSpPr>
        <p:spPr>
          <a:xfrm>
            <a:off x="4114799" y="2132175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/>
          <p:cNvSpPr/>
          <p:nvPr/>
        </p:nvSpPr>
        <p:spPr>
          <a:xfrm>
            <a:off x="4403164" y="187725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/>
          <p:cNvSpPr/>
          <p:nvPr/>
        </p:nvSpPr>
        <p:spPr>
          <a:xfrm>
            <a:off x="4743823" y="187611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/>
          <p:cNvSpPr/>
          <p:nvPr/>
        </p:nvSpPr>
        <p:spPr>
          <a:xfrm>
            <a:off x="4443506" y="2142608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/>
          <p:cNvSpPr/>
          <p:nvPr/>
        </p:nvSpPr>
        <p:spPr>
          <a:xfrm>
            <a:off x="4915645" y="2132444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/>
          <p:cNvSpPr/>
          <p:nvPr/>
        </p:nvSpPr>
        <p:spPr>
          <a:xfrm>
            <a:off x="4830366" y="2390519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/>
          <p:cNvSpPr/>
          <p:nvPr/>
        </p:nvSpPr>
        <p:spPr>
          <a:xfrm>
            <a:off x="4275408" y="2427440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/>
          <p:cNvSpPr/>
          <p:nvPr/>
        </p:nvSpPr>
        <p:spPr>
          <a:xfrm>
            <a:off x="4555565" y="2440937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/>
          <p:cNvSpPr/>
          <p:nvPr/>
        </p:nvSpPr>
        <p:spPr>
          <a:xfrm>
            <a:off x="4163350" y="183691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/>
          <p:cNvSpPr/>
          <p:nvPr/>
        </p:nvSpPr>
        <p:spPr>
          <a:xfrm>
            <a:off x="4185005" y="1918868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/>
          <p:cNvSpPr/>
          <p:nvPr/>
        </p:nvSpPr>
        <p:spPr>
          <a:xfrm>
            <a:off x="4473370" y="1663944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/>
          <p:cNvSpPr/>
          <p:nvPr/>
        </p:nvSpPr>
        <p:spPr>
          <a:xfrm>
            <a:off x="4814029" y="1662804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/>
          <p:cNvSpPr/>
          <p:nvPr/>
        </p:nvSpPr>
        <p:spPr>
          <a:xfrm>
            <a:off x="4513712" y="192930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/>
          <p:cNvSpPr/>
          <p:nvPr/>
        </p:nvSpPr>
        <p:spPr>
          <a:xfrm>
            <a:off x="4985851" y="1919137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/>
          <p:cNvSpPr/>
          <p:nvPr/>
        </p:nvSpPr>
        <p:spPr>
          <a:xfrm>
            <a:off x="4900572" y="2177212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/>
          <p:cNvSpPr/>
          <p:nvPr/>
        </p:nvSpPr>
        <p:spPr>
          <a:xfrm>
            <a:off x="4345614" y="2214133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4625771" y="2227630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타원 89"/>
          <p:cNvSpPr/>
          <p:nvPr/>
        </p:nvSpPr>
        <p:spPr>
          <a:xfrm>
            <a:off x="4233556" y="1623604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4706451" y="1994819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/>
          <p:cNvSpPr/>
          <p:nvPr/>
        </p:nvSpPr>
        <p:spPr>
          <a:xfrm>
            <a:off x="4994816" y="1739895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/>
          <p:cNvSpPr/>
          <p:nvPr/>
        </p:nvSpPr>
        <p:spPr>
          <a:xfrm>
            <a:off x="5335475" y="1738755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/>
          <p:cNvSpPr/>
          <p:nvPr/>
        </p:nvSpPr>
        <p:spPr>
          <a:xfrm>
            <a:off x="5035158" y="2005252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타원 94"/>
          <p:cNvSpPr/>
          <p:nvPr/>
        </p:nvSpPr>
        <p:spPr>
          <a:xfrm>
            <a:off x="5314558" y="2012477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/>
          <p:cNvSpPr/>
          <p:nvPr/>
        </p:nvSpPr>
        <p:spPr>
          <a:xfrm>
            <a:off x="5422018" y="2253163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/>
          <p:cNvSpPr/>
          <p:nvPr/>
        </p:nvSpPr>
        <p:spPr>
          <a:xfrm>
            <a:off x="4867060" y="2290084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/>
          <p:cNvSpPr/>
          <p:nvPr/>
        </p:nvSpPr>
        <p:spPr>
          <a:xfrm>
            <a:off x="5147217" y="230358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/>
          <p:cNvSpPr/>
          <p:nvPr/>
        </p:nvSpPr>
        <p:spPr>
          <a:xfrm>
            <a:off x="4755002" y="1699555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/>
          <p:cNvSpPr/>
          <p:nvPr/>
        </p:nvSpPr>
        <p:spPr>
          <a:xfrm>
            <a:off x="3679896" y="3742309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타원 100"/>
          <p:cNvSpPr/>
          <p:nvPr/>
        </p:nvSpPr>
        <p:spPr>
          <a:xfrm>
            <a:off x="3968261" y="348738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/>
          <p:cNvSpPr/>
          <p:nvPr/>
        </p:nvSpPr>
        <p:spPr>
          <a:xfrm>
            <a:off x="4308920" y="348624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/>
          <p:cNvSpPr/>
          <p:nvPr/>
        </p:nvSpPr>
        <p:spPr>
          <a:xfrm>
            <a:off x="4008603" y="3752742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/>
          <p:cNvSpPr/>
          <p:nvPr/>
        </p:nvSpPr>
        <p:spPr>
          <a:xfrm>
            <a:off x="4480742" y="3742578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/>
          <p:cNvSpPr/>
          <p:nvPr/>
        </p:nvSpPr>
        <p:spPr>
          <a:xfrm>
            <a:off x="4395463" y="4000653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/>
          <p:cNvSpPr/>
          <p:nvPr/>
        </p:nvSpPr>
        <p:spPr>
          <a:xfrm>
            <a:off x="3840505" y="4037574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/>
          <p:cNvSpPr/>
          <p:nvPr/>
        </p:nvSpPr>
        <p:spPr>
          <a:xfrm>
            <a:off x="4120662" y="4051071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/>
          <p:cNvSpPr/>
          <p:nvPr/>
        </p:nvSpPr>
        <p:spPr>
          <a:xfrm>
            <a:off x="3728447" y="344704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/>
          <p:cNvSpPr/>
          <p:nvPr/>
        </p:nvSpPr>
        <p:spPr>
          <a:xfrm>
            <a:off x="3750102" y="3529002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/>
          <p:cNvSpPr/>
          <p:nvPr/>
        </p:nvSpPr>
        <p:spPr>
          <a:xfrm>
            <a:off x="4038467" y="3274078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/>
          <p:cNvSpPr/>
          <p:nvPr/>
        </p:nvSpPr>
        <p:spPr>
          <a:xfrm>
            <a:off x="4379126" y="3272938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/>
          <p:cNvSpPr/>
          <p:nvPr/>
        </p:nvSpPr>
        <p:spPr>
          <a:xfrm>
            <a:off x="4078809" y="353943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타원 112"/>
          <p:cNvSpPr/>
          <p:nvPr/>
        </p:nvSpPr>
        <p:spPr>
          <a:xfrm>
            <a:off x="4550948" y="3529271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>
            <a:off x="4465669" y="3787346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타원 114"/>
          <p:cNvSpPr/>
          <p:nvPr/>
        </p:nvSpPr>
        <p:spPr>
          <a:xfrm>
            <a:off x="3910711" y="3824267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타원 115"/>
          <p:cNvSpPr/>
          <p:nvPr/>
        </p:nvSpPr>
        <p:spPr>
          <a:xfrm>
            <a:off x="4190868" y="3837764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7" name="타원 116"/>
          <p:cNvSpPr/>
          <p:nvPr/>
        </p:nvSpPr>
        <p:spPr>
          <a:xfrm>
            <a:off x="3798653" y="3233738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/>
          <p:cNvSpPr/>
          <p:nvPr/>
        </p:nvSpPr>
        <p:spPr>
          <a:xfrm>
            <a:off x="4271548" y="3604953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/>
          <p:cNvSpPr/>
          <p:nvPr/>
        </p:nvSpPr>
        <p:spPr>
          <a:xfrm>
            <a:off x="4559913" y="3350029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/>
          <p:cNvSpPr/>
          <p:nvPr/>
        </p:nvSpPr>
        <p:spPr>
          <a:xfrm>
            <a:off x="4900572" y="3348889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타원 120"/>
          <p:cNvSpPr/>
          <p:nvPr/>
        </p:nvSpPr>
        <p:spPr>
          <a:xfrm>
            <a:off x="4600255" y="3615386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타원 121"/>
          <p:cNvSpPr/>
          <p:nvPr/>
        </p:nvSpPr>
        <p:spPr>
          <a:xfrm>
            <a:off x="4879655" y="3622611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/>
          <p:cNvSpPr/>
          <p:nvPr/>
        </p:nvSpPr>
        <p:spPr>
          <a:xfrm>
            <a:off x="4987115" y="3863297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타원 123"/>
          <p:cNvSpPr/>
          <p:nvPr/>
        </p:nvSpPr>
        <p:spPr>
          <a:xfrm>
            <a:off x="4432157" y="3900218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타원 124"/>
          <p:cNvSpPr/>
          <p:nvPr/>
        </p:nvSpPr>
        <p:spPr>
          <a:xfrm>
            <a:off x="4712314" y="391371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타원 125"/>
          <p:cNvSpPr/>
          <p:nvPr/>
        </p:nvSpPr>
        <p:spPr>
          <a:xfrm>
            <a:off x="4320099" y="3309689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타원 126"/>
          <p:cNvSpPr/>
          <p:nvPr/>
        </p:nvSpPr>
        <p:spPr>
          <a:xfrm>
            <a:off x="2959828" y="1902705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타원 127"/>
          <p:cNvSpPr/>
          <p:nvPr/>
        </p:nvSpPr>
        <p:spPr>
          <a:xfrm>
            <a:off x="2565741" y="1824833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타원 128"/>
          <p:cNvSpPr/>
          <p:nvPr/>
        </p:nvSpPr>
        <p:spPr>
          <a:xfrm>
            <a:off x="3240711" y="1863977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타원 129"/>
          <p:cNvSpPr/>
          <p:nvPr/>
        </p:nvSpPr>
        <p:spPr>
          <a:xfrm>
            <a:off x="3451395" y="3593779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타원 130"/>
          <p:cNvSpPr/>
          <p:nvPr/>
        </p:nvSpPr>
        <p:spPr>
          <a:xfrm>
            <a:off x="3297365" y="3889108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타원 131"/>
          <p:cNvSpPr/>
          <p:nvPr/>
        </p:nvSpPr>
        <p:spPr>
          <a:xfrm>
            <a:off x="4111796" y="3001767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타원 132"/>
          <p:cNvSpPr/>
          <p:nvPr/>
        </p:nvSpPr>
        <p:spPr>
          <a:xfrm>
            <a:off x="4395463" y="3037974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타원 133"/>
          <p:cNvSpPr/>
          <p:nvPr/>
        </p:nvSpPr>
        <p:spPr>
          <a:xfrm>
            <a:off x="2188866" y="3431816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타원 134"/>
          <p:cNvSpPr/>
          <p:nvPr/>
        </p:nvSpPr>
        <p:spPr>
          <a:xfrm>
            <a:off x="4689786" y="3101904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타원 135"/>
          <p:cNvSpPr/>
          <p:nvPr/>
        </p:nvSpPr>
        <p:spPr>
          <a:xfrm>
            <a:off x="2593636" y="3377472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/>
          <p:cNvSpPr/>
          <p:nvPr/>
        </p:nvSpPr>
        <p:spPr>
          <a:xfrm>
            <a:off x="1992740" y="3099824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타원 137"/>
          <p:cNvSpPr/>
          <p:nvPr/>
        </p:nvSpPr>
        <p:spPr>
          <a:xfrm>
            <a:off x="5766687" y="2706313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/>
          <p:cNvSpPr/>
          <p:nvPr/>
        </p:nvSpPr>
        <p:spPr>
          <a:xfrm>
            <a:off x="6130097" y="3018751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286870" y="4486632"/>
            <a:ext cx="86685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</a:t>
            </a:r>
            <a:r>
              <a:rPr lang="ko-KR" altLang="en-US" dirty="0" smtClean="0"/>
              <a:t>각 데이터 포인트들을 한데 모아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별개의 군집으로 그룹화 하는 과정을 의미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유사성이 높은 데이터들을 동일한 그룹에  할당하고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서로 다른 군집이 상이성을   가지도록 그룹화한다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41" name="타원 140"/>
          <p:cNvSpPr/>
          <p:nvPr/>
        </p:nvSpPr>
        <p:spPr>
          <a:xfrm>
            <a:off x="5094656" y="1117287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타원 141"/>
          <p:cNvSpPr/>
          <p:nvPr/>
        </p:nvSpPr>
        <p:spPr>
          <a:xfrm>
            <a:off x="5387658" y="1154735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타원 142"/>
          <p:cNvSpPr/>
          <p:nvPr/>
        </p:nvSpPr>
        <p:spPr>
          <a:xfrm>
            <a:off x="3777130" y="1224638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타원 143"/>
          <p:cNvSpPr/>
          <p:nvPr/>
        </p:nvSpPr>
        <p:spPr>
          <a:xfrm>
            <a:off x="4816769" y="1117287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440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나눔스퀘어_ac ExtraBold" panose="020B0600000101010101" pitchFamily="50" charset="-127"/>
              </a:rPr>
              <a:t>군집화 </a:t>
            </a:r>
            <a:r>
              <a:rPr lang="ko-KR" altLang="en-US" sz="2000" b="1" dirty="0" smtClean="0">
                <a:ea typeface="나눔스퀘어_ac ExtraBold" panose="020B0600000101010101" pitchFamily="50" charset="-127"/>
              </a:rPr>
              <a:t>개요</a:t>
            </a:r>
            <a:endParaRPr lang="en-US" altLang="ko-KR" sz="2000" b="1" dirty="0">
              <a:ea typeface="나눔스퀘어_ac ExtraBold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555757" y="1271453"/>
            <a:ext cx="827447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군집화 활용 분야</a:t>
            </a:r>
            <a:endParaRPr lang="en-US" altLang="ko-KR" sz="2000" dirty="0" smtClean="0"/>
          </a:p>
          <a:p>
            <a:endParaRPr lang="en-US" altLang="ko-KR" sz="2000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고객에 대한 </a:t>
            </a:r>
            <a:r>
              <a:rPr lang="en-US" altLang="ko-KR" dirty="0" smtClean="0"/>
              <a:t>Segmentation</a:t>
            </a:r>
            <a:r>
              <a:rPr lang="ko-KR" altLang="en-US" dirty="0" smtClean="0"/>
              <a:t>을 통한 마케팅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Object Detection, Image Tracking</a:t>
            </a:r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이상치 검출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검색 엔진 내부에서 키워드 검색 결과를 그룹화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r>
              <a:rPr lang="en-US" altLang="ko-KR" b="1" dirty="0" smtClean="0">
                <a:solidFill>
                  <a:srgbClr val="00B0F0"/>
                </a:solidFill>
              </a:rPr>
              <a:t>-&gt;</a:t>
            </a:r>
            <a:r>
              <a:rPr lang="en-US" altLang="ko-KR" dirty="0" smtClean="0"/>
              <a:t> </a:t>
            </a:r>
            <a:r>
              <a:rPr lang="ko-KR" altLang="en-US" b="1" dirty="0" smtClean="0">
                <a:solidFill>
                  <a:srgbClr val="00B0F0"/>
                </a:solidFill>
              </a:rPr>
              <a:t>군집화 과정에 기반이 되는 유사성을 어떻게 정의할 것인지가 관건</a:t>
            </a:r>
            <a:endParaRPr lang="en-US" altLang="ko-KR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39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3042585" y="3105835"/>
            <a:ext cx="30588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거리와 유사성</a:t>
            </a:r>
            <a:endParaRPr kumimoji="1" lang="ko-KR" altLang="en-US" sz="3600" b="1" dirty="0">
              <a:solidFill>
                <a:prstClr val="black"/>
              </a:solidFill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93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거리와 유사성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4798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거리와 유사성 간 관계</a:t>
            </a: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타원 1"/>
          <p:cNvSpPr/>
          <p:nvPr/>
        </p:nvSpPr>
        <p:spPr>
          <a:xfrm>
            <a:off x="1308846" y="2296811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1597211" y="2041887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1937870" y="2040747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1637553" y="2307244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3112246" y="1857581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3772506" y="2297081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2109692" y="2297080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3901135" y="3164190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3945956" y="1725825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3945955" y="1997064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4193848" y="2247121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3322913" y="3318376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/>
          <p:cNvSpPr/>
          <p:nvPr/>
        </p:nvSpPr>
        <p:spPr>
          <a:xfrm>
            <a:off x="4241793" y="3349602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4241794" y="3001651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3555995" y="3164189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2024413" y="2555155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1469455" y="2592076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4286622" y="1913508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6192997" y="2598675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5877853" y="2668834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5968880" y="2883987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1749612" y="2605573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/>
          <p:cNvSpPr/>
          <p:nvPr/>
        </p:nvSpPr>
        <p:spPr>
          <a:xfrm>
            <a:off x="1357397" y="2001547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5653736" y="2908238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5989911" y="1717888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556541"/>
              </p:ext>
            </p:extLst>
          </p:nvPr>
        </p:nvGraphicFramePr>
        <p:xfrm>
          <a:off x="2274044" y="4104132"/>
          <a:ext cx="438673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223">
                  <a:extLst>
                    <a:ext uri="{9D8B030D-6E8A-4147-A177-3AD203B41FA5}">
                      <a16:colId xmlns:a16="http://schemas.microsoft.com/office/drawing/2014/main" val="1792495664"/>
                    </a:ext>
                  </a:extLst>
                </a:gridCol>
                <a:gridCol w="1406223">
                  <a:extLst>
                    <a:ext uri="{9D8B030D-6E8A-4147-A177-3AD203B41FA5}">
                      <a16:colId xmlns:a16="http://schemas.microsoft.com/office/drawing/2014/main" val="2351919172"/>
                    </a:ext>
                  </a:extLst>
                </a:gridCol>
                <a:gridCol w="1574286">
                  <a:extLst>
                    <a:ext uri="{9D8B030D-6E8A-4147-A177-3AD203B41FA5}">
                      <a16:colId xmlns:a16="http://schemas.microsoft.com/office/drawing/2014/main" val="32693756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연체 일자</a:t>
                      </a:r>
                      <a:endParaRPr lang="ko-KR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월 소득</a:t>
                      </a:r>
                      <a:endParaRPr lang="ko-KR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총 채무 금액</a:t>
                      </a:r>
                      <a:endParaRPr lang="ko-KR" altLang="en-US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594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540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2100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87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400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493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938460"/>
                  </a:ext>
                </a:extLst>
              </a:tr>
            </a:tbl>
          </a:graphicData>
        </a:graphic>
      </p:graphicFrame>
      <p:cxnSp>
        <p:nvCxnSpPr>
          <p:cNvPr id="6" name="직선 화살표 연결선 5"/>
          <p:cNvCxnSpPr>
            <a:endCxn id="41" idx="4"/>
          </p:cNvCxnSpPr>
          <p:nvPr/>
        </p:nvCxnSpPr>
        <p:spPr>
          <a:xfrm flipH="1" flipV="1">
            <a:off x="1861671" y="2820726"/>
            <a:ext cx="630517" cy="18229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endCxn id="36" idx="4"/>
          </p:cNvCxnSpPr>
          <p:nvPr/>
        </p:nvCxnSpPr>
        <p:spPr>
          <a:xfrm flipH="1" flipV="1">
            <a:off x="1581514" y="2807229"/>
            <a:ext cx="794879" cy="22489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endCxn id="31" idx="4"/>
          </p:cNvCxnSpPr>
          <p:nvPr/>
        </p:nvCxnSpPr>
        <p:spPr>
          <a:xfrm flipV="1">
            <a:off x="3224304" y="3533529"/>
            <a:ext cx="210668" cy="18632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endCxn id="34" idx="4"/>
          </p:cNvCxnSpPr>
          <p:nvPr/>
        </p:nvCxnSpPr>
        <p:spPr>
          <a:xfrm flipV="1">
            <a:off x="3309470" y="3379342"/>
            <a:ext cx="358584" cy="247793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30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거리와 유사성</a:t>
            </a:r>
            <a:r>
              <a:rPr lang="en-US" altLang="ko-KR" sz="2000" b="1" dirty="0" smtClean="0">
                <a:ea typeface="NanumGothic" panose="020D0604000000000000"/>
              </a:rPr>
              <a:t>(</a:t>
            </a:r>
            <a:r>
              <a:rPr lang="ko-KR" altLang="en-US" sz="2000" b="1" dirty="0" smtClean="0">
                <a:ea typeface="NanumGothic" panose="020D0604000000000000"/>
              </a:rPr>
              <a:t>대표적 거리 측정 방법</a:t>
            </a:r>
            <a:r>
              <a:rPr lang="en-US" altLang="ko-KR" sz="2000" b="1" dirty="0" smtClean="0">
                <a:ea typeface="NanumGothic" panose="020D0604000000000000"/>
              </a:rPr>
              <a:t>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latinLnBrk="1">
              <a:spcAft>
                <a:spcPts val="600"/>
              </a:spcAft>
              <a:buAutoNum type="arabicPeriod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Euclidean Distance</a:t>
            </a: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대표적으로 사용하는 기하학적 거리 측정 방식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계산 방식은 아래와 같음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1480670" y="4927382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3026944" y="3993346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47059" y="3548288"/>
                <a:ext cx="2244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059" y="3548288"/>
                <a:ext cx="2244140" cy="276999"/>
              </a:xfrm>
              <a:prstGeom prst="rect">
                <a:avLst/>
              </a:prstGeom>
              <a:blipFill>
                <a:blip r:embed="rId4"/>
                <a:stretch>
                  <a:fillRect l="-3804" t="-28261" r="-5435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88730" y="5213960"/>
                <a:ext cx="22758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30" y="5213960"/>
                <a:ext cx="2275816" cy="276999"/>
              </a:xfrm>
              <a:prstGeom prst="rect">
                <a:avLst/>
              </a:prstGeom>
              <a:blipFill>
                <a:blip r:embed="rId5"/>
                <a:stretch>
                  <a:fillRect l="-3753" t="-28261" r="-5362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/>
          <p:cNvCxnSpPr/>
          <p:nvPr/>
        </p:nvCxnSpPr>
        <p:spPr>
          <a:xfrm flipH="1">
            <a:off x="1704787" y="4176990"/>
            <a:ext cx="1354978" cy="85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43" idx="2"/>
          </p:cNvCxnSpPr>
          <p:nvPr/>
        </p:nvCxnSpPr>
        <p:spPr>
          <a:xfrm flipH="1" flipV="1">
            <a:off x="1592727" y="4100922"/>
            <a:ext cx="1434217" cy="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endCxn id="42" idx="0"/>
          </p:cNvCxnSpPr>
          <p:nvPr/>
        </p:nvCxnSpPr>
        <p:spPr>
          <a:xfrm>
            <a:off x="1592727" y="4100922"/>
            <a:ext cx="2" cy="82646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645943" y="4566162"/>
                <a:ext cx="6241965" cy="3354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𝐷𝑖𝑠𝑡𝑎𝑛𝑐𝑒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943" y="4566162"/>
                <a:ext cx="6241965" cy="335413"/>
              </a:xfrm>
              <a:prstGeom prst="rect">
                <a:avLst/>
              </a:prstGeom>
              <a:blipFill>
                <a:blip r:embed="rId6"/>
                <a:stretch>
                  <a:fillRect l="-488" b="-2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526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거리와 유사성</a:t>
            </a:r>
            <a:r>
              <a:rPr lang="en-US" altLang="ko-KR" sz="2000" b="1" dirty="0" smtClean="0">
                <a:ea typeface="NanumGothic" panose="020D0604000000000000"/>
              </a:rPr>
              <a:t>(</a:t>
            </a:r>
            <a:r>
              <a:rPr lang="ko-KR" altLang="en-US" sz="2000" b="1" dirty="0" smtClean="0">
                <a:ea typeface="NanumGothic" panose="020D0604000000000000"/>
              </a:rPr>
              <a:t>대표적 거리 측정 방법</a:t>
            </a:r>
            <a:r>
              <a:rPr lang="en-US" altLang="ko-KR" sz="2000" b="1" dirty="0" smtClean="0">
                <a:ea typeface="NanumGothic" panose="020D0604000000000000"/>
              </a:rPr>
              <a:t>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2. Manhattan Distance</a:t>
            </a:r>
          </a:p>
          <a:p>
            <a:pPr algn="just" latinLnBrk="1">
              <a:spcAft>
                <a:spcPts val="600"/>
              </a:spcAft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유클리드 방식과 다르게 각 좌표 간 절댓값의 차이를 이용 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계산 방식은 아래와 같음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1480670" y="4927382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3026944" y="3993346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47059" y="3548288"/>
                <a:ext cx="2244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059" y="3548288"/>
                <a:ext cx="2244140" cy="276999"/>
              </a:xfrm>
              <a:prstGeom prst="rect">
                <a:avLst/>
              </a:prstGeom>
              <a:blipFill>
                <a:blip r:embed="rId4"/>
                <a:stretch>
                  <a:fillRect l="-3804" t="-28261" r="-5435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88730" y="5213960"/>
                <a:ext cx="22758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30" y="5213960"/>
                <a:ext cx="2275816" cy="276999"/>
              </a:xfrm>
              <a:prstGeom prst="rect">
                <a:avLst/>
              </a:prstGeom>
              <a:blipFill>
                <a:blip r:embed="rId5"/>
                <a:stretch>
                  <a:fillRect l="-3753" t="-28261" r="-5362" b="-5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/>
          <p:cNvCxnSpPr/>
          <p:nvPr/>
        </p:nvCxnSpPr>
        <p:spPr>
          <a:xfrm flipH="1">
            <a:off x="1704787" y="4176990"/>
            <a:ext cx="1354978" cy="857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43" idx="2"/>
          </p:cNvCxnSpPr>
          <p:nvPr/>
        </p:nvCxnSpPr>
        <p:spPr>
          <a:xfrm flipH="1" flipV="1">
            <a:off x="1592727" y="4100922"/>
            <a:ext cx="1434217" cy="1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endCxn id="42" idx="0"/>
          </p:cNvCxnSpPr>
          <p:nvPr/>
        </p:nvCxnSpPr>
        <p:spPr>
          <a:xfrm>
            <a:off x="1592727" y="4100922"/>
            <a:ext cx="2" cy="826460"/>
          </a:xfrm>
          <a:prstGeom prst="straightConnector1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645943" y="4566162"/>
                <a:ext cx="5434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𝐷𝑖𝑠𝑡𝑎𝑛𝑐𝑒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+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 </m:t>
                    </m:r>
                  </m:oMath>
                </a14:m>
                <a:r>
                  <a:rPr lang="en-US" altLang="ko-KR" dirty="0" smtClean="0"/>
                  <a:t>+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5943" y="4566162"/>
                <a:ext cx="5434758" cy="276999"/>
              </a:xfrm>
              <a:prstGeom prst="rect">
                <a:avLst/>
              </a:prstGeom>
              <a:blipFill>
                <a:blip r:embed="rId6"/>
                <a:stretch>
                  <a:fillRect l="-1570" t="-28889" b="-5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946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거리와 유사성</a:t>
            </a:r>
            <a:r>
              <a:rPr lang="en-US" altLang="ko-KR" sz="2000" b="1" dirty="0" smtClean="0">
                <a:ea typeface="NanumGothic" panose="020D0604000000000000"/>
              </a:rPr>
              <a:t>(</a:t>
            </a:r>
            <a:r>
              <a:rPr lang="ko-KR" altLang="en-US" sz="2000" b="1" dirty="0" smtClean="0">
                <a:ea typeface="NanumGothic" panose="020D0604000000000000"/>
              </a:rPr>
              <a:t>대표적 거리 측정 방법</a:t>
            </a:r>
            <a:r>
              <a:rPr lang="en-US" altLang="ko-KR" sz="2000" b="1" dirty="0" smtClean="0">
                <a:ea typeface="NanumGothic" panose="020D0604000000000000"/>
              </a:rPr>
              <a:t>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en-US" altLang="ko-KR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 Cosine Distance</a:t>
            </a: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각 벡터 간 각도의 차이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즉 벡터의 내적 연산을 이용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계산 방식은 아래와 같음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1480670" y="4389500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3026944" y="3455464"/>
            <a:ext cx="224117" cy="21515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247059" y="3010406"/>
                <a:ext cx="22441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059" y="3010406"/>
                <a:ext cx="2244140" cy="276999"/>
              </a:xfrm>
              <a:prstGeom prst="rect">
                <a:avLst/>
              </a:prstGeom>
              <a:blipFill>
                <a:blip r:embed="rId4"/>
                <a:stretch>
                  <a:fillRect l="-3804" t="-28889" r="-5435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66879" y="4717617"/>
                <a:ext cx="22758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 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 smtClean="0"/>
                  <a:t>, …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79" y="4717617"/>
                <a:ext cx="2275816" cy="276999"/>
              </a:xfrm>
              <a:prstGeom prst="rect">
                <a:avLst/>
              </a:prstGeom>
              <a:blipFill>
                <a:blip r:embed="rId5"/>
                <a:stretch>
                  <a:fillRect l="-3753" t="-28889" r="-5362" b="-5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직선 화살표 연결선 3"/>
          <p:cNvCxnSpPr>
            <a:stCxn id="42" idx="7"/>
            <a:endCxn id="43" idx="3"/>
          </p:cNvCxnSpPr>
          <p:nvPr/>
        </p:nvCxnSpPr>
        <p:spPr>
          <a:xfrm flipV="1">
            <a:off x="1671966" y="3639109"/>
            <a:ext cx="1387799" cy="781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1668929" y="4410604"/>
            <a:ext cx="1470073" cy="19719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원호 9"/>
          <p:cNvSpPr/>
          <p:nvPr/>
        </p:nvSpPr>
        <p:spPr>
          <a:xfrm>
            <a:off x="2178424" y="4123765"/>
            <a:ext cx="68635" cy="593852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09228" y="4080287"/>
                <a:ext cx="25467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228" y="4080287"/>
                <a:ext cx="254678" cy="276999"/>
              </a:xfrm>
              <a:prstGeom prst="rect">
                <a:avLst/>
              </a:prstGeom>
              <a:blipFill>
                <a:blip r:embed="rId6"/>
                <a:stretch>
                  <a:fillRect l="-9524" r="-4762" b="-65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772540" y="3808059"/>
                <a:ext cx="3432030" cy="5814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𝐷𝑖𝑠𝑡𝑎𝑛𝑐𝑒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=1 − 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540" y="3808059"/>
                <a:ext cx="3432030" cy="581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78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2528825" y="3105835"/>
            <a:ext cx="40863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ko-KR" altLang="en-US" sz="3600" b="1" dirty="0" smtClean="0">
                <a:solidFill>
                  <a:prstClr val="black"/>
                </a:solidFill>
                <a:ea typeface="NanumGothic" panose="020D0604000000000000" pitchFamily="34" charset="-127"/>
              </a:rPr>
              <a:t>대표적 군집화 기법</a:t>
            </a:r>
            <a:endParaRPr kumimoji="1" lang="en-US" altLang="ko-KR" sz="3600" b="1" dirty="0" smtClean="0">
              <a:solidFill>
                <a:prstClr val="black"/>
              </a:solidFill>
              <a:ea typeface="NanumGothic" panose="020D0604000000000000" pitchFamily="34" charset="-127"/>
            </a:endParaRPr>
          </a:p>
          <a:p>
            <a:pPr algn="ctr"/>
            <a:endParaRPr kumimoji="1" lang="ko-KR" altLang="en-US" sz="3600" b="1" dirty="0">
              <a:solidFill>
                <a:prstClr val="black"/>
              </a:solidFill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02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(K-Means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K-Means Clustering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알고리즘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14047" y="2340394"/>
            <a:ext cx="43299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데이터 세트에서 </a:t>
            </a:r>
            <a:r>
              <a:rPr lang="en-US" altLang="ko-KR" dirty="0" smtClean="0"/>
              <a:t>K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centroids</a:t>
            </a:r>
            <a:r>
              <a:rPr lang="ko-KR" altLang="en-US" dirty="0" smtClean="0"/>
              <a:t>를 임의로 지정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각 데이터들을 가장 가까운 </a:t>
            </a:r>
            <a:r>
              <a:rPr lang="en-US" altLang="ko-KR" dirty="0" smtClean="0"/>
              <a:t>centroids</a:t>
            </a:r>
            <a:r>
              <a:rPr lang="ko-KR" altLang="en-US" dirty="0" smtClean="0"/>
              <a:t>가 속한 그룹에 할당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2</a:t>
            </a:r>
            <a:r>
              <a:rPr lang="ko-KR" altLang="en-US" dirty="0" smtClean="0"/>
              <a:t>번 과정에서 할당된 결과를 바탕으로 </a:t>
            </a:r>
            <a:r>
              <a:rPr lang="en-US" altLang="ko-KR" dirty="0" smtClean="0"/>
              <a:t>centroids</a:t>
            </a:r>
            <a:r>
              <a:rPr lang="ko-KR" altLang="en-US" dirty="0" smtClean="0"/>
              <a:t>를 지정</a:t>
            </a:r>
            <a:endParaRPr lang="en-US" altLang="ko-KR" dirty="0"/>
          </a:p>
          <a:p>
            <a:r>
              <a:rPr lang="en-US" altLang="ko-KR" dirty="0" smtClean="0"/>
              <a:t>(</a:t>
            </a:r>
            <a:r>
              <a:rPr lang="ko-KR" altLang="en-US" dirty="0" smtClean="0"/>
              <a:t>각 클러스터 데이터들의 평균 좌표 벡터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4. Centroids</a:t>
            </a:r>
            <a:r>
              <a:rPr lang="ko-KR" altLang="en-US" b="1" dirty="0" smtClean="0">
                <a:solidFill>
                  <a:srgbClr val="FF0000"/>
                </a:solidFill>
              </a:rPr>
              <a:t>가 더 이상 변하지 않을 때까지</a:t>
            </a:r>
            <a:r>
              <a:rPr lang="en-US" altLang="ko-KR" b="1" dirty="0" smtClean="0">
                <a:solidFill>
                  <a:srgbClr val="FF0000"/>
                </a:solidFill>
              </a:rPr>
              <a:t>,   2~3</a:t>
            </a:r>
            <a:r>
              <a:rPr lang="ko-KR" altLang="en-US" b="1" dirty="0" smtClean="0">
                <a:solidFill>
                  <a:srgbClr val="FF0000"/>
                </a:solidFill>
              </a:rPr>
              <a:t>번 과정을 반복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68456" y="1507594"/>
            <a:ext cx="3618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00B0F0"/>
                </a:solidFill>
              </a:rPr>
              <a:t>K : </a:t>
            </a:r>
            <a:r>
              <a:rPr lang="ko-KR" altLang="en-US" sz="1600" b="1" dirty="0" smtClean="0">
                <a:solidFill>
                  <a:srgbClr val="00B0F0"/>
                </a:solidFill>
              </a:rPr>
              <a:t>클러스터의 개수</a:t>
            </a:r>
            <a:endParaRPr lang="en-US" altLang="ko-KR" sz="1600" b="1" dirty="0" smtClean="0">
              <a:solidFill>
                <a:srgbClr val="00B0F0"/>
              </a:solidFill>
            </a:endParaRPr>
          </a:p>
          <a:p>
            <a:r>
              <a:rPr lang="en-US" altLang="ko-KR" sz="1600" b="1" dirty="0" smtClean="0">
                <a:solidFill>
                  <a:srgbClr val="00B0F0"/>
                </a:solidFill>
              </a:rPr>
              <a:t>Centroids : </a:t>
            </a:r>
            <a:r>
              <a:rPr lang="ko-KR" altLang="en-US" sz="1600" b="1" dirty="0" smtClean="0">
                <a:solidFill>
                  <a:srgbClr val="00B0F0"/>
                </a:solidFill>
              </a:rPr>
              <a:t>각 클러스터의 중심점</a:t>
            </a:r>
            <a:endParaRPr lang="ko-KR" altLang="en-US" sz="1600" b="1" dirty="0">
              <a:solidFill>
                <a:srgbClr val="00B0F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01050" y="5525881"/>
            <a:ext cx="4050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이미지 출처</a:t>
            </a:r>
            <a:r>
              <a:rPr lang="en-US" altLang="ko-KR" sz="1200" dirty="0" smtClean="0"/>
              <a:t>:</a:t>
            </a:r>
          </a:p>
          <a:p>
            <a:pPr algn="ctr"/>
            <a:r>
              <a:rPr lang="en-US" altLang="ko-KR" sz="1200" dirty="0"/>
              <a:t>http://hleecaster.com/ml-kmeans-clustering-concept/</a:t>
            </a:r>
            <a:endParaRPr lang="ko-KR" altLang="en-US" sz="12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0" y="1792387"/>
            <a:ext cx="4009585" cy="361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39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(K-Means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1309" y="1127634"/>
            <a:ext cx="5691079" cy="459411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01580" y="5854185"/>
            <a:ext cx="4050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smtClean="0"/>
              <a:t>이미지 출처</a:t>
            </a:r>
            <a:r>
              <a:rPr lang="en-US" altLang="ko-KR" sz="1200" dirty="0" smtClean="0"/>
              <a:t>:</a:t>
            </a:r>
          </a:p>
          <a:p>
            <a:pPr algn="ctr"/>
            <a:r>
              <a:rPr lang="en-US" altLang="ko-KR" sz="1200" dirty="0"/>
              <a:t>https://eunsukimme.github.io/ml/2019/12/16/K-Means/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4135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(K-Means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K-Means Clustering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알고리즘의 장점과 단점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장점</a:t>
            </a:r>
            <a:endParaRPr lang="en-US" altLang="ko-KR" b="1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알고리즘이 간단한 편임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거리를 구할 때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각 클러스터의 중심점과 각 데이터 포인트 간의 거리만 구하면 되므로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시간 복잡도가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O(KN)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형태로 선형 연산이 가능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algn="just" latinLnBrk="1">
              <a:spcAft>
                <a:spcPts val="600"/>
              </a:spcAft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endParaRPr lang="en-US" altLang="ko-KR" b="1" dirty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단점</a:t>
            </a:r>
            <a:endParaRPr lang="en-US" altLang="ko-KR" b="1" dirty="0" smtClean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K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의 값을 직접 지정해야 함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거리 기반 알고리즘으로서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이상치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(Outlier)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에 취약함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초기에 임의로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centroids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를 지정하기 때문에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군집 결과가 일정하지 않을 수 있음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군집 결과만으로는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데이터의 특성을 파악할 수 없음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설명력 부족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5045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(K-Means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430471" y="4750757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4718836" y="4495833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5059495" y="4494693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4759178" y="4761190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5231317" y="475102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5146038" y="5009101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4591080" y="5046022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4871237" y="5059519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4479022" y="4455493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4500677" y="4537450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4789042" y="428252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5129701" y="428138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4829384" y="4547883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5301523" y="4537719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5216244" y="4795794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/>
          <p:cNvSpPr/>
          <p:nvPr/>
        </p:nvSpPr>
        <p:spPr>
          <a:xfrm>
            <a:off x="4661286" y="4832715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4941443" y="4846212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4549228" y="424218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5022123" y="4613401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5310488" y="4358477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5651147" y="4357337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5350830" y="4623834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5630230" y="4631059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5737690" y="4871745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5182732" y="4908666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5462889" y="4922163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5070674" y="4318137"/>
            <a:ext cx="224117" cy="2151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6465459" y="4191092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6753824" y="3936168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/>
          <p:cNvSpPr/>
          <p:nvPr/>
        </p:nvSpPr>
        <p:spPr>
          <a:xfrm>
            <a:off x="7094483" y="3935028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6794166" y="4201525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7266305" y="419136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7181026" y="4449436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6626068" y="4486357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6906225" y="4499854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6514010" y="3895828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타원 52"/>
          <p:cNvSpPr/>
          <p:nvPr/>
        </p:nvSpPr>
        <p:spPr>
          <a:xfrm>
            <a:off x="6535665" y="3977785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6824030" y="372286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>
            <a:off x="7164689" y="372172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>
            <a:off x="6864372" y="3988218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7336511" y="3978054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7251232" y="4236129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6696274" y="4273050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6976431" y="4286547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타원 60"/>
          <p:cNvSpPr/>
          <p:nvPr/>
        </p:nvSpPr>
        <p:spPr>
          <a:xfrm>
            <a:off x="6584216" y="368252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타원 61"/>
          <p:cNvSpPr/>
          <p:nvPr/>
        </p:nvSpPr>
        <p:spPr>
          <a:xfrm>
            <a:off x="7057111" y="4053736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/>
          <p:cNvSpPr/>
          <p:nvPr/>
        </p:nvSpPr>
        <p:spPr>
          <a:xfrm>
            <a:off x="7345476" y="3798812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7686135" y="3797672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타원 64"/>
          <p:cNvSpPr/>
          <p:nvPr/>
        </p:nvSpPr>
        <p:spPr>
          <a:xfrm>
            <a:off x="7385818" y="4064169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타원 65"/>
          <p:cNvSpPr/>
          <p:nvPr/>
        </p:nvSpPr>
        <p:spPr>
          <a:xfrm>
            <a:off x="7665218" y="4071394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타원 66"/>
          <p:cNvSpPr/>
          <p:nvPr/>
        </p:nvSpPr>
        <p:spPr>
          <a:xfrm>
            <a:off x="7772678" y="4312080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타원 67"/>
          <p:cNvSpPr/>
          <p:nvPr/>
        </p:nvSpPr>
        <p:spPr>
          <a:xfrm>
            <a:off x="7217720" y="4349001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타원 68"/>
          <p:cNvSpPr/>
          <p:nvPr/>
        </p:nvSpPr>
        <p:spPr>
          <a:xfrm>
            <a:off x="7497877" y="4362498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타원 69"/>
          <p:cNvSpPr/>
          <p:nvPr/>
        </p:nvSpPr>
        <p:spPr>
          <a:xfrm>
            <a:off x="7105662" y="3758472"/>
            <a:ext cx="224117" cy="21515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타원 70"/>
          <p:cNvSpPr/>
          <p:nvPr/>
        </p:nvSpPr>
        <p:spPr>
          <a:xfrm>
            <a:off x="6030556" y="5801226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/>
          <p:cNvSpPr/>
          <p:nvPr/>
        </p:nvSpPr>
        <p:spPr>
          <a:xfrm>
            <a:off x="6318921" y="5546302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/>
          <p:cNvSpPr/>
          <p:nvPr/>
        </p:nvSpPr>
        <p:spPr>
          <a:xfrm>
            <a:off x="6659580" y="5545162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/>
          <p:cNvSpPr/>
          <p:nvPr/>
        </p:nvSpPr>
        <p:spPr>
          <a:xfrm>
            <a:off x="6359263" y="5811659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/>
          <p:cNvSpPr/>
          <p:nvPr/>
        </p:nvSpPr>
        <p:spPr>
          <a:xfrm>
            <a:off x="6831402" y="580149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/>
          <p:cNvSpPr/>
          <p:nvPr/>
        </p:nvSpPr>
        <p:spPr>
          <a:xfrm>
            <a:off x="6746123" y="6059570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/>
          <p:cNvSpPr/>
          <p:nvPr/>
        </p:nvSpPr>
        <p:spPr>
          <a:xfrm>
            <a:off x="6191165" y="6096491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/>
          <p:cNvSpPr/>
          <p:nvPr/>
        </p:nvSpPr>
        <p:spPr>
          <a:xfrm>
            <a:off x="6471322" y="6109988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/>
          <p:cNvSpPr/>
          <p:nvPr/>
        </p:nvSpPr>
        <p:spPr>
          <a:xfrm>
            <a:off x="6079107" y="5505962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/>
          <p:cNvSpPr/>
          <p:nvPr/>
        </p:nvSpPr>
        <p:spPr>
          <a:xfrm>
            <a:off x="6100762" y="5587919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타원 80"/>
          <p:cNvSpPr/>
          <p:nvPr/>
        </p:nvSpPr>
        <p:spPr>
          <a:xfrm>
            <a:off x="6389127" y="533299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/>
          <p:cNvSpPr/>
          <p:nvPr/>
        </p:nvSpPr>
        <p:spPr>
          <a:xfrm>
            <a:off x="6729786" y="533185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타원 82"/>
          <p:cNvSpPr/>
          <p:nvPr/>
        </p:nvSpPr>
        <p:spPr>
          <a:xfrm>
            <a:off x="6429469" y="5598352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타원 83"/>
          <p:cNvSpPr/>
          <p:nvPr/>
        </p:nvSpPr>
        <p:spPr>
          <a:xfrm>
            <a:off x="6901608" y="5588188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타원 84"/>
          <p:cNvSpPr/>
          <p:nvPr/>
        </p:nvSpPr>
        <p:spPr>
          <a:xfrm>
            <a:off x="6816329" y="5846263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/>
          <p:cNvSpPr/>
          <p:nvPr/>
        </p:nvSpPr>
        <p:spPr>
          <a:xfrm>
            <a:off x="6261371" y="5883184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/>
          <p:cNvSpPr/>
          <p:nvPr/>
        </p:nvSpPr>
        <p:spPr>
          <a:xfrm>
            <a:off x="6541528" y="5896681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/>
          <p:cNvSpPr/>
          <p:nvPr/>
        </p:nvSpPr>
        <p:spPr>
          <a:xfrm>
            <a:off x="6149313" y="529265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/>
          <p:cNvSpPr/>
          <p:nvPr/>
        </p:nvSpPr>
        <p:spPr>
          <a:xfrm>
            <a:off x="6622208" y="5663870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타원 89"/>
          <p:cNvSpPr/>
          <p:nvPr/>
        </p:nvSpPr>
        <p:spPr>
          <a:xfrm>
            <a:off x="6910573" y="5408946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타원 90"/>
          <p:cNvSpPr/>
          <p:nvPr/>
        </p:nvSpPr>
        <p:spPr>
          <a:xfrm>
            <a:off x="7251232" y="5407806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/>
          <p:cNvSpPr/>
          <p:nvPr/>
        </p:nvSpPr>
        <p:spPr>
          <a:xfrm>
            <a:off x="6950915" y="5674303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/>
          <p:cNvSpPr/>
          <p:nvPr/>
        </p:nvSpPr>
        <p:spPr>
          <a:xfrm>
            <a:off x="7230315" y="5681528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타원 93"/>
          <p:cNvSpPr/>
          <p:nvPr/>
        </p:nvSpPr>
        <p:spPr>
          <a:xfrm>
            <a:off x="7337775" y="5922214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타원 94"/>
          <p:cNvSpPr/>
          <p:nvPr/>
        </p:nvSpPr>
        <p:spPr>
          <a:xfrm>
            <a:off x="6782817" y="5959135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/>
          <p:cNvSpPr/>
          <p:nvPr/>
        </p:nvSpPr>
        <p:spPr>
          <a:xfrm>
            <a:off x="7062974" y="5972632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타원 96"/>
          <p:cNvSpPr/>
          <p:nvPr/>
        </p:nvSpPr>
        <p:spPr>
          <a:xfrm>
            <a:off x="6670759" y="5368606"/>
            <a:ext cx="224117" cy="215153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타원 97"/>
          <p:cNvSpPr/>
          <p:nvPr/>
        </p:nvSpPr>
        <p:spPr>
          <a:xfrm>
            <a:off x="5310488" y="3961622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타원 98"/>
          <p:cNvSpPr/>
          <p:nvPr/>
        </p:nvSpPr>
        <p:spPr>
          <a:xfrm>
            <a:off x="4916401" y="3883750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/>
          <p:cNvSpPr/>
          <p:nvPr/>
        </p:nvSpPr>
        <p:spPr>
          <a:xfrm>
            <a:off x="5591371" y="3922894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타원 100"/>
          <p:cNvSpPr/>
          <p:nvPr/>
        </p:nvSpPr>
        <p:spPr>
          <a:xfrm>
            <a:off x="5802055" y="5652696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타원 101"/>
          <p:cNvSpPr/>
          <p:nvPr/>
        </p:nvSpPr>
        <p:spPr>
          <a:xfrm>
            <a:off x="5648025" y="5948025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타원 102"/>
          <p:cNvSpPr/>
          <p:nvPr/>
        </p:nvSpPr>
        <p:spPr>
          <a:xfrm>
            <a:off x="6462456" y="5060684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타원 103"/>
          <p:cNvSpPr/>
          <p:nvPr/>
        </p:nvSpPr>
        <p:spPr>
          <a:xfrm>
            <a:off x="6746123" y="5096891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타원 104"/>
          <p:cNvSpPr/>
          <p:nvPr/>
        </p:nvSpPr>
        <p:spPr>
          <a:xfrm>
            <a:off x="4539526" y="5490733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/>
          <p:cNvSpPr/>
          <p:nvPr/>
        </p:nvSpPr>
        <p:spPr>
          <a:xfrm>
            <a:off x="7040446" y="5160821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타원 106"/>
          <p:cNvSpPr/>
          <p:nvPr/>
        </p:nvSpPr>
        <p:spPr>
          <a:xfrm>
            <a:off x="4944296" y="5436389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타원 107"/>
          <p:cNvSpPr/>
          <p:nvPr/>
        </p:nvSpPr>
        <p:spPr>
          <a:xfrm>
            <a:off x="4343400" y="5158741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타원 108"/>
          <p:cNvSpPr/>
          <p:nvPr/>
        </p:nvSpPr>
        <p:spPr>
          <a:xfrm>
            <a:off x="8117347" y="4765230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타원 109"/>
          <p:cNvSpPr/>
          <p:nvPr/>
        </p:nvSpPr>
        <p:spPr>
          <a:xfrm>
            <a:off x="8480757" y="5077668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타원 110"/>
          <p:cNvSpPr/>
          <p:nvPr/>
        </p:nvSpPr>
        <p:spPr>
          <a:xfrm>
            <a:off x="7445316" y="3176204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타원 111"/>
          <p:cNvSpPr/>
          <p:nvPr/>
        </p:nvSpPr>
        <p:spPr>
          <a:xfrm>
            <a:off x="7738318" y="3213652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타원 112"/>
          <p:cNvSpPr/>
          <p:nvPr/>
        </p:nvSpPr>
        <p:spPr>
          <a:xfrm>
            <a:off x="6520894" y="3283018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>
            <a:off x="7167429" y="3176204"/>
            <a:ext cx="146418" cy="161963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오른쪽 화살표 3"/>
          <p:cNvSpPr/>
          <p:nvPr/>
        </p:nvSpPr>
        <p:spPr>
          <a:xfrm>
            <a:off x="4789042" y="1868857"/>
            <a:ext cx="1290065" cy="621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오른쪽 화살표 114"/>
          <p:cNvSpPr/>
          <p:nvPr/>
        </p:nvSpPr>
        <p:spPr>
          <a:xfrm rot="10800000">
            <a:off x="3047487" y="4494693"/>
            <a:ext cx="1220240" cy="6214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142614" y="1658471"/>
            <a:ext cx="2812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아웃라이어에 따라</a:t>
            </a:r>
            <a:r>
              <a:rPr lang="en-US" altLang="ko-KR" dirty="0" smtClean="0"/>
              <a:t>, </a:t>
            </a:r>
            <a:r>
              <a:rPr lang="ko-KR" altLang="en-US" dirty="0" smtClean="0"/>
              <a:t>클러스터 및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 중심점에 영향을 끼칠 수 있음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sp>
        <p:nvSpPr>
          <p:cNvPr id="117" name="TextBox 116"/>
          <p:cNvSpPr txBox="1"/>
          <p:nvPr/>
        </p:nvSpPr>
        <p:spPr>
          <a:xfrm>
            <a:off x="322681" y="4258168"/>
            <a:ext cx="2812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군집화가</a:t>
            </a:r>
            <a:r>
              <a:rPr lang="ko-KR" altLang="en-US" dirty="0" smtClean="0"/>
              <a:t> 잘 되긴 하였으나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 군집에 속한 데이터의 특성을 한 눈에 파악하기 힘들다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02" y="994495"/>
            <a:ext cx="3905178" cy="291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4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K-Means Clustering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의 문제점</a:t>
            </a: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59" y="1981933"/>
            <a:ext cx="3505200" cy="2381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024" y="1990165"/>
            <a:ext cx="3476625" cy="24124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5106" y="4863658"/>
            <a:ext cx="7311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K-means clustering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centroids</a:t>
            </a:r>
            <a:r>
              <a:rPr lang="ko-KR" altLang="en-US" dirty="0" smtClean="0"/>
              <a:t>를 바탕으로 한 거리 기반의 알고리즘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그러므로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데이터의 형태가 구형이 아닌 다른 형태일 경우 취약함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377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Mean Shift Clustering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알고리즘</a:t>
            </a: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9953" y="1828800"/>
            <a:ext cx="8435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F0"/>
                </a:solidFill>
              </a:rPr>
              <a:t>커널 함수</a:t>
            </a:r>
            <a:r>
              <a:rPr lang="ko-KR" altLang="en-US" dirty="0" smtClean="0"/>
              <a:t>에 기반한 </a:t>
            </a:r>
            <a:r>
              <a:rPr lang="ko-KR" altLang="en-US" b="1" dirty="0" err="1" smtClean="0">
                <a:solidFill>
                  <a:srgbClr val="00B0F0"/>
                </a:solidFill>
              </a:rPr>
              <a:t>비모수적</a:t>
            </a:r>
            <a:r>
              <a:rPr lang="ko-KR" altLang="en-US" dirty="0" smtClean="0"/>
              <a:t> </a:t>
            </a:r>
            <a:r>
              <a:rPr lang="ko-KR" altLang="en-US" b="1" dirty="0" smtClean="0">
                <a:solidFill>
                  <a:srgbClr val="00B0F0"/>
                </a:solidFill>
              </a:rPr>
              <a:t>밀도 추정</a:t>
            </a:r>
            <a:r>
              <a:rPr lang="ko-KR" altLang="en-US" dirty="0" smtClean="0"/>
              <a:t> 방법</a:t>
            </a:r>
            <a:r>
              <a:rPr lang="en-US" altLang="ko-KR" dirty="0" smtClean="0"/>
              <a:t>(KDE)</a:t>
            </a:r>
            <a:r>
              <a:rPr lang="ko-KR" altLang="en-US" dirty="0" smtClean="0"/>
              <a:t>에 의하여</a:t>
            </a:r>
            <a:r>
              <a:rPr lang="en-US" altLang="ko-KR" dirty="0" smtClean="0"/>
              <a:t>, </a:t>
            </a:r>
          </a:p>
          <a:p>
            <a:r>
              <a:rPr lang="ko-KR" altLang="en-US" dirty="0" smtClean="0"/>
              <a:t>각 데이터 포인트에 대해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데이터의 밀도가 가장 높은 중심 포인트</a:t>
            </a:r>
            <a:r>
              <a:rPr lang="en-US" altLang="ko-KR" dirty="0" smtClean="0"/>
              <a:t>(Centroid)</a:t>
            </a:r>
            <a:r>
              <a:rPr lang="ko-KR" altLang="en-US" dirty="0" smtClean="0"/>
              <a:t>에 대응시키는 </a:t>
            </a:r>
            <a:r>
              <a:rPr lang="en-US" altLang="ko-KR" dirty="0" smtClean="0"/>
              <a:t>“</a:t>
            </a:r>
            <a:r>
              <a:rPr lang="ko-KR" altLang="en-US" b="1" dirty="0" smtClean="0">
                <a:solidFill>
                  <a:srgbClr val="00B0F0"/>
                </a:solidFill>
              </a:rPr>
              <a:t>밀도 기반</a:t>
            </a:r>
            <a:r>
              <a:rPr lang="en-US" altLang="ko-KR" dirty="0" smtClean="0"/>
              <a:t>“  </a:t>
            </a:r>
            <a:r>
              <a:rPr lang="ko-KR" altLang="en-US" dirty="0" err="1" smtClean="0"/>
              <a:t>클러스터링</a:t>
            </a:r>
            <a:r>
              <a:rPr lang="ko-KR" altLang="en-US" dirty="0" smtClean="0"/>
              <a:t> 알고리즘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6142" y="3677277"/>
            <a:ext cx="1730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밀도 추정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?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56672" y="4827156"/>
            <a:ext cx="1712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커널 함수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?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61633" y="3206026"/>
            <a:ext cx="1272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비모수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?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717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42918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밀도와 밀도 추정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EX) 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특정 육교에 대한 차량의 일일 통행량 파악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확률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)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변수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: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일일 교통량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날마다 서로 다른 값이 변수에 할당되게 된다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이 관측 값을 장기간에 걸쳐 저장하게 된다면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일일 교통량이라는 변수의 값에 대한 분포를 수월하게 파악할 수 있을 것이다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이 때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변수가 특정 값을 가질 확률을 추정하는 것을 밀도 추정이라고 한다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.</a:t>
            </a: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  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이는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변수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X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에 대한 확률 밀도 함수를 추정하는 것과 동일한 의미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465" y="4377856"/>
            <a:ext cx="4839824" cy="190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42918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밀도 추정의 두 가지 관점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342900" indent="-342900" algn="just" latinLnBrk="1">
              <a:spcAft>
                <a:spcPts val="600"/>
              </a:spcAft>
              <a:buAutoNum type="arabicPeriod"/>
            </a:pP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모수적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 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확률 변수 값의 분포가 사전에 알려진 분포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(ex: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정규분포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를 따른다고 가정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즉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관측된 데이터로부터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확률 분포 모델의 </a:t>
            </a: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파라미터를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추정하는 방법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과연 현실 세계의 문제에서 모델이 사전에 주어지는 경우가 얼마나 있을까</a:t>
            </a:r>
            <a:r>
              <a:rPr lang="en-US" altLang="ko-KR" b="1" dirty="0" smtClean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endParaRPr lang="en-US" altLang="ko-KR" b="1" dirty="0" smtClean="0">
              <a:solidFill>
                <a:srgbClr val="FF000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비모수적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사전에 주어진 정보 없이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순수하게 관측된 데이터로부터 확률 분포를 추정하는 방법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Tx/>
              <a:buChar char="-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대표적인 </a:t>
            </a: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비모수적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방법으로 히스토그램이 존재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5171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25935"/>
            <a:ext cx="842918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비모수적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방법의 대표적 예시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–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히스토그램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ex) 10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명의 학생에 대한 키</a:t>
            </a:r>
            <a:endParaRPr lang="en-US" altLang="ko-KR" b="1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b="1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 smtClean="0"/>
              <a:t>165.6</a:t>
            </a:r>
            <a:r>
              <a:rPr lang="en-US" altLang="ko-KR" dirty="0"/>
              <a:t>, 169.9, </a:t>
            </a:r>
            <a:r>
              <a:rPr lang="en-US" altLang="ko-KR" dirty="0" smtClean="0"/>
              <a:t>171.3, 151.6, 150.5, </a:t>
            </a:r>
            <a:r>
              <a:rPr lang="en-US" altLang="ko-KR" dirty="0"/>
              <a:t>158.2, 149.5, </a:t>
            </a:r>
            <a:r>
              <a:rPr lang="en-US" altLang="ko-KR" dirty="0" smtClean="0"/>
              <a:t>152.2, 170.1, 164.5 (</a:t>
            </a:r>
            <a:r>
              <a:rPr lang="ko-KR" altLang="en-US" sz="1600" dirty="0" smtClean="0"/>
              <a:t>실제 키</a:t>
            </a:r>
            <a:r>
              <a:rPr lang="en-US" altLang="ko-KR" dirty="0" smtClean="0"/>
              <a:t>)</a:t>
            </a: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 smtClean="0">
                <a:ea typeface="NanumGothic" panose="020D0604000000000000" pitchFamily="34" charset="-127"/>
              </a:rPr>
              <a:t>170, 170, 170, 150, 150, 160, 150, 150, 170, 160 (</a:t>
            </a:r>
            <a:r>
              <a:rPr lang="ko-KR" altLang="en-US" sz="1600" dirty="0" smtClean="0">
                <a:ea typeface="NanumGothic" panose="020D0604000000000000" pitchFamily="34" charset="-127"/>
              </a:rPr>
              <a:t>소수점 절삭</a:t>
            </a:r>
            <a:r>
              <a:rPr lang="en-US" altLang="ko-KR" sz="1600" dirty="0" smtClean="0">
                <a:ea typeface="NanumGothic" panose="020D0604000000000000" pitchFamily="34" charset="-127"/>
              </a:rPr>
              <a:t>, </a:t>
            </a:r>
            <a:r>
              <a:rPr lang="ko-KR" altLang="en-US" sz="1600" dirty="0" smtClean="0">
                <a:ea typeface="NanumGothic" panose="020D0604000000000000" pitchFamily="34" charset="-127"/>
              </a:rPr>
              <a:t>일의 자리에서 반올림</a:t>
            </a:r>
            <a:r>
              <a:rPr lang="en-US" altLang="ko-KR" dirty="0" smtClean="0">
                <a:ea typeface="NanumGothic" panose="020D0604000000000000" pitchFamily="34" charset="-127"/>
              </a:rPr>
              <a:t>)</a:t>
            </a:r>
            <a:endParaRPr lang="en-US" altLang="ko-KR" dirty="0" smtClean="0"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2895600" y="3020661"/>
            <a:ext cx="0" cy="4140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2415989" y="4058135"/>
            <a:ext cx="959223" cy="8814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0345" y="4018197"/>
            <a:ext cx="3752850" cy="240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2811" y="4447113"/>
            <a:ext cx="1721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C00000"/>
                </a:solidFill>
              </a:rPr>
              <a:t>Problem!!</a:t>
            </a:r>
            <a:endParaRPr lang="ko-KR" altLang="en-US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57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25935"/>
            <a:ext cx="8429185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err="1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비모수적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 방법의 대표적 예시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–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히스토그램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Problem 1.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데이터 경계의 불연속성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(ex: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키가 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171cm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인 학생은 몇 명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?)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Problem 2.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히스토그램 폭에 따른 분포의 변동성</a:t>
            </a:r>
            <a:endParaRPr lang="en-US" altLang="ko-KR" b="1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31" y="3379694"/>
            <a:ext cx="4161300" cy="2810634"/>
          </a:xfrm>
          <a:prstGeom prst="rect">
            <a:avLst/>
          </a:prstGeom>
        </p:spPr>
      </p:pic>
      <p:cxnSp>
        <p:nvCxnSpPr>
          <p:cNvPr id="5" name="직선 화살표 연결선 4"/>
          <p:cNvCxnSpPr/>
          <p:nvPr/>
        </p:nvCxnSpPr>
        <p:spPr>
          <a:xfrm>
            <a:off x="5773271" y="3074894"/>
            <a:ext cx="932329" cy="896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6898060" y="2356631"/>
            <a:ext cx="634535" cy="1614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44988" y="4043082"/>
            <a:ext cx="2268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00B050"/>
                </a:solidFill>
              </a:rPr>
              <a:t>How to solve </a:t>
            </a:r>
          </a:p>
          <a:p>
            <a:r>
              <a:rPr lang="en-US" altLang="ko-KR" sz="2400" b="1" dirty="0">
                <a:solidFill>
                  <a:srgbClr val="00B050"/>
                </a:solidFill>
              </a:rPr>
              <a:t>t</a:t>
            </a:r>
            <a:r>
              <a:rPr lang="en-US" altLang="ko-KR" sz="2400" b="1" dirty="0" smtClean="0">
                <a:solidFill>
                  <a:srgbClr val="00B050"/>
                </a:solidFill>
              </a:rPr>
              <a:t>hese problems? </a:t>
            </a:r>
            <a:endParaRPr lang="ko-KR" altLang="en-US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616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25935"/>
            <a:ext cx="7765797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커널 함수의 등장</a:t>
            </a:r>
            <a:endParaRPr lang="en-US" altLang="ko-KR" b="1" dirty="0" smtClean="0"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b="1" dirty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ex) 10</a:t>
            </a:r>
            <a:r>
              <a:rPr lang="ko-KR" altLang="en-US" b="1" dirty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명의 학생에 대한 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키</a:t>
            </a:r>
            <a:endParaRPr lang="en-US" altLang="ko-KR" b="1" dirty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/>
              <a:t>165.6, 169.9, 171.3, 151.6, 150.5, 158.2, 149.5, 152.2, 170.1, 164.5 (</a:t>
            </a:r>
            <a:r>
              <a:rPr lang="ko-KR" altLang="en-US" sz="1600" dirty="0"/>
              <a:t>실제 키</a:t>
            </a:r>
            <a:r>
              <a:rPr lang="en-US" altLang="ko-KR" dirty="0"/>
              <a:t>)</a:t>
            </a: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endParaRPr lang="en-US" altLang="ko-KR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1102659" y="2178424"/>
            <a:ext cx="555812" cy="358588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>
            <a:stCxn id="6" idx="4"/>
          </p:cNvCxnSpPr>
          <p:nvPr/>
        </p:nvCxnSpPr>
        <p:spPr>
          <a:xfrm>
            <a:off x="1380565" y="2537012"/>
            <a:ext cx="358588" cy="727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9249" y="3285439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키가 </a:t>
            </a:r>
            <a:r>
              <a:rPr lang="en-US" altLang="ko-KR" dirty="0" smtClean="0"/>
              <a:t>169.9cm</a:t>
            </a:r>
            <a:r>
              <a:rPr lang="ko-KR" altLang="en-US" dirty="0" smtClean="0"/>
              <a:t>인 학생은 </a:t>
            </a:r>
            <a:r>
              <a:rPr lang="en-US" altLang="ko-KR" dirty="0" smtClean="0"/>
              <a:t>1</a:t>
            </a:r>
            <a:r>
              <a:rPr lang="ko-KR" altLang="en-US" dirty="0" smtClean="0"/>
              <a:t>명</a:t>
            </a:r>
            <a:r>
              <a:rPr lang="en-US" altLang="ko-KR" dirty="0" smtClean="0"/>
              <a:t>, 170.0cm</a:t>
            </a:r>
            <a:r>
              <a:rPr lang="ko-KR" altLang="en-US" dirty="0" smtClean="0"/>
              <a:t>인 학생은 없다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769225" y="3287967"/>
            <a:ext cx="3621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키가 </a:t>
            </a:r>
            <a:r>
              <a:rPr lang="en-US" altLang="ko-KR" b="1" dirty="0" smtClean="0">
                <a:solidFill>
                  <a:srgbClr val="00B050"/>
                </a:solidFill>
              </a:rPr>
              <a:t>170.0cm</a:t>
            </a:r>
            <a:r>
              <a:rPr lang="ko-KR" altLang="en-US" dirty="0" smtClean="0"/>
              <a:t>인 학생은 </a:t>
            </a:r>
            <a:r>
              <a:rPr lang="en-US" altLang="ko-KR" b="1" dirty="0" smtClean="0">
                <a:solidFill>
                  <a:srgbClr val="00B050"/>
                </a:solidFill>
              </a:rPr>
              <a:t>0.2</a:t>
            </a:r>
            <a:r>
              <a:rPr lang="ko-KR" altLang="en-US" b="1" dirty="0" smtClean="0">
                <a:solidFill>
                  <a:srgbClr val="00B050"/>
                </a:solidFill>
              </a:rPr>
              <a:t>명</a:t>
            </a:r>
            <a:r>
              <a:rPr lang="ko-KR" altLang="en-US" dirty="0" smtClean="0"/>
              <a:t> 있고</a:t>
            </a:r>
            <a:r>
              <a:rPr lang="en-US" altLang="ko-KR" dirty="0" smtClean="0"/>
              <a:t>, </a:t>
            </a:r>
            <a:r>
              <a:rPr lang="en-US" altLang="ko-KR" b="1" dirty="0" smtClean="0">
                <a:solidFill>
                  <a:srgbClr val="00B050"/>
                </a:solidFill>
              </a:rPr>
              <a:t>170.1cm</a:t>
            </a:r>
            <a:r>
              <a:rPr lang="ko-KR" altLang="en-US" dirty="0" smtClean="0"/>
              <a:t>인 학생도 </a:t>
            </a:r>
            <a:r>
              <a:rPr lang="en-US" altLang="ko-KR" b="1" dirty="0" smtClean="0">
                <a:solidFill>
                  <a:srgbClr val="00B050"/>
                </a:solidFill>
              </a:rPr>
              <a:t>0.1</a:t>
            </a:r>
            <a:r>
              <a:rPr lang="ko-KR" altLang="en-US" b="1" dirty="0" smtClean="0">
                <a:solidFill>
                  <a:srgbClr val="00B050"/>
                </a:solidFill>
              </a:rPr>
              <a:t>명</a:t>
            </a:r>
            <a:r>
              <a:rPr lang="ko-KR" altLang="en-US" dirty="0" smtClean="0"/>
              <a:t>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810004" y="3365671"/>
            <a:ext cx="77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solidFill>
                  <a:srgbClr val="9F1915"/>
                </a:solidFill>
              </a:rPr>
              <a:t>VS</a:t>
            </a:r>
            <a:endParaRPr lang="ko-KR" altLang="en-US" b="1" dirty="0">
              <a:solidFill>
                <a:srgbClr val="9F1915"/>
              </a:solidFill>
            </a:endParaRPr>
          </a:p>
        </p:txBody>
      </p:sp>
      <p:cxnSp>
        <p:nvCxnSpPr>
          <p:cNvPr id="24" name="직선 화살표 연결선 23"/>
          <p:cNvCxnSpPr>
            <a:stCxn id="18" idx="2"/>
          </p:cNvCxnSpPr>
          <p:nvPr/>
        </p:nvCxnSpPr>
        <p:spPr>
          <a:xfrm flipH="1">
            <a:off x="4195485" y="3735003"/>
            <a:ext cx="1" cy="1061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23249" y="4980784"/>
            <a:ext cx="4105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50"/>
                </a:solidFill>
              </a:rPr>
              <a:t>데이터의 명확한 경계를 허물어버리자</a:t>
            </a:r>
            <a:r>
              <a:rPr lang="en-US" altLang="ko-KR" b="1" dirty="0" smtClean="0">
                <a:solidFill>
                  <a:srgbClr val="00B050"/>
                </a:solidFill>
              </a:rPr>
              <a:t>!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/>
              <p:nvPr/>
            </p:nvSpPr>
            <p:spPr>
              <a:xfrm>
                <a:off x="401050" y="1125935"/>
                <a:ext cx="7765797" cy="25816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latinLnBrk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커널 함수</a:t>
                </a: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원점 대칭이며</a:t>
                </a:r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, </a:t>
                </a: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전체 </a:t>
                </a:r>
                <a:r>
                  <a:rPr lang="ko-KR" altLang="en-US" b="1" dirty="0" err="1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정의역</a:t>
                </a: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구간에서 적분한 결과가 </a:t>
                </a:r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1</a:t>
                </a: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인 함수</a:t>
                </a:r>
                <a:endParaRPr lang="en-US" altLang="ko-KR" b="1" dirty="0" smtClean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ctr" latinLnBrk="1">
                  <a:spcAft>
                    <a:spcPts val="600"/>
                  </a:spcAft>
                </a:pPr>
                <a14:m>
                  <m:oMath xmlns:m="http://schemas.openxmlformats.org/officeDocument/2006/math">
                    <m:nary>
                      <m:naryPr>
                        <m:ctrlP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−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+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𝑲</m:t>
                        </m:r>
                        <m:d>
                          <m:dPr>
                            <m:ctrlPr>
                              <a:rPr lang="en-US" altLang="ko-KR" b="1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</m:ctrlPr>
                          </m:dPr>
                          <m:e>
                            <m:r>
                              <a:rPr lang="en-US" altLang="ko-KR" b="1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𝒖</m:t>
                            </m:r>
                          </m:e>
                        </m:d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𝒅𝒖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=</m:t>
                        </m:r>
                        <m:r>
                          <a:rPr lang="en-US" altLang="ko-KR" b="1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𝟏</m:t>
                        </m:r>
                      </m:e>
                    </m:nary>
                  </m:oMath>
                </a14:m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,</a:t>
                </a:r>
              </a:p>
              <a:p>
                <a:pPr algn="just" latinLnBrk="1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𝑲</m:t>
                      </m:r>
                      <m:d>
                        <m:d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−</m:t>
                          </m:r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𝒖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=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𝑲</m:t>
                      </m:r>
                      <m:d>
                        <m:d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𝒖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, 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𝑲</m:t>
                      </m:r>
                      <m:d>
                        <m:d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  <a:ea typeface="NanumGothic" panose="020D0604000000000000" pitchFamily="34" charset="-127"/>
                            </a:rPr>
                            <m:t>𝒖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&gt;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𝟎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NanumGothic" panose="020D0604000000000000" pitchFamily="34" charset="-127"/>
                        </a:rPr>
                        <m:t>, ∀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</m:t>
                      </m:r>
                    </m:oMath>
                  </m:oMathPara>
                </a14:m>
                <a:endParaRPr lang="en-US" altLang="ko-KR" b="1" dirty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just" latinLnBrk="1">
                  <a:spcAft>
                    <a:spcPts val="600"/>
                  </a:spcAft>
                </a:pPr>
                <a:endParaRPr lang="en-US" altLang="ko-KR" b="1" dirty="0" smtClean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Gaussian, Uniform, </a:t>
                </a:r>
                <a:r>
                  <a:rPr lang="en-US" altLang="ko-KR" b="1" dirty="0" err="1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Epanechnikov</a:t>
                </a:r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</a:t>
                </a: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함수 등이 대표적 커널 함수</a:t>
                </a:r>
                <a:endParaRPr lang="en-US" altLang="ko-KR" b="1" dirty="0" smtClean="0">
                  <a:latin typeface="NanumGothic" panose="020D0604000000000000" pitchFamily="34" charset="-127"/>
                  <a:ea typeface="NanumGothic" panose="020D0604000000000000"/>
                </a:endParaRPr>
              </a:p>
            </p:txBody>
          </p:sp>
        </mc:Choice>
        <mc:Fallback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50" y="1125935"/>
                <a:ext cx="7765797" cy="2581604"/>
              </a:xfrm>
              <a:prstGeom prst="rect">
                <a:avLst/>
              </a:prstGeom>
              <a:blipFill>
                <a:blip r:embed="rId4"/>
                <a:stretch>
                  <a:fillRect l="-706" t="-1418" b="-2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919" y="3675110"/>
            <a:ext cx="4845142" cy="27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11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/>
              <p:nvPr/>
            </p:nvSpPr>
            <p:spPr>
              <a:xfrm>
                <a:off x="401050" y="1125935"/>
                <a:ext cx="7765797" cy="17990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latinLnBrk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커널 </a:t>
                </a: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밀도 추정</a:t>
                </a:r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(Kernel Density Estimation)</a:t>
                </a: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>
                    <a:solidFill>
                      <a:srgbClr val="00B0F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편의상</a:t>
                </a:r>
                <a:r>
                  <a:rPr lang="en-US" altLang="ko-KR" dirty="0" smtClean="0">
                    <a:solidFill>
                      <a:srgbClr val="00B0F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</a:t>
                </a:r>
                <a:r>
                  <a:rPr lang="ko-KR" altLang="en-US" dirty="0" smtClean="0">
                    <a:solidFill>
                      <a:srgbClr val="00B0F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커널 함수를 </a:t>
                </a:r>
                <a:r>
                  <a:rPr lang="ko-KR" altLang="en-US" dirty="0" err="1" smtClean="0">
                    <a:solidFill>
                      <a:srgbClr val="00B0F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가우시안</a:t>
                </a:r>
                <a:r>
                  <a:rPr lang="ko-KR" altLang="en-US" dirty="0" smtClean="0">
                    <a:solidFill>
                      <a:srgbClr val="00B0F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함수로 지정</a:t>
                </a: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342900" indent="-342900" algn="just" latinLnBrk="1"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𝐾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𝑥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 ;</m:t>
                        </m:r>
                        <m:r>
                          <a:rPr lang="ko-KR" altLang="en-US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𝜎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= 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2</m:t>
                            </m:r>
                            <m:r>
                              <a:rPr lang="ko-KR" altLang="en-US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𝜋𝜎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𝑒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−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</m:ctrlPr>
                              </m:sSup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</m:ctrlPr>
                              </m:sSupPr>
                              <m:e>
                                <m:r>
                                  <a:rPr lang="ko-KR" altLang="en-US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  (</a:t>
                </a:r>
                <a:r>
                  <a:rPr lang="ko-KR" altLang="en-US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역시</a:t>
                </a:r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, </a:t>
                </a:r>
                <a:r>
                  <a:rPr lang="ko-KR" altLang="en-US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편의상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=1</m:t>
                    </m:r>
                  </m:oMath>
                </a14:m>
                <a:r>
                  <a:rPr lang="ko-KR" altLang="en-US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로 지정</a:t>
                </a:r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)</a:t>
                </a:r>
              </a:p>
            </p:txBody>
          </p:sp>
        </mc:Choice>
        <mc:Fallback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50" y="1125935"/>
                <a:ext cx="7765797" cy="1799019"/>
              </a:xfrm>
              <a:prstGeom prst="rect">
                <a:avLst/>
              </a:prstGeom>
              <a:blipFill>
                <a:blip r:embed="rId4"/>
                <a:stretch>
                  <a:fillRect l="-706" t="-20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343" y="3749356"/>
            <a:ext cx="3381375" cy="2181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1050" y="3095986"/>
            <a:ext cx="5109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-     </a:t>
            </a:r>
            <a:r>
              <a:rPr lang="ko-KR" altLang="en-US" dirty="0" smtClean="0">
                <a:ea typeface="NanumGothic" panose="020D0604000000000000"/>
              </a:rPr>
              <a:t>확률 변수 </a:t>
            </a:r>
            <a:r>
              <a:rPr lang="en-US" altLang="ko-KR" dirty="0" smtClean="0">
                <a:ea typeface="NanumGothic" panose="020D0604000000000000"/>
              </a:rPr>
              <a:t>x</a:t>
            </a:r>
            <a:r>
              <a:rPr lang="ko-KR" altLang="en-US" dirty="0" smtClean="0">
                <a:ea typeface="NanumGothic" panose="020D0604000000000000"/>
              </a:rPr>
              <a:t>는 원 데이터로부터의 거리를 의미</a:t>
            </a:r>
            <a:endParaRPr lang="ko-KR" altLang="en-US" dirty="0">
              <a:ea typeface="NanumGothic" panose="020D0604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543019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/>
              <p:nvPr/>
            </p:nvSpPr>
            <p:spPr>
              <a:xfrm>
                <a:off x="401050" y="1125935"/>
                <a:ext cx="8079562" cy="2580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 latinLnBrk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커널 </a:t>
                </a:r>
                <a:r>
                  <a:rPr lang="ko-KR" altLang="en-US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밀도 추정</a:t>
                </a:r>
                <a:r>
                  <a:rPr lang="en-US" altLang="ko-KR" b="1" dirty="0" smtClean="0"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(Kernel Density Estimation with Gaussian Function)</a:t>
                </a:r>
              </a:p>
              <a:p>
                <a:pPr marL="285750" indent="-285750" algn="just" latinLnBrk="1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endParaRPr lang="en-US" altLang="ko-KR" dirty="0" smtClean="0">
                  <a:solidFill>
                    <a:srgbClr val="00B0F0"/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 smtClean="0">
                    <a:solidFill>
                      <a:srgbClr val="00B0F0"/>
                    </a:solidFill>
                    <a:latin typeface="NanumGothic" panose="020D0604000000000000" pitchFamily="34" charset="-127"/>
                    <a:ea typeface="NanumGothic" panose="020D0604000000000000" pitchFamily="34" charset="-127"/>
                  </a:rPr>
                  <a:t>-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h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(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𝑥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)= </m:t>
                    </m:r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𝑛h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𝑖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=1</m:t>
                        </m:r>
                      </m:sub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𝑛</m:t>
                        </m:r>
                      </m:sup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𝐾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(</m:t>
                        </m:r>
                        <m:f>
                          <m:f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</m:ctrlPr>
                          </m:fPr>
                          <m:num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𝑥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 − 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NanumGothic" panose="020D0604000000000000" pitchFamily="34" charset="-127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NanumGothic" panose="020D0604000000000000" pitchFamily="34" charset="-127"/>
                              </a:rPr>
                              <m:t>h</m:t>
                            </m:r>
                          </m:den>
                        </m:f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 smtClean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342900" indent="-342900" algn="just" latinLnBrk="1">
                  <a:spcAft>
                    <a:spcPts val="600"/>
                  </a:spcAft>
                  <a:buFontTx/>
                  <a:buChar char="-"/>
                </a:pPr>
                <a:endParaRPr lang="en-US" altLang="ko-KR" dirty="0" smtClean="0">
                  <a:latin typeface="NanumGothic" panose="020D0604000000000000" pitchFamily="34" charset="-127"/>
                  <a:ea typeface="NanumGothic" panose="020D0604000000000000" pitchFamily="34" charset="-127"/>
                </a:endParaRPr>
              </a:p>
              <a:p>
                <a:pPr marL="342900" indent="-34290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/>
                  </a:rPr>
                  <a:t>H</a:t>
                </a:r>
                <a:r>
                  <a:rPr lang="ko-KR" altLang="en-US" dirty="0" smtClean="0">
                    <a:latin typeface="NanumGothic" panose="020D0604000000000000" pitchFamily="34" charset="-127"/>
                    <a:ea typeface="NanumGothic" panose="020D0604000000000000"/>
                  </a:rPr>
                  <a:t>는 커널 함수의 </a:t>
                </a:r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/>
                  </a:rPr>
                  <a:t>bandwidth parameter</a:t>
                </a:r>
                <a:r>
                  <a:rPr lang="ko-KR" altLang="en-US" dirty="0" smtClean="0">
                    <a:latin typeface="NanumGothic" panose="020D0604000000000000" pitchFamily="34" charset="-127"/>
                    <a:ea typeface="NanumGothic" panose="020D0604000000000000"/>
                  </a:rPr>
                  <a:t>를 의미</a:t>
                </a:r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/>
                  </a:rPr>
                  <a:t>. </a:t>
                </a:r>
                <a:r>
                  <a:rPr lang="ko-KR" altLang="en-US" dirty="0" smtClean="0">
                    <a:latin typeface="NanumGothic" panose="020D0604000000000000" pitchFamily="34" charset="-127"/>
                    <a:ea typeface="NanumGothic" panose="020D0604000000000000"/>
                  </a:rPr>
                  <a:t>히스토그램에서 분포 폭을 조절하는 것과 유사한 역할을 수행</a:t>
                </a:r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/>
                  </a:rPr>
                  <a:t>.</a:t>
                </a:r>
              </a:p>
              <a:p>
                <a:pPr marL="342900" indent="-342900" algn="just" latinLnBrk="1"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𝑖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는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각</m:t>
                    </m:r>
                  </m:oMath>
                </a14:m>
                <a:r>
                  <a:rPr lang="ko-KR" altLang="en-US" dirty="0" smtClean="0">
                    <a:latin typeface="NanumGothic" panose="020D0604000000000000" pitchFamily="34" charset="-127"/>
                    <a:ea typeface="NanumGothic" panose="020D0604000000000000"/>
                  </a:rPr>
                  <a:t>각의 데이터 관측치를 의미</a:t>
                </a:r>
                <a:r>
                  <a:rPr lang="en-US" altLang="ko-KR" dirty="0" smtClean="0">
                    <a:latin typeface="NanumGothic" panose="020D0604000000000000" pitchFamily="34" charset="-127"/>
                    <a:ea typeface="NanumGothic" panose="020D0604000000000000"/>
                  </a:rPr>
                  <a:t>.</a:t>
                </a:r>
              </a:p>
            </p:txBody>
          </p:sp>
        </mc:Choice>
        <mc:Fallback>
          <p:sp>
            <p:nvSpPr>
              <p:cNvPr id="14" name="文本框 4">
                <a:extLst>
                  <a:ext uri="{FF2B5EF4-FFF2-40B4-BE49-F238E27FC236}">
                    <a16:creationId xmlns:a16="http://schemas.microsoft.com/office/drawing/2014/main" id="{914EA958-2EA0-7E43-9809-FACBE5B6E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050" y="1125935"/>
                <a:ext cx="8079562" cy="2580515"/>
              </a:xfrm>
              <a:prstGeom prst="rect">
                <a:avLst/>
              </a:prstGeom>
              <a:blipFill>
                <a:blip r:embed="rId4"/>
                <a:stretch>
                  <a:fillRect l="-679" t="-1418" r="-604" b="-28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0015" y="4258235"/>
            <a:ext cx="81154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ea typeface="NanumGothic" panose="020D0604000000000000"/>
              </a:rPr>
              <a:t>각 관측치</a:t>
            </a:r>
            <a:r>
              <a:rPr lang="en-US" altLang="ko-KR" dirty="0" smtClean="0">
                <a:ea typeface="NanumGothic" panose="020D0604000000000000"/>
              </a:rPr>
              <a:t>(data point)</a:t>
            </a:r>
            <a:r>
              <a:rPr lang="ko-KR" altLang="en-US" dirty="0" smtClean="0">
                <a:ea typeface="NanumGothic" panose="020D0604000000000000"/>
              </a:rPr>
              <a:t>별로</a:t>
            </a:r>
            <a:r>
              <a:rPr lang="en-US" altLang="ko-KR" dirty="0" smtClean="0">
                <a:ea typeface="NanumGothic" panose="020D0604000000000000"/>
              </a:rPr>
              <a:t> </a:t>
            </a:r>
            <a:r>
              <a:rPr lang="ko-KR" altLang="en-US" dirty="0" smtClean="0">
                <a:ea typeface="NanumGothic" panose="020D0604000000000000"/>
              </a:rPr>
              <a:t>해당 데이터를 중심으로 하는 커널 함수를 생성</a:t>
            </a:r>
            <a:r>
              <a:rPr lang="en-US" altLang="ko-KR" dirty="0" smtClean="0">
                <a:ea typeface="NanumGothic" panose="020D0604000000000000"/>
              </a:rPr>
              <a:t>      </a:t>
            </a:r>
            <a:r>
              <a:rPr lang="en-US" altLang="ko-KR" sz="1600" dirty="0" smtClean="0">
                <a:ea typeface="NanumGothic" panose="020D0604000000000000"/>
              </a:rPr>
              <a:t>-&gt; </a:t>
            </a:r>
            <a:r>
              <a:rPr lang="ko-KR" altLang="en-US" sz="1600" b="1" dirty="0" smtClean="0">
                <a:solidFill>
                  <a:srgbClr val="00B050"/>
                </a:solidFill>
                <a:ea typeface="NanumGothic" panose="020D0604000000000000"/>
              </a:rPr>
              <a:t>총 </a:t>
            </a:r>
            <a:r>
              <a:rPr lang="en-US" altLang="ko-KR" sz="1600" b="1" dirty="0" smtClean="0">
                <a:solidFill>
                  <a:srgbClr val="00B050"/>
                </a:solidFill>
                <a:ea typeface="NanumGothic" panose="020D0604000000000000"/>
              </a:rPr>
              <a:t>n</a:t>
            </a:r>
            <a:r>
              <a:rPr lang="ko-KR" altLang="en-US" sz="1600" b="1" dirty="0" smtClean="0">
                <a:solidFill>
                  <a:srgbClr val="00B050"/>
                </a:solidFill>
                <a:ea typeface="NanumGothic" panose="020D0604000000000000"/>
              </a:rPr>
              <a:t>개의 커널 함수</a:t>
            </a:r>
            <a:r>
              <a:rPr lang="ko-KR" altLang="en-US" sz="1600" dirty="0" smtClean="0">
                <a:ea typeface="NanumGothic" panose="020D0604000000000000"/>
              </a:rPr>
              <a:t>가 모든 </a:t>
            </a:r>
            <a:r>
              <a:rPr lang="ko-KR" altLang="en-US" sz="1600" dirty="0" err="1" smtClean="0">
                <a:ea typeface="NanumGothic" panose="020D0604000000000000"/>
              </a:rPr>
              <a:t>정의역</a:t>
            </a:r>
            <a:r>
              <a:rPr lang="ko-KR" altLang="en-US" sz="1600" dirty="0" smtClean="0">
                <a:ea typeface="NanumGothic" panose="020D0604000000000000"/>
              </a:rPr>
              <a:t> 구간에 대해 형성됨</a:t>
            </a:r>
            <a:endParaRPr lang="en-US" altLang="ko-KR" sz="1600" dirty="0" smtClean="0">
              <a:ea typeface="NanumGothic" panose="020D0604000000000000"/>
            </a:endParaRPr>
          </a:p>
          <a:p>
            <a:pPr marL="342900" indent="-342900">
              <a:buAutoNum type="arabicPeriod"/>
            </a:pPr>
            <a:endParaRPr lang="en-US" altLang="ko-KR" dirty="0" smtClean="0">
              <a:ea typeface="NanumGothic" panose="020D0604000000000000"/>
            </a:endParaRPr>
          </a:p>
          <a:p>
            <a:pPr marL="342900" indent="-342900">
              <a:buAutoNum type="arabicPeriod"/>
            </a:pPr>
            <a:r>
              <a:rPr lang="ko-KR" altLang="en-US" dirty="0" smtClean="0">
                <a:ea typeface="NanumGothic" panose="020D0604000000000000"/>
              </a:rPr>
              <a:t>위에서 생성된 커널 함수를 모두 더한 후</a:t>
            </a:r>
            <a:r>
              <a:rPr lang="en-US" altLang="ko-KR" dirty="0" smtClean="0">
                <a:ea typeface="NanumGothic" panose="020D0604000000000000"/>
              </a:rPr>
              <a:t>, </a:t>
            </a:r>
            <a:r>
              <a:rPr lang="ko-KR" altLang="en-US" dirty="0" smtClean="0">
                <a:ea typeface="NanumGothic" panose="020D0604000000000000"/>
              </a:rPr>
              <a:t>전체 관측치 개수로 나눔</a:t>
            </a:r>
            <a:r>
              <a:rPr lang="en-US" altLang="ko-KR" dirty="0">
                <a:ea typeface="NanumGothic" panose="020D0604000000000000"/>
              </a:rPr>
              <a:t> </a:t>
            </a:r>
            <a:r>
              <a:rPr lang="en-US" altLang="ko-KR" dirty="0" smtClean="0">
                <a:ea typeface="NanumGothic" panose="020D0604000000000000"/>
              </a:rPr>
              <a:t> -&gt; </a:t>
            </a:r>
            <a:r>
              <a:rPr lang="ko-KR" altLang="en-US" dirty="0" smtClean="0">
                <a:ea typeface="NanumGothic" panose="020D0604000000000000"/>
              </a:rPr>
              <a:t>평균</a:t>
            </a:r>
            <a:endParaRPr lang="ko-KR" altLang="en-US" dirty="0">
              <a:ea typeface="NanumGothic" panose="020D0604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565193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sz="2000" b="1" dirty="0" smtClean="0">
                <a:ea typeface="NanumGothic" panose="020D0604000000000000"/>
              </a:rPr>
              <a:t>대표적 군집화 기법</a:t>
            </a:r>
            <a:r>
              <a:rPr lang="en-US" altLang="ko-KR" sz="2000" b="1" dirty="0" smtClean="0">
                <a:ea typeface="NanumGothic" panose="020D0604000000000000"/>
              </a:rPr>
              <a:t>(Mean Shift Clustering)</a:t>
            </a:r>
            <a:endParaRPr lang="en-US" altLang="ko-KR" sz="2000" b="1" dirty="0">
              <a:ea typeface="NanumGothic" panose="020D060400000000000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25935"/>
            <a:ext cx="80795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커널 </a:t>
            </a:r>
            <a:r>
              <a:rPr lang="ko-KR" altLang="en-US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밀도 추정</a:t>
            </a:r>
            <a:r>
              <a:rPr lang="en-US" altLang="ko-KR" b="1" dirty="0" smtClean="0">
                <a:latin typeface="NanumGothic" panose="020D0604000000000000" pitchFamily="34" charset="-127"/>
                <a:ea typeface="NanumGothic" panose="020D0604000000000000" pitchFamily="34" charset="-127"/>
              </a:rPr>
              <a:t>(Kernel Density Estimation with Gaussian Function)</a:t>
            </a:r>
          </a:p>
          <a:p>
            <a:pPr marL="285750" indent="-285750" algn="just" latinLnBrk="1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dirty="0">
              <a:latin typeface="NanumGothic" panose="020D0604000000000000" pitchFamily="34" charset="-127"/>
              <a:ea typeface="NanumGothic" panose="020D0604000000000000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- h(bandwidth)</a:t>
            </a:r>
            <a:r>
              <a:rPr lang="ko-KR" altLang="en-US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가 </a:t>
            </a:r>
            <a:r>
              <a:rPr lang="en-US" altLang="ko-KR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1</a:t>
            </a:r>
            <a:r>
              <a:rPr lang="ko-KR" altLang="en-US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인 경우          </a:t>
            </a:r>
            <a:r>
              <a:rPr lang="en-US" altLang="ko-KR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vs               h</a:t>
            </a:r>
            <a:r>
              <a:rPr lang="ko-KR" altLang="en-US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가 </a:t>
            </a:r>
            <a:r>
              <a:rPr lang="en-US" altLang="ko-KR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2.3</a:t>
            </a:r>
            <a:r>
              <a:rPr lang="ko-KR" altLang="en-US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/>
              </a:rPr>
              <a:t>인 경우</a:t>
            </a:r>
            <a:endParaRPr lang="en-US" altLang="ko-KR" dirty="0" smtClean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2021-1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학기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비즈니스 데이터 사이언스</a:t>
            </a:r>
            <a:r>
              <a:rPr lang="en-US" altLang="ko-KR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050" dirty="0" smtClean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세미나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16" y="2529998"/>
            <a:ext cx="3617077" cy="24495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361" y="2618996"/>
            <a:ext cx="3660933" cy="2354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0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9953" y="1741900"/>
            <a:ext cx="84355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커널 함수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에 기반한 </a:t>
            </a:r>
            <a:r>
              <a:rPr kumimoji="0" lang="ko-KR" altLang="en-US" sz="180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비모수적</a:t>
            </a: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 밀도 추정 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방법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(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KDE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)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에 의하여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각 데이터 포인트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에 대해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, 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데이터의 밀도가 가장 높은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중심 포인트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(Centroid)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에 대응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시키는 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“</a:t>
            </a:r>
            <a:r>
              <a:rPr kumimoji="0" lang="ko-KR" altLang="en-US" sz="180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밀도 기반</a:t>
            </a:r>
            <a:r>
              <a:rPr kumimoji="0" lang="en-US" altLang="ko-KR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“  </a:t>
            </a:r>
            <a:r>
              <a:rPr kumimoji="0" lang="ko-KR" alt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클러스터링</a:t>
            </a:r>
            <a:r>
              <a:rPr kumimoji="0" lang="ko-KR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</a:rPr>
              <a:t> 알고리즘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399" y="2833900"/>
            <a:ext cx="4152900" cy="3276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21224" y="6110500"/>
            <a:ext cx="5047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출처 </a:t>
            </a:r>
            <a:r>
              <a:rPr lang="en-US" altLang="ko-KR" sz="1400" dirty="0"/>
              <a:t>: https://techlog.gurucat.net/146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68789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797859" y="2017059"/>
                <a:ext cx="7454790" cy="3216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>
                    <a:solidFill>
                      <a:srgbClr val="00B050"/>
                    </a:solidFill>
                  </a:rPr>
                  <a:t>모든 관측치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ko-KR" altLang="en-US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b="1" dirty="0" smtClean="0">
                    <a:solidFill>
                      <a:srgbClr val="00B050"/>
                    </a:solidFill>
                  </a:rPr>
                  <a:t> 대하여</a:t>
                </a:r>
                <a:r>
                  <a:rPr lang="en-US" altLang="ko-KR" b="1" dirty="0" smtClean="0">
                    <a:solidFill>
                      <a:srgbClr val="00B050"/>
                    </a:solidFill>
                  </a:rPr>
                  <a:t>, </a:t>
                </a:r>
                <a:r>
                  <a:rPr lang="ko-KR" altLang="en-US" b="1" dirty="0" smtClean="0">
                    <a:solidFill>
                      <a:srgbClr val="00B050"/>
                    </a:solidFill>
                  </a:rPr>
                  <a:t>아래와 같은 절차를 반복</a:t>
                </a:r>
                <a:endParaRPr lang="en-US" altLang="ko-KR" dirty="0" smtClean="0"/>
              </a:p>
              <a:p>
                <a:endParaRPr lang="en-US" altLang="ko-KR" dirty="0" smtClean="0"/>
              </a:p>
              <a:p>
                <a:pPr marL="342900" indent="-342900">
                  <a:buAutoNum type="arabicPeriod"/>
                </a:pPr>
                <a:r>
                  <a:rPr lang="ko-KR" altLang="en-US" dirty="0" smtClean="0"/>
                  <a:t>중심점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ko-KR" altLang="en-US" dirty="0" smtClean="0"/>
                  <a:t>를 지정한다</a:t>
                </a:r>
                <a:r>
                  <a:rPr lang="en-US" altLang="ko-KR" dirty="0" smtClean="0"/>
                  <a:t>. </a:t>
                </a:r>
                <a:r>
                  <a:rPr lang="ko-KR" altLang="en-US" dirty="0" smtClean="0"/>
                  <a:t>이 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최초의 중심점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는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아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래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같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음</m:t>
                    </m:r>
                  </m:oMath>
                </a14:m>
                <a:endParaRPr lang="en-US" altLang="ko-KR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altLang="ko-KR" sz="2400" b="1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ko-KR" sz="24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ko-KR" dirty="0" smtClean="0"/>
              </a:p>
              <a:p>
                <a:endParaRPr lang="en-US" altLang="ko-KR" dirty="0" smtClean="0"/>
              </a:p>
              <a:p>
                <a:pPr marL="342900" indent="-342900">
                  <a:buAutoNum type="arabicPeriod" startAt="2"/>
                </a:pPr>
                <a:r>
                  <a:rPr lang="ko-KR" altLang="en-US" dirty="0" smtClean="0"/>
                  <a:t>하단 식에 따라 새로운 중심점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 smtClean="0"/>
                  <a:t> 계산 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총 관측치 개수가 </a:t>
                </a:r>
                <a:r>
                  <a:rPr lang="en-US" altLang="ko-KR" dirty="0" smtClean="0"/>
                  <a:t>n)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</m:oMath>
                </a14:m>
                <a:r>
                  <a:rPr lang="ko-KR" altLang="en-US" sz="2400" b="1" dirty="0" smtClean="0"/>
                  <a:t> </a:t>
                </a:r>
                <a:r>
                  <a:rPr lang="en-US" altLang="ko-KR" sz="2400" b="1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sz="2400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num>
                              <m:den>
                                <m:r>
                                  <a:rPr lang="en-US" altLang="ko-KR" sz="2400" b="1" i="1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den>
                            </m:f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𝑲</m:t>
                            </m:r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( </m:t>
                            </m:r>
                            <m:f>
                              <m:fPr>
                                <m:ctrlP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ko-KR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num>
                              <m:den>
                                <m:r>
                                  <a:rPr lang="en-US" altLang="ko-KR" sz="2400" b="1" i="1" smtClean="0">
                                    <a:latin typeface="Cambria Math" panose="02040503050406030204" pitchFamily="18" charset="0"/>
                                  </a:rPr>
                                  <m:t>𝒉</m:t>
                                </m:r>
                              </m:den>
                            </m:f>
                            <m:r>
                              <a:rPr lang="en-US" altLang="ko-KR" sz="2400" b="1" i="1" smtClean="0">
                                <a:latin typeface="Cambria Math" panose="02040503050406030204" pitchFamily="18" charset="0"/>
                              </a:rPr>
                              <m:t> )</m:t>
                            </m:r>
                          </m:e>
                        </m:nary>
                      </m:den>
                    </m:f>
                  </m:oMath>
                </a14:m>
                <a:endParaRPr lang="en-US" altLang="ko-KR" b="1" dirty="0" smtClean="0"/>
              </a:p>
              <a:p>
                <a:pPr algn="ctr"/>
                <a:endParaRPr lang="en-US" altLang="ko-KR" dirty="0"/>
              </a:p>
              <a:p>
                <a:r>
                  <a:rPr lang="en-US" altLang="ko-KR" dirty="0" smtClean="0"/>
                  <a:t>3.   </a:t>
                </a:r>
                <a:r>
                  <a:rPr lang="ko-KR" altLang="en-US" dirty="0"/>
                  <a:t>중</a:t>
                </a:r>
                <a14:m>
                  <m:oMath xmlns:m="http://schemas.openxmlformats.org/officeDocument/2006/math">
                    <m:r>
                      <a:rPr lang="ko-KR" altLang="en-US" b="1" i="1" smtClean="0">
                        <a:latin typeface="Cambria Math" panose="02040503050406030204" pitchFamily="18" charset="0"/>
                      </a:rPr>
                      <m:t>심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점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</m:oMath>
                </a14:m>
                <a:r>
                  <a:rPr lang="ko-KR" altLang="en-US" dirty="0" smtClean="0"/>
                  <a:t>가 수렴할 때까지</a:t>
                </a:r>
                <a:r>
                  <a:rPr lang="en-US" altLang="ko-KR" dirty="0" smtClean="0"/>
                  <a:t>, 2</a:t>
                </a:r>
                <a:r>
                  <a:rPr lang="ko-KR" altLang="en-US" dirty="0" smtClean="0"/>
                  <a:t>번 과정을 반복</a:t>
                </a:r>
                <a:endParaRPr lang="ko-KR" altLang="en-US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59" y="2017059"/>
                <a:ext cx="7454790" cy="3216522"/>
              </a:xfrm>
              <a:prstGeom prst="rect">
                <a:avLst/>
              </a:prstGeom>
              <a:blipFill>
                <a:blip r:embed="rId4"/>
                <a:stretch>
                  <a:fillRect l="-736" t="-1326" b="-22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36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9953" y="1741900"/>
            <a:ext cx="8435507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en-US" altLang="ko-KR" b="1" dirty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ex) 10</a:t>
            </a:r>
            <a:r>
              <a:rPr lang="ko-KR" altLang="en-US" b="1" dirty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명의 학생에 대한 </a:t>
            </a:r>
            <a:r>
              <a:rPr lang="ko-KR" altLang="en-US" b="1" dirty="0" smtClean="0">
                <a:solidFill>
                  <a:srgbClr val="00B0F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키 데이터에 대한 군집화 실시</a:t>
            </a:r>
            <a:endParaRPr lang="en-US" altLang="ko-KR" b="1" dirty="0">
              <a:solidFill>
                <a:srgbClr val="00B0F0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algn="just" latinLnBrk="1">
              <a:spcAft>
                <a:spcPts val="600"/>
              </a:spcAft>
            </a:pPr>
            <a:r>
              <a:rPr lang="en-US" altLang="ko-KR" dirty="0"/>
              <a:t>165.6, 169.9, 171.3, 151.6, 150.5, 158.2, 149.5, 152.2, 170.1, 164.5 (</a:t>
            </a:r>
            <a:r>
              <a:rPr lang="ko-KR" altLang="en-US" sz="1600" dirty="0"/>
              <a:t>실제 키</a:t>
            </a:r>
            <a:r>
              <a:rPr lang="en-US" altLang="ko-KR" dirty="0"/>
              <a:t>)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53" y="2874672"/>
            <a:ext cx="4610100" cy="2781300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4374776" y="2082359"/>
            <a:ext cx="564777" cy="382816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32612" y="2972660"/>
                <a:ext cx="3522848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 smtClean="0"/>
                  <a:t>조건</a:t>
                </a:r>
                <a:endParaRPr lang="en-US" altLang="ko-KR" b="1" dirty="0" smtClean="0"/>
              </a:p>
              <a:p>
                <a:endParaRPr lang="en-US" altLang="ko-KR" dirty="0"/>
              </a:p>
              <a:p>
                <a:pPr marL="342900" indent="-342900">
                  <a:buAutoNum type="arabicPeriod"/>
                </a:pPr>
                <a:r>
                  <a:rPr lang="ko-KR" altLang="en-US" dirty="0" err="1" smtClean="0"/>
                  <a:t>커널함수는</a:t>
                </a:r>
                <a:r>
                  <a:rPr lang="ko-KR" altLang="en-US" dirty="0" smtClean="0"/>
                  <a:t> </a:t>
                </a:r>
                <a:r>
                  <a:rPr lang="ko-KR" altLang="en-US" dirty="0" err="1" smtClean="0"/>
                  <a:t>가우시안</a:t>
                </a:r>
                <a:r>
                  <a:rPr lang="ko-KR" altLang="en-US" dirty="0" smtClean="0"/>
                  <a:t> 함수를 사용</a:t>
                </a:r>
                <a:endParaRPr lang="en-US" altLang="ko-KR" dirty="0" smtClean="0"/>
              </a:p>
              <a:p>
                <a:pPr marL="342900" indent="-342900">
                  <a:buAutoNum type="arabicPeriod"/>
                </a:pPr>
                <a:endParaRPr lang="en-US" altLang="ko-KR" dirty="0"/>
              </a:p>
              <a:p>
                <a:pPr marL="342900" indent="-342900">
                  <a:buAutoNum type="arabicPeriod" startAt="2"/>
                </a:pPr>
                <a:r>
                  <a:rPr lang="en-US" altLang="ko-KR" dirty="0" smtClean="0"/>
                  <a:t>Bandwidth h = 2.3</a:t>
                </a:r>
                <a:r>
                  <a:rPr lang="ko-KR" altLang="en-US" dirty="0" smtClean="0"/>
                  <a:t>으로 설정</a:t>
                </a:r>
                <a:endParaRPr lang="en-US" altLang="ko-KR" dirty="0" smtClean="0"/>
              </a:p>
              <a:p>
                <a:pPr marL="342900" indent="-342900">
                  <a:buAutoNum type="arabicPeriod" startAt="2"/>
                </a:pPr>
                <a:endParaRPr lang="en-US" altLang="ko-KR" dirty="0"/>
              </a:p>
              <a:p>
                <a:pPr marL="342900" indent="-342900">
                  <a:buAutoNum type="arabicPeriod" startAt="2"/>
                </a:pPr>
                <a:r>
                  <a:rPr lang="ko-KR" altLang="en-US" dirty="0" err="1" smtClean="0"/>
                  <a:t>가우시안</a:t>
                </a:r>
                <a:r>
                  <a:rPr lang="ko-KR" altLang="en-US" dirty="0" smtClean="0"/>
                  <a:t> 함수의 </a:t>
                </a:r>
                <a:r>
                  <a:rPr lang="ko-KR" altLang="en-US" dirty="0" err="1" smtClean="0"/>
                  <a:t>모수인</a:t>
                </a:r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r>
                  <a:rPr lang="en-US" altLang="ko-KR" dirty="0" smtClean="0"/>
                  <a:t>     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𝜎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= 1</a:t>
                </a:r>
                <a:r>
                  <a:rPr lang="ko-KR" altLang="en-US" dirty="0" smtClean="0"/>
                  <a:t>로 설정 </a:t>
                </a:r>
                <a:endParaRPr lang="ko-KR" altLang="en-US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612" y="2972660"/>
                <a:ext cx="3522848" cy="2585323"/>
              </a:xfrm>
              <a:prstGeom prst="rect">
                <a:avLst/>
              </a:prstGeom>
              <a:blipFill>
                <a:blip r:embed="rId5"/>
                <a:stretch>
                  <a:fillRect l="-1384" t="-1887" b="-28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타원 15"/>
          <p:cNvSpPr/>
          <p:nvPr/>
        </p:nvSpPr>
        <p:spPr>
          <a:xfrm>
            <a:off x="869577" y="3920124"/>
            <a:ext cx="555812" cy="52637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392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19953" y="1741900"/>
                <a:ext cx="8435507" cy="14311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latinLnBrk="1">
                  <a:spcAft>
                    <a:spcPts val="600"/>
                  </a:spcAft>
                  <a:buAutoNum type="arabicPeriod"/>
                </a:pPr>
                <a:r>
                  <a:rPr lang="ko-KR" altLang="en-US" dirty="0" smtClean="0"/>
                  <a:t>중심점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ko-KR" altLang="en-US" dirty="0"/>
                  <a:t>를 지정한다</a:t>
                </a:r>
                <a:r>
                  <a:rPr lang="en-US" altLang="ko-KR" dirty="0" smtClean="0"/>
                  <a:t>. </a:t>
                </a:r>
              </a:p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/>
                  <a:t> </a:t>
                </a:r>
                <a:r>
                  <a:rPr lang="en-US" altLang="ko-KR" dirty="0" smtClean="0"/>
                  <a:t>    </a:t>
                </a:r>
                <a:r>
                  <a:rPr lang="ko-KR" altLang="en-US" dirty="0" smtClean="0"/>
                  <a:t>관측치 </a:t>
                </a:r>
                <a:r>
                  <a:rPr lang="en-US" altLang="ko-KR" dirty="0" smtClean="0"/>
                  <a:t>149.5</a:t>
                </a:r>
                <a:r>
                  <a:rPr lang="ko-KR" altLang="en-US" dirty="0" smtClean="0"/>
                  <a:t>를 기준으로 하고 있으므로</a:t>
                </a:r>
                <a:r>
                  <a:rPr lang="en-US" altLang="ko-KR" dirty="0" smtClean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dirty="0" smtClean="0"/>
                  <a:t> = 149.5</a:t>
                </a:r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/>
              </a:p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 smtClean="0"/>
                  <a:t>2. </a:t>
                </a:r>
                <a:r>
                  <a:rPr lang="ko-KR" altLang="en-US" dirty="0"/>
                  <a:t>새로운 중심점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ko-KR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계산</a:t>
                </a:r>
                <a:r>
                  <a:rPr lang="en-US" altLang="ko-KR" dirty="0" smtClean="0"/>
                  <a:t>  </a:t>
                </a:r>
                <a:endParaRPr lang="en-US" altLang="ko-KR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" y="1741900"/>
                <a:ext cx="8435507" cy="1431161"/>
              </a:xfrm>
              <a:prstGeom prst="rect">
                <a:avLst/>
              </a:prstGeom>
              <a:blipFill>
                <a:blip r:embed="rId4"/>
                <a:stretch>
                  <a:fillRect l="-578" t="-3404" b="-5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152654" y="3526760"/>
                <a:ext cx="2500621" cy="220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ko-KR" alt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</m:acc>
                      <m:r>
                        <m:rPr>
                          <m:nor/>
                        </m:rPr>
                        <a:rPr lang="ko-KR" altLang="en-US" b="1" dirty="0"/>
                        <m:t> </m:t>
                      </m:r>
                      <m:r>
                        <m:rPr>
                          <m:nor/>
                        </m:rPr>
                        <a:rPr lang="en-US" altLang="ko-KR" b="1" dirty="0"/>
                        <m:t>= </m:t>
                      </m:r>
                      <m:f>
                        <m:f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num>
                                <m:den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den>
                              </m:f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( </m:t>
                              </m:r>
                              <m:f>
                                <m:fPr>
                                  <m:ctrlP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b>
                                      <m:r>
                                        <a:rPr lang="en-US" altLang="ko-KR" b="1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 − </m:t>
                                  </m:r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num>
                                <m:den>
                                  <m:r>
                                    <a:rPr lang="en-US" altLang="ko-KR" b="1" i="1"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den>
                              </m:f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 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endParaRPr lang="en-US" altLang="ko-KR" dirty="0" smtClean="0"/>
              </a:p>
              <a:p>
                <a:r>
                  <a:rPr lang="en-US" altLang="ko-KR" dirty="0"/>
                  <a:t> </a:t>
                </a:r>
                <a:r>
                  <a:rPr lang="en-US" altLang="ko-KR" dirty="0" smtClean="0"/>
                  <a:t>  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81.4842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0.5408</m:t>
                        </m:r>
                      </m:den>
                    </m:f>
                  </m:oMath>
                </a14:m>
                <a:endParaRPr lang="en-US" altLang="ko-KR" dirty="0" smtClean="0"/>
              </a:p>
              <a:p>
                <a:endParaRPr lang="en-US" altLang="ko-KR" dirty="0"/>
              </a:p>
              <a:p>
                <a:r>
                  <a:rPr lang="en-US" altLang="ko-KR" dirty="0" smtClean="0"/>
                  <a:t>     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150.7</m:t>
                    </m:r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654" y="3526760"/>
                <a:ext cx="2500621" cy="2203680"/>
              </a:xfrm>
              <a:prstGeom prst="rect">
                <a:avLst/>
              </a:prstGeom>
              <a:blipFill>
                <a:blip r:embed="rId5"/>
                <a:stretch>
                  <a:fillRect b="-55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90" y="3290047"/>
            <a:ext cx="3734922" cy="267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44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19953" y="1741900"/>
                <a:ext cx="8435507" cy="728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 smtClean="0"/>
                  <a:t>3. </a:t>
                </a:r>
                <a:r>
                  <a:rPr lang="ko-KR" altLang="en-US" dirty="0"/>
                  <a:t>중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심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</m:oMath>
                </a14:m>
                <a:r>
                  <a:rPr lang="ko-KR" altLang="en-US" dirty="0"/>
                  <a:t>가 변하지 않을 때까지</a:t>
                </a:r>
                <a:r>
                  <a:rPr lang="en-US" altLang="ko-KR" dirty="0"/>
                  <a:t>, 2</a:t>
                </a:r>
                <a:r>
                  <a:rPr lang="ko-KR" altLang="en-US" dirty="0"/>
                  <a:t>번 과정을 반복</a:t>
                </a:r>
                <a:endParaRPr lang="ko-KR" altLang="en-US" dirty="0"/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" y="1741900"/>
                <a:ext cx="8435507" cy="728469"/>
              </a:xfrm>
              <a:prstGeom prst="rect">
                <a:avLst/>
              </a:prstGeom>
              <a:blipFill>
                <a:blip r:embed="rId4"/>
                <a:stretch>
                  <a:fillRect l="-578" t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64" y="2488997"/>
            <a:ext cx="2850776" cy="238017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307" y="2508780"/>
            <a:ext cx="2690454" cy="2340603"/>
          </a:xfrm>
          <a:prstGeom prst="rect">
            <a:avLst/>
          </a:prstGeom>
        </p:spPr>
      </p:pic>
      <p:sp>
        <p:nvSpPr>
          <p:cNvPr id="7" name="오른쪽 화살표 6"/>
          <p:cNvSpPr/>
          <p:nvPr/>
        </p:nvSpPr>
        <p:spPr>
          <a:xfrm>
            <a:off x="3629937" y="3523129"/>
            <a:ext cx="473773" cy="295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오른쪽 화살표 14"/>
          <p:cNvSpPr/>
          <p:nvPr/>
        </p:nvSpPr>
        <p:spPr>
          <a:xfrm>
            <a:off x="7261582" y="3523129"/>
            <a:ext cx="473773" cy="2958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844118" y="3442447"/>
                <a:ext cx="7763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4118" y="3442447"/>
                <a:ext cx="776311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타원 21"/>
          <p:cNvSpPr/>
          <p:nvPr/>
        </p:nvSpPr>
        <p:spPr>
          <a:xfrm>
            <a:off x="2699734" y="2645190"/>
            <a:ext cx="860611" cy="3112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147212" y="2685033"/>
            <a:ext cx="860611" cy="3112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7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19953" y="1741900"/>
                <a:ext cx="8435507" cy="728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 latinLnBrk="1">
                  <a:spcAft>
                    <a:spcPts val="600"/>
                  </a:spcAft>
                </a:pPr>
                <a:r>
                  <a:rPr lang="en-US" altLang="ko-KR" dirty="0" smtClean="0"/>
                  <a:t>3. </a:t>
                </a:r>
                <a:r>
                  <a:rPr lang="ko-KR" altLang="en-US" dirty="0"/>
                  <a:t>중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심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점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ko-KR" alt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acc>
                  </m:oMath>
                </a14:m>
                <a:r>
                  <a:rPr lang="ko-KR" altLang="en-US" dirty="0"/>
                  <a:t>가 변하지 않을 때까지</a:t>
                </a:r>
                <a:r>
                  <a:rPr lang="en-US" altLang="ko-KR" dirty="0"/>
                  <a:t>, 2</a:t>
                </a:r>
                <a:r>
                  <a:rPr lang="ko-KR" altLang="en-US" dirty="0"/>
                  <a:t>번 과정을 </a:t>
                </a:r>
                <a:r>
                  <a:rPr lang="ko-KR" altLang="en-US" dirty="0" smtClean="0"/>
                  <a:t>반복 </a:t>
                </a:r>
                <a:r>
                  <a:rPr lang="en-US" altLang="ko-KR" dirty="0" smtClean="0"/>
                  <a:t>(</a:t>
                </a:r>
                <a:r>
                  <a:rPr lang="ko-KR" altLang="en-US" dirty="0" smtClean="0"/>
                  <a:t>최종</a:t>
                </a:r>
                <a:r>
                  <a:rPr lang="en-US" altLang="ko-KR" dirty="0"/>
                  <a:t>)</a:t>
                </a:r>
                <a:endParaRPr lang="ko-KR" altLang="en-US" dirty="0"/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" y="1741900"/>
                <a:ext cx="8435507" cy="728469"/>
              </a:xfrm>
              <a:prstGeom prst="rect">
                <a:avLst/>
              </a:prstGeom>
              <a:blipFill>
                <a:blip r:embed="rId4"/>
                <a:stretch>
                  <a:fillRect l="-578" t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2506" y="2387922"/>
            <a:ext cx="2895600" cy="2524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69562" y="5373403"/>
            <a:ext cx="4482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F0"/>
                </a:solidFill>
              </a:rPr>
              <a:t>관측치 </a:t>
            </a:r>
            <a:r>
              <a:rPr lang="en-US" altLang="ko-KR" b="1" dirty="0" smtClean="0">
                <a:solidFill>
                  <a:srgbClr val="00B0F0"/>
                </a:solidFill>
              </a:rPr>
              <a:t>149.5</a:t>
            </a:r>
            <a:r>
              <a:rPr lang="ko-KR" altLang="en-US" b="1" dirty="0" smtClean="0">
                <a:solidFill>
                  <a:srgbClr val="00B0F0"/>
                </a:solidFill>
              </a:rPr>
              <a:t>는 중심점 </a:t>
            </a:r>
            <a:r>
              <a:rPr lang="en-US" altLang="ko-KR" b="1" dirty="0" smtClean="0">
                <a:solidFill>
                  <a:srgbClr val="00B0F0"/>
                </a:solidFill>
              </a:rPr>
              <a:t>150.93</a:t>
            </a:r>
            <a:r>
              <a:rPr lang="ko-KR" altLang="en-US" b="1" dirty="0" smtClean="0">
                <a:solidFill>
                  <a:srgbClr val="00B0F0"/>
                </a:solidFill>
              </a:rPr>
              <a:t>에 대응</a:t>
            </a:r>
            <a:r>
              <a:rPr lang="en-US" altLang="ko-KR" b="1" dirty="0" smtClean="0">
                <a:solidFill>
                  <a:srgbClr val="00B0F0"/>
                </a:solidFill>
              </a:rPr>
              <a:t>!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  <p:sp>
        <p:nvSpPr>
          <p:cNvPr id="18" name="타원 17"/>
          <p:cNvSpPr/>
          <p:nvPr/>
        </p:nvSpPr>
        <p:spPr>
          <a:xfrm>
            <a:off x="4940911" y="2575202"/>
            <a:ext cx="860611" cy="31121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95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19953" y="1741900"/>
            <a:ext cx="8435507" cy="728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>
              <a:spcAft>
                <a:spcPts val="600"/>
              </a:spcAft>
            </a:pPr>
            <a:r>
              <a:rPr lang="en-US" altLang="ko-KR" dirty="0" smtClean="0"/>
              <a:t>- </a:t>
            </a:r>
            <a:r>
              <a:rPr lang="ko-KR" altLang="en-US" dirty="0" smtClean="0"/>
              <a:t>전체 관측치 </a:t>
            </a:r>
            <a:r>
              <a:rPr lang="en-US" altLang="ko-KR" dirty="0" smtClean="0"/>
              <a:t>10</a:t>
            </a:r>
            <a:r>
              <a:rPr lang="ko-KR" altLang="en-US" dirty="0" smtClean="0"/>
              <a:t>개에 대한 군집화 결과는 아래와 같음</a:t>
            </a:r>
            <a:endParaRPr lang="ko-KR" altLang="en-US" dirty="0"/>
          </a:p>
          <a:p>
            <a:pPr algn="just" latinLnBrk="1">
              <a:spcAft>
                <a:spcPts val="600"/>
              </a:spcAft>
            </a:pP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904" y="2488997"/>
            <a:ext cx="3405066" cy="297037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496" y="2488996"/>
            <a:ext cx="3660933" cy="2898791"/>
          </a:xfrm>
          <a:prstGeom prst="rect">
            <a:avLst/>
          </a:prstGeom>
        </p:spPr>
      </p:pic>
      <p:sp>
        <p:nvSpPr>
          <p:cNvPr id="6" name="타원 5"/>
          <p:cNvSpPr/>
          <p:nvPr/>
        </p:nvSpPr>
        <p:spPr>
          <a:xfrm>
            <a:off x="5728447" y="2801184"/>
            <a:ext cx="98612" cy="12550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8069172" y="3135751"/>
            <a:ext cx="98612" cy="12550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597354" y="4202551"/>
            <a:ext cx="98612" cy="12550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/>
          <p:cNvCxnSpPr/>
          <p:nvPr/>
        </p:nvCxnSpPr>
        <p:spPr>
          <a:xfrm flipV="1">
            <a:off x="5477435" y="2863937"/>
            <a:ext cx="179294" cy="271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 flipV="1">
            <a:off x="5898777" y="2863937"/>
            <a:ext cx="105562" cy="271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V="1">
            <a:off x="7837113" y="3120707"/>
            <a:ext cx="179294" cy="271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 flipV="1">
            <a:off x="8252649" y="3135751"/>
            <a:ext cx="105562" cy="2718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H="1" flipV="1">
            <a:off x="6757732" y="4228727"/>
            <a:ext cx="280655" cy="731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V="1">
            <a:off x="6359215" y="4180019"/>
            <a:ext cx="240002" cy="852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1192306" y="2730812"/>
            <a:ext cx="3065929" cy="10881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1192306" y="3837594"/>
            <a:ext cx="3065929" cy="223187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1179532" y="4122983"/>
            <a:ext cx="3065929" cy="126480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61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대표적 군집화 기법</a:t>
            </a:r>
            <a:r>
              <a:rPr kumimoji="0" lang="en-US" altLang="ko-KR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/>
                <a:cs typeface="+mn-cs"/>
              </a:rPr>
              <a:t>(Mean Shift Clustering)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文本框 4">
            <a:extLst>
              <a:ext uri="{FF2B5EF4-FFF2-40B4-BE49-F238E27FC236}">
                <a16:creationId xmlns:a16="http://schemas.microsoft.com/office/drawing/2014/main" id="{914EA958-2EA0-7E43-9809-FACBE5B6E295}"/>
              </a:ext>
            </a:extLst>
          </p:cNvPr>
          <p:cNvSpPr txBox="1"/>
          <p:nvPr/>
        </p:nvSpPr>
        <p:spPr>
          <a:xfrm>
            <a:off x="401050" y="1112126"/>
            <a:ext cx="821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Mean Shift Clustering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알고리즘의 장점과 단점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519953" y="1741900"/>
                <a:ext cx="8435507" cy="3544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 latinLnBrk="1">
                  <a:spcAft>
                    <a:spcPts val="600"/>
                  </a:spcAft>
                  <a:buAutoNum type="arabicPeriod"/>
                </a:pPr>
                <a:r>
                  <a:rPr lang="ko-KR" altLang="en-US" b="1" dirty="0" smtClean="0">
                    <a:solidFill>
                      <a:srgbClr val="00B0F0"/>
                    </a:solidFill>
                  </a:rPr>
                  <a:t>장점</a:t>
                </a:r>
                <a:endParaRPr lang="en-US" altLang="ko-KR" b="1" dirty="0" smtClean="0">
                  <a:solidFill>
                    <a:srgbClr val="00B0F0"/>
                  </a:solidFill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/>
                  <a:t>클러스터의 개수를 사전에 지정할 필요가 없음</a:t>
                </a:r>
                <a:endParaRPr lang="en-US" altLang="ko-KR" dirty="0" smtClean="0"/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/>
                  <a:t>밀도 기반 알고리즘으로서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데이터의 분포에 관계없이 유연하게 군집화 가능</a:t>
                </a:r>
                <a:endParaRPr lang="en-US" altLang="ko-KR" dirty="0" smtClean="0"/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err="1" smtClean="0"/>
                  <a:t>이상치의</a:t>
                </a:r>
                <a:r>
                  <a:rPr lang="ko-KR" altLang="en-US" dirty="0" smtClean="0"/>
                  <a:t> 영향력이 크지 않음</a:t>
                </a:r>
                <a:endParaRPr lang="en-US" altLang="ko-KR" dirty="0"/>
              </a:p>
              <a:p>
                <a:pPr marL="342900" indent="-342900" algn="just" latinLnBrk="1">
                  <a:spcAft>
                    <a:spcPts val="600"/>
                  </a:spcAft>
                  <a:buAutoNum type="arabicPeriod"/>
                </a:pPr>
                <a:endParaRPr lang="en-US" altLang="ko-KR" dirty="0" smtClean="0"/>
              </a:p>
              <a:p>
                <a:pPr marL="342900" indent="-342900" algn="just" latinLnBrk="1">
                  <a:spcAft>
                    <a:spcPts val="600"/>
                  </a:spcAft>
                  <a:buAutoNum type="arabicPeriod" startAt="2"/>
                </a:pPr>
                <a:r>
                  <a:rPr lang="ko-KR" altLang="en-US" b="1" dirty="0" smtClean="0">
                    <a:solidFill>
                      <a:srgbClr val="FF0000"/>
                    </a:solidFill>
                  </a:rPr>
                  <a:t>단점</a:t>
                </a:r>
                <a:endParaRPr lang="en-US" altLang="ko-KR" b="1" dirty="0" smtClean="0">
                  <a:solidFill>
                    <a:srgbClr val="FF0000"/>
                  </a:solidFill>
                </a:endParaRPr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en-US" altLang="ko-KR" dirty="0" smtClean="0"/>
                  <a:t>Bandwidth </a:t>
                </a:r>
                <a:r>
                  <a:rPr lang="ko-KR" altLang="en-US" dirty="0" smtClean="0"/>
                  <a:t>값에 따라 </a:t>
                </a:r>
                <a:r>
                  <a:rPr lang="ko-KR" altLang="en-US" dirty="0" err="1" smtClean="0"/>
                  <a:t>군집화의</a:t>
                </a:r>
                <a:r>
                  <a:rPr lang="ko-KR" altLang="en-US" dirty="0" smtClean="0"/>
                  <a:t> 결과가 다르게 나올 수 있음</a:t>
                </a:r>
                <a:endParaRPr lang="en-US" altLang="ko-KR" dirty="0" smtClean="0"/>
              </a:p>
              <a:p>
                <a:pPr marL="285750" indent="-285750" algn="just" latinLnBrk="1">
                  <a:spcAft>
                    <a:spcPts val="600"/>
                  </a:spcAft>
                  <a:buFontTx/>
                  <a:buChar char="-"/>
                </a:pPr>
                <a:r>
                  <a:rPr lang="ko-KR" altLang="en-US" dirty="0" smtClean="0"/>
                  <a:t>하나의 관측치에 대하여 중심점을 </a:t>
                </a:r>
                <a:r>
                  <a:rPr lang="en-US" altLang="ko-KR" dirty="0" smtClean="0"/>
                  <a:t>update</a:t>
                </a:r>
                <a:r>
                  <a:rPr lang="ko-KR" altLang="en-US" dirty="0" smtClean="0"/>
                  <a:t>할 때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모든 관측치의 값을 계산해야 하므로</a:t>
                </a:r>
                <a:r>
                  <a:rPr lang="en-US" altLang="ko-KR" dirty="0" smtClean="0"/>
                  <a:t>,</a:t>
                </a:r>
                <a:r>
                  <a:rPr lang="ko-KR" altLang="en-US" dirty="0" smtClean="0"/>
                  <a:t> 시간 복잡도가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dirty="0" smtClean="0"/>
                  <a:t>로서</a:t>
                </a:r>
                <a:r>
                  <a:rPr lang="en-US" altLang="ko-KR" dirty="0" smtClean="0"/>
                  <a:t>, </a:t>
                </a:r>
                <a:r>
                  <a:rPr lang="ko-KR" altLang="en-US" dirty="0" smtClean="0"/>
                  <a:t>비용이 비싼 편</a:t>
                </a:r>
                <a:endParaRPr lang="ko-KR" altLang="en-US" dirty="0"/>
              </a:p>
              <a:p>
                <a:pPr algn="just" latinLnBrk="1">
                  <a:spcAft>
                    <a:spcPts val="600"/>
                  </a:spcAft>
                </a:pPr>
                <a:endParaRPr lang="en-US" altLang="ko-KR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53" y="1741900"/>
                <a:ext cx="8435507" cy="3544688"/>
              </a:xfrm>
              <a:prstGeom prst="rect">
                <a:avLst/>
              </a:prstGeom>
              <a:blipFill>
                <a:blip r:embed="rId4"/>
                <a:stretch>
                  <a:fillRect l="-578" t="-1377" r="-6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94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0947476-30A4-4D18-B37A-7202071E6FA4}"/>
              </a:ext>
            </a:extLst>
          </p:cNvPr>
          <p:cNvGrpSpPr/>
          <p:nvPr/>
        </p:nvGrpSpPr>
        <p:grpSpPr>
          <a:xfrm>
            <a:off x="2017059" y="2674141"/>
            <a:ext cx="5109883" cy="1509718"/>
            <a:chOff x="2017059" y="2146239"/>
            <a:chExt cx="5109883" cy="150971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D611EA8-473B-46FA-8122-85B437180227}"/>
                </a:ext>
              </a:extLst>
            </p:cNvPr>
            <p:cNvSpPr/>
            <p:nvPr/>
          </p:nvSpPr>
          <p:spPr>
            <a:xfrm>
              <a:off x="2017059" y="2146239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02D2456-35A3-4324-B834-5891D3191FAC}"/>
                </a:ext>
              </a:extLst>
            </p:cNvPr>
            <p:cNvSpPr/>
            <p:nvPr/>
          </p:nvSpPr>
          <p:spPr>
            <a:xfrm>
              <a:off x="2017059" y="3547957"/>
              <a:ext cx="5109883" cy="108000"/>
            </a:xfrm>
            <a:prstGeom prst="rect">
              <a:avLst/>
            </a:prstGeom>
            <a:gradFill flip="none" rotWithShape="1">
              <a:gsLst>
                <a:gs pos="0">
                  <a:srgbClr val="26336B"/>
                </a:gs>
                <a:gs pos="61000">
                  <a:srgbClr val="9F1915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D550E69-6FA6-4D5E-ADA3-0082768A2CF9}"/>
              </a:ext>
            </a:extLst>
          </p:cNvPr>
          <p:cNvSpPr txBox="1"/>
          <p:nvPr/>
        </p:nvSpPr>
        <p:spPr>
          <a:xfrm>
            <a:off x="2759661" y="3105835"/>
            <a:ext cx="3624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NanumGothic" panose="020D0604000000000000" pitchFamily="34" charset="-127"/>
                <a:cs typeface="+mn-cs"/>
              </a:rPr>
              <a:t>군집화 성능 측정</a:t>
            </a:r>
            <a:endParaRPr kumimoji="1" lang="ko-KR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NanumGothic" panose="020D0604000000000000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94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군집화</a:t>
            </a:r>
            <a:r>
              <a:rPr kumimoji="0" lang="ko-KR" altLang="en-US" sz="20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성능 </a:t>
            </a:r>
            <a:r>
              <a:rPr lang="ko-KR" altLang="en-US" sz="2000" b="1" dirty="0" smtClean="0">
                <a:solidFill>
                  <a:prstClr val="black"/>
                </a:solidFill>
                <a:latin typeface="Calibri" panose="020F0502020204030204"/>
                <a:ea typeface="나눔스퀘어_ac ExtraBold" panose="020B0600000101010101" pitchFamily="50" charset="-127"/>
              </a:rPr>
              <a:t>측정</a:t>
            </a:r>
            <a:r>
              <a:rPr lang="en-US" altLang="ko-KR" sz="2000" b="1" dirty="0" smtClean="0">
                <a:solidFill>
                  <a:prstClr val="black"/>
                </a:solidFill>
                <a:ea typeface="나눔스퀘어_ac ExtraBold" panose="020B0600000101010101" pitchFamily="50" charset="-127"/>
              </a:rPr>
              <a:t>(</a:t>
            </a:r>
            <a:r>
              <a:rPr lang="en-US" altLang="ko-KR" sz="2000" b="1" dirty="0">
                <a:solidFill>
                  <a:prstClr val="black"/>
                </a:solidFill>
                <a:ea typeface="나눔스퀘어_ac ExtraBold" panose="020B0600000101010101" pitchFamily="50" charset="-127"/>
              </a:rPr>
              <a:t>S</a:t>
            </a:r>
            <a:r>
              <a:rPr lang="en-US" altLang="ko-KR" sz="2000" b="1" dirty="0" smtClean="0">
                <a:solidFill>
                  <a:prstClr val="black"/>
                </a:solidFill>
                <a:ea typeface="나눔스퀘어_ac ExtraBold" panose="020B0600000101010101" pitchFamily="50" charset="-127"/>
              </a:rPr>
              <a:t>ilhouette Analysis)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9612" y="984643"/>
            <a:ext cx="81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050" y="1089538"/>
            <a:ext cx="83395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실루엣 분석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각 군집</a:t>
            </a:r>
            <a:r>
              <a:rPr lang="en-US" altLang="ko-KR" dirty="0" smtClean="0"/>
              <a:t>(cluster) </a:t>
            </a:r>
            <a:r>
              <a:rPr lang="ko-KR" altLang="en-US" dirty="0" smtClean="0"/>
              <a:t>간에 얼마나 효율적으로 분리되었는지 분석하는 방법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분석 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각각의 데이터가 고유하게 가지고 있는 군집화 지표인 실루엣 계수를 이용</a:t>
            </a:r>
            <a:r>
              <a:rPr lang="en-US" altLang="ko-KR" dirty="0" smtClean="0"/>
              <a:t>(Silhouette Coefficient)</a:t>
            </a:r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실루엣 계수는 각 데이터가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자신이 속한 군집의 데이터들로부터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얼마나 가까이 있는지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그리고 타 군집에 속한 데이터로부터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얼마나 멀리 떨어졌는지 정보를 수치화한 것</a:t>
            </a:r>
            <a:endParaRPr lang="en-US" altLang="ko-KR" dirty="0"/>
          </a:p>
        </p:txBody>
      </p:sp>
      <p:sp>
        <p:nvSpPr>
          <p:cNvPr id="6" name="타원 5"/>
          <p:cNvSpPr/>
          <p:nvPr/>
        </p:nvSpPr>
        <p:spPr>
          <a:xfrm>
            <a:off x="2043953" y="4363465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2196353" y="4515865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2653553" y="4422054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2424951" y="4668109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2196353" y="4996488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2523562" y="5322042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2577350" y="5070175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2752164" y="4723703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2335303" y="5259024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2550455" y="4210248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2326341" y="4430700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2505631" y="4822715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2859734" y="4277287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3034548" y="4579586"/>
            <a:ext cx="197223" cy="1703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이등변 삼각형 6"/>
          <p:cNvSpPr/>
          <p:nvPr/>
        </p:nvSpPr>
        <p:spPr>
          <a:xfrm>
            <a:off x="4787153" y="425695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이등변 삼각형 29"/>
          <p:cNvSpPr/>
          <p:nvPr/>
        </p:nvSpPr>
        <p:spPr>
          <a:xfrm>
            <a:off x="4939553" y="440935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이등변 삼각형 30"/>
          <p:cNvSpPr/>
          <p:nvPr/>
        </p:nvSpPr>
        <p:spPr>
          <a:xfrm>
            <a:off x="5282453" y="449100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이등변 삼각형 31"/>
          <p:cNvSpPr/>
          <p:nvPr/>
        </p:nvSpPr>
        <p:spPr>
          <a:xfrm>
            <a:off x="5871883" y="4255942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이등변 삼각형 32"/>
          <p:cNvSpPr/>
          <p:nvPr/>
        </p:nvSpPr>
        <p:spPr>
          <a:xfrm>
            <a:off x="5114364" y="4786179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이등변 삼각형 33"/>
          <p:cNvSpPr/>
          <p:nvPr/>
        </p:nvSpPr>
        <p:spPr>
          <a:xfrm>
            <a:off x="5450541" y="4648969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이등변 삼각형 34"/>
          <p:cNvSpPr/>
          <p:nvPr/>
        </p:nvSpPr>
        <p:spPr>
          <a:xfrm>
            <a:off x="5031441" y="5150410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이등변 삼각형 35"/>
          <p:cNvSpPr/>
          <p:nvPr/>
        </p:nvSpPr>
        <p:spPr>
          <a:xfrm>
            <a:off x="5396753" y="5243503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이등변 삼각형 36"/>
          <p:cNvSpPr/>
          <p:nvPr/>
        </p:nvSpPr>
        <p:spPr>
          <a:xfrm>
            <a:off x="4894730" y="4795249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이등변 삼각형 37"/>
          <p:cNvSpPr/>
          <p:nvPr/>
        </p:nvSpPr>
        <p:spPr>
          <a:xfrm>
            <a:off x="5091953" y="456175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이등변 삼각형 38"/>
          <p:cNvSpPr/>
          <p:nvPr/>
        </p:nvSpPr>
        <p:spPr>
          <a:xfrm>
            <a:off x="5244353" y="4714155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이등변 삼각형 39"/>
          <p:cNvSpPr/>
          <p:nvPr/>
        </p:nvSpPr>
        <p:spPr>
          <a:xfrm>
            <a:off x="5638800" y="5021824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4689178" y="5643740"/>
            <a:ext cx="1568187" cy="40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2043953" y="6054454"/>
            <a:ext cx="42201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91952" y="5708513"/>
            <a:ext cx="1362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Cluster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내부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32093" y="6118824"/>
            <a:ext cx="1362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FF0000"/>
                </a:solidFill>
              </a:rPr>
              <a:t>Cluster </a:t>
            </a:r>
            <a:r>
              <a:rPr lang="ko-KR" altLang="en-US" sz="1600" b="1" dirty="0">
                <a:solidFill>
                  <a:srgbClr val="FF0000"/>
                </a:solidFill>
              </a:rPr>
              <a:t>외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부</a:t>
            </a:r>
            <a:endParaRPr lang="ko-KR" altLang="en-US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494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6898060" y="6540548"/>
            <a:ext cx="2057400" cy="365125"/>
          </a:xfrm>
        </p:spPr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1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E00F004-BD89-484A-9E0D-939812231C51}"/>
              </a:ext>
            </a:extLst>
          </p:cNvPr>
          <p:cNvSpPr/>
          <p:nvPr/>
        </p:nvSpPr>
        <p:spPr>
          <a:xfrm>
            <a:off x="0" y="6448285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6A8DA-5D55-45BD-85EA-BE2F87A4FCF7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DA6BE5-037F-4552-8536-DD1511D2DB96}"/>
              </a:ext>
            </a:extLst>
          </p:cNvPr>
          <p:cNvSpPr txBox="1"/>
          <p:nvPr/>
        </p:nvSpPr>
        <p:spPr>
          <a:xfrm>
            <a:off x="401050" y="289035"/>
            <a:ext cx="78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kumimoji="0" lang="ko-KR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군집화</a:t>
            </a:r>
            <a:r>
              <a:rPr kumimoji="0" lang="ko-KR" altLang="en-US" sz="2000" b="1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나눔스퀘어_ac ExtraBold" panose="020B0600000101010101" pitchFamily="50" charset="-127"/>
                <a:cs typeface="+mn-cs"/>
              </a:rPr>
              <a:t> 성능 </a:t>
            </a:r>
            <a:r>
              <a:rPr lang="ko-KR" altLang="en-US" sz="2000" b="1" dirty="0" smtClean="0">
                <a:solidFill>
                  <a:prstClr val="black"/>
                </a:solidFill>
                <a:latin typeface="Calibri" panose="020F0502020204030204"/>
                <a:ea typeface="나눔스퀘어_ac ExtraBold" panose="020B0600000101010101" pitchFamily="50" charset="-127"/>
              </a:rPr>
              <a:t>측정</a:t>
            </a:r>
            <a:r>
              <a:rPr lang="en-US" altLang="ko-KR" sz="2000" b="1" dirty="0" smtClean="0">
                <a:solidFill>
                  <a:prstClr val="black"/>
                </a:solidFill>
                <a:ea typeface="나눔스퀘어_ac ExtraBold" panose="020B0600000101010101" pitchFamily="50" charset="-127"/>
              </a:rPr>
              <a:t>(</a:t>
            </a:r>
            <a:r>
              <a:rPr lang="en-US" altLang="ko-KR" sz="2000" b="1" dirty="0">
                <a:solidFill>
                  <a:prstClr val="black"/>
                </a:solidFill>
                <a:ea typeface="나눔스퀘어_ac ExtraBold" panose="020B0600000101010101" pitchFamily="50" charset="-127"/>
              </a:rPr>
              <a:t>S</a:t>
            </a:r>
            <a:r>
              <a:rPr lang="en-US" altLang="ko-KR" sz="2000" b="1" dirty="0" smtClean="0">
                <a:solidFill>
                  <a:prstClr val="black"/>
                </a:solidFill>
                <a:ea typeface="나눔스퀘어_ac ExtraBold" panose="020B0600000101010101" pitchFamily="50" charset="-127"/>
              </a:rPr>
              <a:t>ilhouette Analysis)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나눔스퀘어_ac ExtraBold" panose="020B0600000101010101" pitchFamily="50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AABA0-83DE-8C46-91C4-A610346B147D}"/>
              </a:ext>
            </a:extLst>
          </p:cNvPr>
          <p:cNvSpPr/>
          <p:nvPr/>
        </p:nvSpPr>
        <p:spPr>
          <a:xfrm rot="10800000">
            <a:off x="0" y="779683"/>
            <a:ext cx="9144000" cy="72000"/>
          </a:xfrm>
          <a:prstGeom prst="rect">
            <a:avLst/>
          </a:prstGeom>
          <a:gradFill flip="none" rotWithShape="1">
            <a:gsLst>
              <a:gs pos="54000">
                <a:srgbClr val="26336B"/>
              </a:gs>
              <a:gs pos="89000">
                <a:srgbClr val="9F191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24E5A-6EF2-4301-BBDA-C418695D3FF3}"/>
              </a:ext>
            </a:extLst>
          </p:cNvPr>
          <p:cNvSpPr txBox="1"/>
          <p:nvPr/>
        </p:nvSpPr>
        <p:spPr>
          <a:xfrm>
            <a:off x="3560345" y="6538913"/>
            <a:ext cx="30171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2021-1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학기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비즈니스 데이터 사이언스</a:t>
            </a:r>
            <a:r>
              <a:rPr kumimoji="0" lang="en-US" altLang="ko-KR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NanumGothic" panose="020D0604000000000000" pitchFamily="34" charset="-127"/>
                <a:ea typeface="NanumGothic" panose="020D0604000000000000" pitchFamily="34" charset="-127"/>
                <a:cs typeface="+mn-cs"/>
              </a:rPr>
              <a:t>세미나</a:t>
            </a: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NanumGothic" panose="020D0604000000000000" pitchFamily="34" charset="-127"/>
              <a:ea typeface="NanumGothic" panose="020D0604000000000000" pitchFamily="34" charset="-127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9612" y="984643"/>
            <a:ext cx="81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050" y="1089538"/>
            <a:ext cx="7942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smtClean="0"/>
              <a:t>실루엣 계수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18" name="타원 17"/>
          <p:cNvSpPr/>
          <p:nvPr/>
        </p:nvSpPr>
        <p:spPr>
          <a:xfrm>
            <a:off x="1423142" y="2101623"/>
            <a:ext cx="278223" cy="25981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1089845" y="2668027"/>
            <a:ext cx="288792" cy="27239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95396" y="2153304"/>
            <a:ext cx="299196" cy="27080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이등변 삼각형 32"/>
          <p:cNvSpPr/>
          <p:nvPr/>
        </p:nvSpPr>
        <p:spPr>
          <a:xfrm>
            <a:off x="1970597" y="4600951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이등변 삼각형 36"/>
          <p:cNvSpPr/>
          <p:nvPr/>
        </p:nvSpPr>
        <p:spPr>
          <a:xfrm>
            <a:off x="881255" y="4599696"/>
            <a:ext cx="277907" cy="249269"/>
          </a:xfrm>
          <a:prstGeom prst="triangl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타원 1"/>
          <p:cNvSpPr/>
          <p:nvPr/>
        </p:nvSpPr>
        <p:spPr>
          <a:xfrm>
            <a:off x="401050" y="1810871"/>
            <a:ext cx="1642903" cy="1308847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695396" y="3870889"/>
            <a:ext cx="1716110" cy="1367394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59753" y="1476990"/>
            <a:ext cx="1344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Cluster 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200" y="5373901"/>
            <a:ext cx="51681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                  Cluster B</a:t>
            </a:r>
          </a:p>
          <a:p>
            <a:r>
              <a:rPr lang="en-US" altLang="ko-KR" sz="1600" b="1" dirty="0" smtClean="0"/>
              <a:t>(Cluster A</a:t>
            </a:r>
            <a:r>
              <a:rPr lang="ko-KR" altLang="en-US" sz="1600" b="1" dirty="0" smtClean="0"/>
              <a:t>의 첫 번째 데이터로부터 가장 가까운 클러스터</a:t>
            </a:r>
            <a:r>
              <a:rPr lang="en-US" altLang="ko-KR" sz="1600" b="1" dirty="0" smtClean="0"/>
              <a:t>)</a:t>
            </a:r>
            <a:r>
              <a:rPr lang="ko-KR" altLang="en-US" sz="1600" b="1" dirty="0" smtClean="0"/>
              <a:t> </a:t>
            </a:r>
            <a:endParaRPr lang="ko-KR" altLang="en-US" sz="16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98808" y="2618454"/>
            <a:ext cx="3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714763" y="2092536"/>
            <a:ext cx="3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1438512" y="2021940"/>
            <a:ext cx="36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1970597" y="4565315"/>
            <a:ext cx="3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874847" y="4585100"/>
            <a:ext cx="333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</a:t>
            </a:r>
            <a:endParaRPr lang="ko-KR" altLang="en-US" dirty="0"/>
          </a:p>
        </p:txBody>
      </p:sp>
      <p:cxnSp>
        <p:nvCxnSpPr>
          <p:cNvPr id="52" name="직선 화살표 연결선 51"/>
          <p:cNvCxnSpPr>
            <a:stCxn id="21" idx="2"/>
            <a:endCxn id="46" idx="2"/>
          </p:cNvCxnSpPr>
          <p:nvPr/>
        </p:nvCxnSpPr>
        <p:spPr>
          <a:xfrm flipH="1" flipV="1">
            <a:off x="881412" y="2461868"/>
            <a:ext cx="208433" cy="342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endCxn id="47" idx="2"/>
          </p:cNvCxnSpPr>
          <p:nvPr/>
        </p:nvCxnSpPr>
        <p:spPr>
          <a:xfrm flipV="1">
            <a:off x="1382410" y="2391272"/>
            <a:ext cx="240997" cy="4340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stCxn id="11" idx="2"/>
            <a:endCxn id="50" idx="0"/>
          </p:cNvCxnSpPr>
          <p:nvPr/>
        </p:nvCxnSpPr>
        <p:spPr>
          <a:xfrm flipH="1">
            <a:off x="1041496" y="2987786"/>
            <a:ext cx="223961" cy="15973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stCxn id="11" idx="2"/>
            <a:endCxn id="49" idx="0"/>
          </p:cNvCxnSpPr>
          <p:nvPr/>
        </p:nvCxnSpPr>
        <p:spPr>
          <a:xfrm>
            <a:off x="1265457" y="2987786"/>
            <a:ext cx="871789" cy="15775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/>
              <p:cNvSpPr txBox="1"/>
              <p:nvPr/>
            </p:nvSpPr>
            <p:spPr>
              <a:xfrm>
                <a:off x="323779" y="2424111"/>
                <a:ext cx="8523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sub>
                      </m:sSub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79" y="2424111"/>
                <a:ext cx="8523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직사각형 68"/>
              <p:cNvSpPr/>
              <p:nvPr/>
            </p:nvSpPr>
            <p:spPr>
              <a:xfrm>
                <a:off x="1502908" y="2426908"/>
                <a:ext cx="59176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69" name="직사각형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908" y="2426908"/>
                <a:ext cx="5917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직사각형 69"/>
              <p:cNvSpPr/>
              <p:nvPr/>
            </p:nvSpPr>
            <p:spPr>
              <a:xfrm>
                <a:off x="633633" y="3399093"/>
                <a:ext cx="5885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0" name="직사각형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33" y="3399093"/>
                <a:ext cx="58855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직사각형 72"/>
              <p:cNvSpPr/>
              <p:nvPr/>
            </p:nvSpPr>
            <p:spPr>
              <a:xfrm>
                <a:off x="1502908" y="3316891"/>
                <a:ext cx="5885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altLang="ko-KR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ko-KR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>
          <p:sp>
            <p:nvSpPr>
              <p:cNvPr id="73" name="직사각형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908" y="3316891"/>
                <a:ext cx="58855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/>
              <p:cNvSpPr txBox="1"/>
              <p:nvPr/>
            </p:nvSpPr>
            <p:spPr>
              <a:xfrm>
                <a:off x="3929251" y="1809862"/>
                <a:ext cx="4190410" cy="793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≤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𝒔</m:t>
                      </m:r>
                      <m:d>
                        <m:d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d>
                            <m:d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  <m:d>
                            <m:d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ko-KR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ko-KR" sz="2000" b="1" i="0" smtClean="0">
                              <a:latin typeface="Cambria Math" panose="02040503050406030204" pitchFamily="18" charset="0"/>
                            </a:rPr>
                            <m:t>𝐦𝐚</m:t>
                          </m:r>
                          <m:func>
                            <m:funcPr>
                              <m:ctrlPr>
                                <a:rPr lang="en-US" altLang="ko-KR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ko-KR" sz="20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e>
                                  </m:d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ko-KR" sz="20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  <m:d>
                                    <m:dPr>
                                      <m:ctrlP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  <m:r>
                        <a:rPr lang="en-US" altLang="ko-KR" sz="20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 </m:t>
                      </m:r>
                      <m:r>
                        <a:rPr lang="en-US" altLang="ko-KR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ko-KR" altLang="en-US" b="1" dirty="0"/>
              </a:p>
            </p:txBody>
          </p:sp>
        </mc:Choice>
        <mc:Fallback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251" y="1809862"/>
                <a:ext cx="4190410" cy="7934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/>
              <p:cNvSpPr txBox="1"/>
              <p:nvPr/>
            </p:nvSpPr>
            <p:spPr>
              <a:xfrm>
                <a:off x="3218963" y="2943319"/>
                <a:ext cx="6211908" cy="318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ko-KR" altLang="en-US" dirty="0" smtClean="0"/>
                  <a:t> </a:t>
                </a:r>
                <a:r>
                  <a:rPr lang="en-US" altLang="ko-KR" dirty="0" smtClean="0"/>
                  <a:t>Cluster A</a:t>
                </a:r>
                <a:r>
                  <a:rPr lang="ko-KR" altLang="en-US" dirty="0" smtClean="0"/>
                  <a:t>의 </a:t>
                </a:r>
                <a:r>
                  <a:rPr lang="en-US" altLang="ko-KR" dirty="0" err="1" smtClean="0"/>
                  <a:t>i</a:t>
                </a:r>
                <a:r>
                  <a:rPr lang="ko-KR" altLang="en-US" dirty="0" smtClean="0"/>
                  <a:t>번째 데이터에서 </a:t>
                </a:r>
                <a:r>
                  <a:rPr lang="en-US" altLang="ko-KR" dirty="0" smtClean="0"/>
                  <a:t>j</a:t>
                </a:r>
                <a:r>
                  <a:rPr lang="ko-KR" altLang="en-US" dirty="0" smtClean="0"/>
                  <a:t>번째 데이터까지의 거리</a:t>
                </a:r>
                <a:endParaRPr lang="en-US" altLang="ko-KR" dirty="0" smtClean="0"/>
              </a:p>
              <a:p>
                <a:r>
                  <a:rPr lang="ko-KR" altLang="en-US" dirty="0" smtClean="0"/>
                  <a:t> </a:t>
                </a:r>
                <a:endParaRPr lang="en-US" altLang="ko-KR" dirty="0" smtClean="0"/>
              </a:p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en-US" altLang="ko-KR" dirty="0" smtClean="0"/>
                  <a:t> : Cluster A</a:t>
                </a:r>
                <a:r>
                  <a:rPr lang="ko-KR" altLang="en-US" dirty="0" smtClean="0"/>
                  <a:t>의 </a:t>
                </a:r>
                <a:r>
                  <a:rPr lang="en-US" altLang="ko-KR" dirty="0" err="1" smtClean="0"/>
                  <a:t>i</a:t>
                </a:r>
                <a:r>
                  <a:rPr lang="ko-KR" altLang="en-US" dirty="0" smtClean="0"/>
                  <a:t>번째 데이터에서</a:t>
                </a:r>
                <a:r>
                  <a:rPr lang="en-US" altLang="ko-KR" dirty="0" smtClean="0"/>
                  <a:t>,</a:t>
                </a:r>
              </a:p>
              <a:p>
                <a:pPr/>
                <a:r>
                  <a:rPr lang="en-US" altLang="ko-KR" dirty="0"/>
                  <a:t> </a:t>
                </a:r>
                <a:r>
                  <a:rPr lang="en-US" altLang="ko-KR" dirty="0" smtClean="0"/>
                  <a:t>        Cluster B</a:t>
                </a:r>
                <a:r>
                  <a:rPr lang="ko-KR" altLang="en-US" dirty="0" smtClean="0"/>
                  <a:t>의 </a:t>
                </a:r>
                <a:r>
                  <a:rPr lang="en-US" altLang="ko-KR" dirty="0" smtClean="0"/>
                  <a:t>j</a:t>
                </a:r>
                <a:r>
                  <a:rPr lang="ko-KR" altLang="en-US" dirty="0" smtClean="0"/>
                  <a:t>번째 데이터까지의 거리</a:t>
                </a:r>
                <a:endParaRPr lang="en-US" altLang="ko-KR" dirty="0" smtClean="0"/>
              </a:p>
              <a:p>
                <a:pPr/>
                <a:endParaRPr lang="en-US" altLang="ko-K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𝒂</m:t>
                      </m:r>
                      <m:d>
                        <m:dPr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𝒎𝒆𝒂𝒏</m:t>
                      </m:r>
                      <m:r>
                        <a:rPr lang="en-US" altLang="ko-KR" b="1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r>
                            <a:rPr lang="en-US" altLang="ko-KR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b="1" i="0" smtClean="0">
                          <a:latin typeface="Cambria Math" panose="02040503050406030204" pitchFamily="18" charset="0"/>
                        </a:rPr>
                        <m:t>,   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𝒃</m:t>
                      </m:r>
                      <m:d>
                        <m:dPr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𝒎𝒆𝒂𝒏</m:t>
                      </m:r>
                      <m:r>
                        <a:rPr lang="en-US" altLang="ko-KR" b="1" i="1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b>
                              <m:r>
                                <a:rPr lang="en-US" altLang="ko-KR" b="1" i="1">
                                  <a:latin typeface="Cambria Math" panose="02040503050406030204" pitchFamily="18" charset="0"/>
                                </a:rPr>
                                <m:t>𝒊𝒋</m:t>
                              </m:r>
                            </m:sub>
                          </m:sSub>
                          <m:r>
                            <a:rPr lang="en-US" altLang="ko-KR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ko-KR" sz="1600" b="1" dirty="0" smtClean="0"/>
              </a:p>
              <a:p>
                <a:pPr/>
                <a:endParaRPr lang="en-US" altLang="ko-KR" sz="1600" b="1" dirty="0" smtClean="0"/>
              </a:p>
              <a:p>
                <a:pPr/>
                <a:endParaRPr lang="en-US" altLang="ko-KR" sz="1600" dirty="0"/>
              </a:p>
              <a:p>
                <a:pPr/>
                <a:endParaRPr lang="en-US" altLang="ko-KR" sz="1600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963" y="2943319"/>
                <a:ext cx="6211908" cy="3185552"/>
              </a:xfrm>
              <a:prstGeom prst="rect">
                <a:avLst/>
              </a:prstGeom>
              <a:blipFill>
                <a:blip r:embed="rId9"/>
                <a:stretch>
                  <a:fillRect t="-13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타원 76"/>
          <p:cNvSpPr/>
          <p:nvPr/>
        </p:nvSpPr>
        <p:spPr>
          <a:xfrm>
            <a:off x="4043082" y="1951480"/>
            <a:ext cx="466165" cy="479779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/>
          <p:cNvSpPr/>
          <p:nvPr/>
        </p:nvSpPr>
        <p:spPr>
          <a:xfrm>
            <a:off x="7718612" y="1969242"/>
            <a:ext cx="401050" cy="462017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6200161" y="1420267"/>
            <a:ext cx="294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F0"/>
                </a:solidFill>
              </a:rPr>
              <a:t>타 군집과 멀리 떨어져 있다</a:t>
            </a:r>
            <a:r>
              <a:rPr lang="en-US" altLang="ko-KR" b="1" dirty="0" smtClean="0">
                <a:solidFill>
                  <a:srgbClr val="00B0F0"/>
                </a:solidFill>
              </a:rPr>
              <a:t>!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3037327" y="1472381"/>
            <a:ext cx="2943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00B0F0"/>
                </a:solidFill>
              </a:rPr>
              <a:t>다른 군집에 할당되었다</a:t>
            </a:r>
            <a:r>
              <a:rPr lang="en-US" altLang="ko-KR" b="1" dirty="0" smtClean="0">
                <a:solidFill>
                  <a:srgbClr val="00B0F0"/>
                </a:solidFill>
              </a:rPr>
              <a:t>!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45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847654" y="2580588"/>
            <a:ext cx="5448693" cy="1696825"/>
          </a:xfrm>
          <a:prstGeom prst="rect">
            <a:avLst/>
          </a:prstGeom>
          <a:solidFill>
            <a:srgbClr val="263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031478" y="2828836"/>
            <a:ext cx="5081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2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Rix고딕 M" panose="02020603020101020101" pitchFamily="18" charset="-127"/>
                <a:cs typeface="Times New Roman" panose="02020603050405020304" pitchFamily="18" charset="0"/>
              </a:rPr>
              <a:t>Thank You! </a:t>
            </a:r>
            <a:endParaRPr lang="ko-KR" altLang="en-US" sz="7200" b="1" dirty="0">
              <a:solidFill>
                <a:schemeClr val="bg1"/>
              </a:solidFill>
              <a:latin typeface="Times New Roman" panose="02020603050405020304" pitchFamily="18" charset="0"/>
              <a:ea typeface="Rix고딕 M" panose="02020603020101020101" pitchFamily="18" charset="-127"/>
              <a:cs typeface="Times New Roman" panose="02020603050405020304" pitchFamily="18" charset="0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92" y="188540"/>
            <a:ext cx="909168" cy="540000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8C67BC-BBE7-474F-A784-DA0313A56A0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37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4D288E97D6CE543A84399CAA4B69116" ma:contentTypeVersion="2" ma:contentTypeDescription="새 문서를 만듭니다." ma:contentTypeScope="" ma:versionID="8e7738261615630557d56f6af7576d26">
  <xsd:schema xmlns:xsd="http://www.w3.org/2001/XMLSchema" xmlns:xs="http://www.w3.org/2001/XMLSchema" xmlns:p="http://schemas.microsoft.com/office/2006/metadata/properties" xmlns:ns3="529a1fba-b9cc-4c23-9bb8-89a3da0160d3" targetNamespace="http://schemas.microsoft.com/office/2006/metadata/properties" ma:root="true" ma:fieldsID="e9afedbdcc524ead12aa2d442f7b284c" ns3:_="">
    <xsd:import namespace="529a1fba-b9cc-4c23-9bb8-89a3da0160d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a1fba-b9cc-4c23-9bb8-89a3da0160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1F5218-4666-47F2-9DD9-D89F8B196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6119BC-D869-47AC-B8A1-F814646E42F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29a1fba-b9cc-4c23-9bb8-89a3da0160d3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5F0C2B-1399-44A3-89A0-7EC1E0908269}">
  <ds:schemaRefs>
    <ds:schemaRef ds:uri="http://schemas.microsoft.com/office/2006/metadata/properties"/>
    <ds:schemaRef ds:uri="http://schemas.openxmlformats.org/package/2006/metadata/core-properties"/>
    <ds:schemaRef ds:uri="529a1fba-b9cc-4c23-9bb8-89a3da0160d3"/>
    <ds:schemaRef ds:uri="http://purl.org/dc/terms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5137</TotalTime>
  <Words>1929</Words>
  <Application>Microsoft Office PowerPoint</Application>
  <PresentationFormat>화면 슬라이드 쇼(4:3)</PresentationFormat>
  <Paragraphs>434</Paragraphs>
  <Slides>40</Slides>
  <Notes>39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40</vt:i4>
      </vt:variant>
    </vt:vector>
  </HeadingPairs>
  <TitlesOfParts>
    <vt:vector size="53" baseType="lpstr">
      <vt:lpstr>NanumGothic</vt:lpstr>
      <vt:lpstr>Rix고딕 M</vt:lpstr>
      <vt:lpstr>나눔고딕</vt:lpstr>
      <vt:lpstr>나눔스퀘어_ac ExtraBold</vt:lpstr>
      <vt:lpstr>맑은 고딕</vt:lpstr>
      <vt:lpstr>함초롬돋움</vt:lpstr>
      <vt:lpstr>Arial</vt:lpstr>
      <vt:lpstr>Calibri</vt:lpstr>
      <vt:lpstr>Calibri Light</vt:lpstr>
      <vt:lpstr>Cambria Math</vt:lpstr>
      <vt:lpstr>Times New Roman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YounSKing</dc:creator>
  <cp:keywords/>
  <dc:description/>
  <cp:lastModifiedBy>안 지호</cp:lastModifiedBy>
  <cp:revision>368</cp:revision>
  <cp:lastPrinted>2021-05-05T02:59:36Z</cp:lastPrinted>
  <dcterms:created xsi:type="dcterms:W3CDTF">2019-03-16T00:23:40Z</dcterms:created>
  <dcterms:modified xsi:type="dcterms:W3CDTF">2021-07-14T07:42:53Z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0x010100C4D288E97D6CE543A84399CAA4B69116</vt:lpwstr>
  </property>
</Properties>
</file>